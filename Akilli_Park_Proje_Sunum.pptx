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39" r:id="rId4"/>
  </p:sldMasterIdLst>
  <p:notesMasterIdLst>
    <p:notesMasterId r:id="rId43"/>
  </p:notesMasterIdLst>
  <p:handoutMasterIdLst>
    <p:handoutMasterId r:id="rId44"/>
  </p:handoutMasterIdLst>
  <p:sldIdLst>
    <p:sldId id="342" r:id="rId5"/>
    <p:sldId id="359" r:id="rId6"/>
    <p:sldId id="373" r:id="rId7"/>
    <p:sldId id="374" r:id="rId8"/>
    <p:sldId id="375" r:id="rId9"/>
    <p:sldId id="365" r:id="rId10"/>
    <p:sldId id="376" r:id="rId11"/>
    <p:sldId id="387" r:id="rId12"/>
    <p:sldId id="388" r:id="rId13"/>
    <p:sldId id="389" r:id="rId14"/>
    <p:sldId id="377" r:id="rId15"/>
    <p:sldId id="378" r:id="rId16"/>
    <p:sldId id="379" r:id="rId17"/>
    <p:sldId id="380" r:id="rId18"/>
    <p:sldId id="381" r:id="rId19"/>
    <p:sldId id="372" r:id="rId20"/>
    <p:sldId id="400" r:id="rId21"/>
    <p:sldId id="401" r:id="rId22"/>
    <p:sldId id="383" r:id="rId23"/>
    <p:sldId id="402" r:id="rId24"/>
    <p:sldId id="403" r:id="rId25"/>
    <p:sldId id="404" r:id="rId26"/>
    <p:sldId id="405" r:id="rId27"/>
    <p:sldId id="406" r:id="rId28"/>
    <p:sldId id="384" r:id="rId29"/>
    <p:sldId id="386" r:id="rId30"/>
    <p:sldId id="390" r:id="rId31"/>
    <p:sldId id="391" r:id="rId32"/>
    <p:sldId id="385" r:id="rId33"/>
    <p:sldId id="392" r:id="rId34"/>
    <p:sldId id="393" r:id="rId35"/>
    <p:sldId id="394" r:id="rId36"/>
    <p:sldId id="395" r:id="rId37"/>
    <p:sldId id="396" r:id="rId38"/>
    <p:sldId id="397" r:id="rId39"/>
    <p:sldId id="398" r:id="rId40"/>
    <p:sldId id="410" r:id="rId41"/>
    <p:sldId id="399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06" autoAdjust="0"/>
    <p:restoredTop sz="95368" autoAdjust="0"/>
  </p:normalViewPr>
  <p:slideViewPr>
    <p:cSldViewPr snapToGrid="0" snapToObjects="1" showGuides="1">
      <p:cViewPr varScale="1">
        <p:scale>
          <a:sx n="64" d="100"/>
          <a:sy n="64" d="100"/>
        </p:scale>
        <p:origin x="780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9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5100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677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90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909969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93715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56150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16962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36419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1A747-537F-3941-8866-70569489BEB3}" type="datetimeFigureOut">
              <a:rPr lang="en-TR" smtClean="0"/>
              <a:t>06/02/2026</a:t>
            </a:fld>
            <a:endParaRPr lang="en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07C99-F71C-F046-9951-AA70FA41E77F}" type="slidenum">
              <a:rPr lang="en-TR" smtClean="0"/>
              <a:t>‹#›</a:t>
            </a:fld>
            <a:endParaRPr lang="en-T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E8CE2C-AD49-BB28-E43B-44BF06CC9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93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59224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48504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609398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51353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9494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441994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6995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166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802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917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02136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389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6597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475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484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973017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558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338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104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0" r:id="rId1"/>
    <p:sldLayoutId id="2147484141" r:id="rId2"/>
    <p:sldLayoutId id="2147484142" r:id="rId3"/>
    <p:sldLayoutId id="2147484143" r:id="rId4"/>
    <p:sldLayoutId id="2147484144" r:id="rId5"/>
    <p:sldLayoutId id="2147484145" r:id="rId6"/>
    <p:sldLayoutId id="2147484146" r:id="rId7"/>
    <p:sldLayoutId id="2147484147" r:id="rId8"/>
    <p:sldLayoutId id="2147484148" r:id="rId9"/>
    <p:sldLayoutId id="2147484149" r:id="rId10"/>
    <p:sldLayoutId id="2147484150" r:id="rId11"/>
    <p:sldLayoutId id="2147484151" r:id="rId12"/>
    <p:sldLayoutId id="2147484152" r:id="rId13"/>
    <p:sldLayoutId id="2147484153" r:id="rId14"/>
    <p:sldLayoutId id="2147484154" r:id="rId15"/>
    <p:sldLayoutId id="2147484155" r:id="rId16"/>
    <p:sldLayoutId id="2147484156" r:id="rId17"/>
    <p:sldLayoutId id="2147484157" r:id="rId18"/>
    <p:sldLayoutId id="2147484158" r:id="rId19"/>
    <p:sldLayoutId id="2147484159" r:id="rId20"/>
    <p:sldLayoutId id="2147484160" r:id="rId21"/>
    <p:sldLayoutId id="2147484161" r:id="rId22"/>
    <p:sldLayoutId id="2147484162" r:id="rId23"/>
    <p:sldLayoutId id="2147484163" r:id="rId24"/>
    <p:sldLayoutId id="2147483679" r:id="rId25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8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gif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gif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gif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library.bath.ac.uk/referencing/ieee" TargetMode="External"/><Relationship Id="rId2" Type="http://schemas.openxmlformats.org/officeDocument/2006/relationships/hyperlink" Target="https://www.kaggle.com/datasets/mhmdkardosha/parking-birmingham" TargetMode="External"/><Relationship Id="rId1" Type="http://schemas.openxmlformats.org/officeDocument/2006/relationships/slideLayout" Target="../slideLayouts/slideLayout19.xml"/><Relationship Id="rId5" Type="http://schemas.openxmlformats.org/officeDocument/2006/relationships/hyperlink" Target="https://arxiv.org/abs/1707.06347%2520%255bEri%C5%9Fim%2520tarihi:%252027-May%C4%B1s-2026%255d." TargetMode="External"/><Relationship Id="rId4" Type="http://schemas.openxmlformats.org/officeDocument/2006/relationships/hyperlink" Target="https://docs.streamlit.io/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apay-Sinir-Aglari-Proje/Akilli_Park" TargetMode="Externa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2548"/>
            <a:ext cx="12191998" cy="3199929"/>
          </a:xfrm>
        </p:spPr>
        <p:txBody>
          <a:bodyPr anchor="b"/>
          <a:lstStyle/>
          <a:p>
            <a:r>
              <a:rPr lang="tr-TR" b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Akıllı Park Projesi </a:t>
            </a:r>
            <a:br>
              <a:rPr lang="en-US" b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b="1" dirty="0">
              <a:solidFill>
                <a:schemeClr val="accent4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541443" y="2964189"/>
            <a:ext cx="12191997" cy="929622"/>
          </a:xfrm>
        </p:spPr>
        <p:txBody>
          <a:bodyPr/>
          <a:lstStyle/>
          <a:p>
            <a:r>
              <a:rPr lang="tr-TR" sz="24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BLM4502 YAPAY SİNİR AĞLARINA GİRİŞ dersi</a:t>
            </a:r>
          </a:p>
          <a:p>
            <a:pPr>
              <a:lnSpc>
                <a:spcPct val="100000"/>
              </a:lnSpc>
            </a:pPr>
            <a:r>
              <a:rPr lang="tr-TR" sz="24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Danışman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Dr. </a:t>
            </a:r>
            <a:r>
              <a:rPr lang="tr-TR" sz="24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Ö</a:t>
            </a:r>
            <a:r>
              <a:rPr lang="en-US" sz="2400" b="1" dirty="0" err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ğr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Üyesi Turgut DOĞAN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7763A2A-5356-1D82-2591-B616081AAE80}"/>
              </a:ext>
            </a:extLst>
          </p:cNvPr>
          <p:cNvSpPr txBox="1">
            <a:spLocks/>
          </p:cNvSpPr>
          <p:nvPr/>
        </p:nvSpPr>
        <p:spPr>
          <a:xfrm>
            <a:off x="5616030" y="4660397"/>
            <a:ext cx="7105841" cy="21976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 cap="all" spc="600" baseline="0">
                <a:solidFill>
                  <a:schemeClr val="accent3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400"/>
              </a:spcAft>
            </a:pPr>
            <a:r>
              <a:rPr lang="en-US" sz="1600" b="1" dirty="0">
                <a:solidFill>
                  <a:schemeClr val="tx1"/>
                </a:solidFill>
                <a:latin typeface="Segoe UI"/>
              </a:rPr>
              <a:t>1221602028 — İrem Su ERDEMİR</a:t>
            </a:r>
          </a:p>
          <a:p>
            <a:pPr algn="l">
              <a:spcAft>
                <a:spcPts val="400"/>
              </a:spcAft>
            </a:pPr>
            <a:r>
              <a:rPr lang="en-US" sz="1600" b="1" dirty="0">
                <a:solidFill>
                  <a:schemeClr val="tx1"/>
                </a:solidFill>
                <a:latin typeface="Segoe UI"/>
              </a:rPr>
              <a:t>1221602043 — Hatice Pınar YILMAZ</a:t>
            </a:r>
            <a:endParaRPr lang="tr-TR" sz="1600" b="1" dirty="0">
              <a:solidFill>
                <a:schemeClr val="tx1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lang="en-US" sz="1600" b="1" dirty="0">
                <a:solidFill>
                  <a:schemeClr val="tx1"/>
                </a:solidFill>
                <a:latin typeface="Segoe UI"/>
              </a:rPr>
              <a:t>1221602098 — Beyza YILMAZ</a:t>
            </a:r>
          </a:p>
          <a:p>
            <a:pPr algn="l">
              <a:spcAft>
                <a:spcPts val="400"/>
              </a:spcAft>
            </a:pPr>
            <a:r>
              <a:rPr lang="en-US" sz="1600" b="1" dirty="0">
                <a:solidFill>
                  <a:schemeClr val="tx1"/>
                </a:solidFill>
                <a:latin typeface="Segoe UI"/>
              </a:rPr>
              <a:t>1221602641 — Yusuf GÜDE</a:t>
            </a:r>
          </a:p>
          <a:p>
            <a:pPr algn="l">
              <a:spcAft>
                <a:spcPts val="400"/>
              </a:spcAft>
            </a:pPr>
            <a:r>
              <a:rPr lang="en-US" sz="1600" b="1" dirty="0">
                <a:solidFill>
                  <a:schemeClr val="tx1"/>
                </a:solidFill>
                <a:latin typeface="Segoe UI"/>
              </a:rPr>
              <a:t>1221602804 — Ulaş Ekrem EMİLİ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64" y="119742"/>
            <a:ext cx="6924831" cy="1057807"/>
          </a:xfrm>
        </p:spPr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PROBLEM TANIMI</a:t>
            </a:r>
            <a:r>
              <a:rPr lang="tr-TR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FF5B32-8FD0-046B-1045-DD532AC5E4D6}"/>
              </a:ext>
            </a:extLst>
          </p:cNvPr>
          <p:cNvSpPr txBox="1"/>
          <p:nvPr/>
        </p:nvSpPr>
        <p:spPr>
          <a:xfrm>
            <a:off x="415664" y="1177549"/>
            <a:ext cx="6093500" cy="2343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Artan </a:t>
            </a:r>
            <a:r>
              <a:rPr lang="en-US" sz="2000" dirty="0" err="1"/>
              <a:t>araç</a:t>
            </a:r>
            <a:r>
              <a:rPr lang="en-US" sz="2000" dirty="0"/>
              <a:t> </a:t>
            </a:r>
            <a:r>
              <a:rPr lang="en-US" sz="2000" dirty="0" err="1"/>
              <a:t>sayısı</a:t>
            </a:r>
            <a:r>
              <a:rPr lang="tr-TR" sz="2000" dirty="0"/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Otopark</a:t>
            </a:r>
            <a:r>
              <a:rPr lang="en-US" sz="2000" dirty="0"/>
              <a:t> </a:t>
            </a:r>
            <a:r>
              <a:rPr lang="en-US" sz="2000" dirty="0" err="1"/>
              <a:t>bulma</a:t>
            </a:r>
            <a:r>
              <a:rPr lang="en-US" sz="2000" dirty="0"/>
              <a:t> </a:t>
            </a:r>
            <a:r>
              <a:rPr lang="en-US" sz="2000" dirty="0" err="1"/>
              <a:t>zorluğu</a:t>
            </a:r>
            <a:r>
              <a:rPr lang="tr-TR" sz="2000" dirty="0"/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Trafik</a:t>
            </a:r>
            <a:r>
              <a:rPr lang="en-US" sz="2000" dirty="0"/>
              <a:t> </a:t>
            </a:r>
            <a:r>
              <a:rPr lang="en-US" sz="2000" dirty="0" err="1"/>
              <a:t>yoğunluğu</a:t>
            </a:r>
            <a:endParaRPr lang="tr-TR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Yakıt</a:t>
            </a:r>
            <a:r>
              <a:rPr lang="en-US" sz="2000" dirty="0"/>
              <a:t> </a:t>
            </a:r>
            <a:r>
              <a:rPr lang="en-US" sz="2000" dirty="0" err="1"/>
              <a:t>kaybı</a:t>
            </a:r>
            <a:endParaRPr lang="tr-TR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Karbon </a:t>
            </a:r>
            <a:r>
              <a:rPr lang="en-US" sz="2000" dirty="0" err="1"/>
              <a:t>salınımı</a:t>
            </a: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C1A1E9-8CC9-65E1-2C27-7B18B1A3D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5999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249DE12-B5D1-7B12-46B3-0D109A178096}"/>
              </a:ext>
            </a:extLst>
          </p:cNvPr>
          <p:cNvSpPr txBox="1"/>
          <p:nvPr/>
        </p:nvSpPr>
        <p:spPr>
          <a:xfrm>
            <a:off x="298553" y="4476636"/>
            <a:ext cx="6153462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Doluluk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tahmini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yapmak</a:t>
            </a:r>
            <a:endParaRPr lang="tr-TR" sz="20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uygun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park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alanını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bulmak</a:t>
            </a:r>
            <a:endParaRPr lang="tr-TR" sz="20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Sürücü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yönlendirmek</a:t>
            </a:r>
            <a:endParaRPr lang="tr-TR" sz="20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Trafik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yoğunluğunu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azaltmak</a:t>
            </a:r>
            <a:endParaRPr lang="en-US" sz="20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itle 6">
            <a:extLst>
              <a:ext uri="{FF2B5EF4-FFF2-40B4-BE49-F238E27FC236}">
                <a16:creationId xmlns:a16="http://schemas.microsoft.com/office/drawing/2014/main" id="{94B0D27B-A3E7-E741-AE85-59C17A4FDBA4}"/>
              </a:ext>
            </a:extLst>
          </p:cNvPr>
          <p:cNvSpPr txBox="1">
            <a:spLocks/>
          </p:cNvSpPr>
          <p:nvPr/>
        </p:nvSpPr>
        <p:spPr>
          <a:xfrm>
            <a:off x="415665" y="3364589"/>
            <a:ext cx="6924831" cy="105780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300" baseline="0">
                <a:solidFill>
                  <a:schemeClr val="accent3">
                    <a:lumMod val="75000"/>
                  </a:schemeClr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PRO</a:t>
            </a:r>
            <a:r>
              <a:rPr lang="tr-TR" b="1" dirty="0" err="1">
                <a:solidFill>
                  <a:schemeClr val="accent4">
                    <a:lumMod val="50000"/>
                  </a:schemeClr>
                </a:solidFill>
              </a:rPr>
              <a:t>jenin</a:t>
            </a:r>
            <a:r>
              <a:rPr lang="tr-TR" b="1" dirty="0">
                <a:solidFill>
                  <a:schemeClr val="accent4">
                    <a:lumMod val="50000"/>
                  </a:schemeClr>
                </a:solidFill>
              </a:rPr>
              <a:t>  AMACI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55" y="520371"/>
            <a:ext cx="9824089" cy="1525009"/>
          </a:xfrm>
        </p:spPr>
        <p:txBody>
          <a:bodyPr/>
          <a:lstStyle/>
          <a:p>
            <a:pPr algn="l"/>
            <a:r>
              <a:rPr lang="tr-TR" b="1" dirty="0">
                <a:solidFill>
                  <a:schemeClr val="accent4">
                    <a:lumMod val="75000"/>
                  </a:schemeClr>
                </a:solidFill>
              </a:rPr>
              <a:t>          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Parking Birmingham Veri Seti</a:t>
            </a:r>
            <a:br>
              <a:rPr lang="tr-TR" sz="2400" dirty="0">
                <a:solidFill>
                  <a:schemeClr val="accent4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tr-TR" sz="2400" dirty="0">
                <a:solidFill>
                  <a:schemeClr val="accent4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tr-TR" sz="2400" dirty="0">
                <a:solidFill>
                  <a:schemeClr val="accent4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Kronolojik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Doluluk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Zaman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Serisi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Analizi</a:t>
            </a:r>
            <a:endParaRPr lang="en-US" sz="2400" b="1" dirty="0">
              <a:solidFill>
                <a:schemeClr val="tx2">
                  <a:lumMod val="75000"/>
                  <a:lumOff val="25000"/>
                </a:schemeClr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966468-63FB-65CB-8E35-D84E950F7403}"/>
              </a:ext>
            </a:extLst>
          </p:cNvPr>
          <p:cNvSpPr txBox="1"/>
          <p:nvPr/>
        </p:nvSpPr>
        <p:spPr>
          <a:xfrm>
            <a:off x="1183955" y="2266408"/>
            <a:ext cx="3576731" cy="2956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Gerçek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şehir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otopark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verileri</a:t>
            </a: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Saatlik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günlük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periyodik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desenler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içerir</a:t>
            </a: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LSTM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modeli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için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zaman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serisi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verisi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sağlar</a:t>
            </a: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Gelecekteki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doluluk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tahmini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için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temel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oluşturur</a:t>
            </a: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3AE2BE-9C59-2A9B-A7BD-E09B252AA2BD}"/>
              </a:ext>
            </a:extLst>
          </p:cNvPr>
          <p:cNvSpPr txBox="1"/>
          <p:nvPr/>
        </p:nvSpPr>
        <p:spPr>
          <a:xfrm>
            <a:off x="1183955" y="5530843"/>
            <a:ext cx="10543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ea typeface="Calibri" panose="020F0502020204030204" pitchFamily="34" charset="0"/>
                <a:cs typeface="Calibri" panose="020F0502020204030204" pitchFamily="34" charset="0"/>
              </a:rPr>
              <a:t>Doluluk</a:t>
            </a:r>
            <a: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a typeface="Calibri" panose="020F0502020204030204" pitchFamily="34" charset="0"/>
                <a:cs typeface="Calibri" panose="020F0502020204030204" pitchFamily="34" charset="0"/>
              </a:rPr>
              <a:t>oranları</a:t>
            </a:r>
            <a: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a typeface="Calibri" panose="020F0502020204030204" pitchFamily="34" charset="0"/>
                <a:cs typeface="Calibri" panose="020F0502020204030204" pitchFamily="34" charset="0"/>
              </a:rPr>
              <a:t>belirgin</a:t>
            </a:r>
            <a: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a typeface="Calibri" panose="020F0502020204030204" pitchFamily="34" charset="0"/>
                <a:cs typeface="Calibri" panose="020F0502020204030204" pitchFamily="34" charset="0"/>
              </a:rPr>
              <a:t>periyodik</a:t>
            </a:r>
            <a: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a typeface="Calibri" panose="020F0502020204030204" pitchFamily="34" charset="0"/>
                <a:cs typeface="Calibri" panose="020F0502020204030204" pitchFamily="34" charset="0"/>
              </a:rPr>
              <a:t>davranış</a:t>
            </a:r>
            <a: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a typeface="Calibri" panose="020F0502020204030204" pitchFamily="34" charset="0"/>
                <a:cs typeface="Calibri" panose="020F0502020204030204" pitchFamily="34" charset="0"/>
              </a:rPr>
              <a:t>göstermektedir</a:t>
            </a:r>
            <a: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US" b="1" dirty="0" err="1">
                <a:ea typeface="Calibri" panose="020F0502020204030204" pitchFamily="34" charset="0"/>
                <a:cs typeface="Calibri" panose="020F0502020204030204" pitchFamily="34" charset="0"/>
              </a:rPr>
              <a:t>bu</a:t>
            </a:r>
            <a: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a typeface="Calibri" panose="020F0502020204030204" pitchFamily="34" charset="0"/>
                <a:cs typeface="Calibri" panose="020F0502020204030204" pitchFamily="34" charset="0"/>
              </a:rPr>
              <a:t>nedenle</a:t>
            </a:r>
            <a: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  <a:t> zaman </a:t>
            </a:r>
            <a:r>
              <a:rPr lang="en-US" b="1" dirty="0" err="1">
                <a:ea typeface="Calibri" panose="020F0502020204030204" pitchFamily="34" charset="0"/>
                <a:cs typeface="Calibri" panose="020F0502020204030204" pitchFamily="34" charset="0"/>
              </a:rPr>
              <a:t>serisi</a:t>
            </a:r>
            <a: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a typeface="Calibri" panose="020F0502020204030204" pitchFamily="34" charset="0"/>
                <a:cs typeface="Calibri" panose="020F0502020204030204" pitchFamily="34" charset="0"/>
              </a:rPr>
              <a:t>tahmini</a:t>
            </a:r>
            <a: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a typeface="Calibri" panose="020F0502020204030204" pitchFamily="34" charset="0"/>
                <a:cs typeface="Calibri" panose="020F0502020204030204" pitchFamily="34" charset="0"/>
              </a:rPr>
              <a:t>uygulanabilir</a:t>
            </a:r>
            <a: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4B7344-4434-A89E-08E5-458E0D4ABA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206" y="2334615"/>
            <a:ext cx="6870337" cy="228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EFE388-CD0B-9671-4D4E-D6D8004C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564" y="-68181"/>
            <a:ext cx="6953718" cy="846183"/>
          </a:xfrm>
        </p:spPr>
        <p:txBody>
          <a:bodyPr/>
          <a:lstStyle/>
          <a:p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</a:rPr>
              <a:t>Hibrit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</a:rPr>
              <a:t>Yapay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</a:rPr>
              <a:t>Zekâ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</a:rPr>
              <a:t>Mimarisi</a:t>
            </a:r>
            <a:endParaRPr lang="en-US" sz="32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330154"/>
            <a:ext cx="2743200" cy="365125"/>
          </a:xfrm>
        </p:spPr>
        <p:txBody>
          <a:bodyPr/>
          <a:lstStyle/>
          <a:p>
            <a:pPr algn="r"/>
            <a:fld id="{FE024F78-56A6-7740-B68D-8D4D026EDF3F}" type="slidenum">
              <a:rPr lang="en-US" smtClean="0">
                <a:solidFill>
                  <a:schemeClr val="tx1"/>
                </a:solidFill>
              </a:rPr>
              <a:pPr algn="r"/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9C8A0B1-E02C-3E99-834E-807728D3BA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443" y="1255695"/>
            <a:ext cx="7499657" cy="434661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8A2825-5F20-23F9-7D83-391A48E28225}"/>
              </a:ext>
            </a:extLst>
          </p:cNvPr>
          <p:cNvSpPr txBox="1"/>
          <p:nvPr/>
        </p:nvSpPr>
        <p:spPr>
          <a:xfrm>
            <a:off x="307829" y="621556"/>
            <a:ext cx="3698563" cy="5318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1600" dirty="0">
                <a:solidFill>
                  <a:schemeClr val="accent4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LSTM </a:t>
            </a:r>
            <a:r>
              <a:rPr lang="en-US" sz="1600" b="1" dirty="0" err="1">
                <a:solidFill>
                  <a:schemeClr val="accent4">
                    <a:lumMod val="75000"/>
                  </a:schemeClr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Katmanı</a:t>
            </a:r>
            <a:r>
              <a:rPr lang="tr-TR" sz="1600" b="1" dirty="0">
                <a:solidFill>
                  <a:schemeClr val="accent4">
                    <a:lumMod val="75000"/>
                  </a:schemeClr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endParaRPr lang="en-US" sz="1600" dirty="0">
              <a:solidFill>
                <a:schemeClr val="accent4">
                  <a:lumMod val="75000"/>
                </a:schemeClr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 12 zaman </a:t>
            </a:r>
            <a:r>
              <a:rPr lang="en-US" sz="1500" dirty="0" err="1">
                <a:ea typeface="Calibri" panose="020F0502020204030204" pitchFamily="34" charset="0"/>
                <a:cs typeface="Calibri" panose="020F0502020204030204" pitchFamily="34" charset="0"/>
              </a:rPr>
              <a:t>adımlı</a:t>
            </a: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ea typeface="Calibri" panose="020F0502020204030204" pitchFamily="34" charset="0"/>
                <a:cs typeface="Calibri" panose="020F0502020204030204" pitchFamily="34" charset="0"/>
              </a:rPr>
              <a:t>pencere</a:t>
            </a: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ea typeface="Calibri" panose="020F0502020204030204" pitchFamily="34" charset="0"/>
                <a:cs typeface="Calibri" panose="020F0502020204030204" pitchFamily="34" charset="0"/>
              </a:rPr>
              <a:t>Gelecek</a:t>
            </a: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ea typeface="Calibri" panose="020F0502020204030204" pitchFamily="34" charset="0"/>
                <a:cs typeface="Calibri" panose="020F0502020204030204" pitchFamily="34" charset="0"/>
              </a:rPr>
              <a:t>doluluk</a:t>
            </a: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ea typeface="Calibri" panose="020F0502020204030204" pitchFamily="34" charset="0"/>
                <a:cs typeface="Calibri" panose="020F0502020204030204" pitchFamily="34" charset="0"/>
              </a:rPr>
              <a:t>tahmini</a:t>
            </a: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 Aggregate occupancy prediction</a:t>
            </a:r>
            <a:endParaRPr lang="tr-TR" sz="15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15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PPO </a:t>
            </a:r>
            <a:r>
              <a:rPr lang="en-US" sz="1600" b="1" dirty="0" err="1">
                <a:solidFill>
                  <a:schemeClr val="accent4">
                    <a:lumMod val="75000"/>
                  </a:schemeClr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Katmanı</a:t>
            </a:r>
            <a:r>
              <a:rPr lang="tr-TR" sz="1600" b="1" dirty="0">
                <a:solidFill>
                  <a:schemeClr val="accent4">
                    <a:lumMod val="75000"/>
                  </a:schemeClr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endParaRPr lang="en-US" sz="1600" dirty="0">
              <a:solidFill>
                <a:schemeClr val="accent4">
                  <a:lumMod val="75000"/>
                </a:schemeClr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 15×15 Grid </a:t>
            </a:r>
            <a:r>
              <a:rPr lang="en-US" sz="1500" dirty="0" err="1">
                <a:ea typeface="Calibri" panose="020F0502020204030204" pitchFamily="34" charset="0"/>
                <a:cs typeface="Calibri" panose="020F0502020204030204" pitchFamily="34" charset="0"/>
              </a:rPr>
              <a:t>ortamı</a:t>
            </a: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 En </a:t>
            </a:r>
            <a:r>
              <a:rPr lang="en-US" sz="1500" dirty="0" err="1">
                <a:ea typeface="Calibri" panose="020F0502020204030204" pitchFamily="34" charset="0"/>
                <a:cs typeface="Calibri" panose="020F0502020204030204" pitchFamily="34" charset="0"/>
              </a:rPr>
              <a:t>düşük</a:t>
            </a: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ea typeface="Calibri" panose="020F0502020204030204" pitchFamily="34" charset="0"/>
                <a:cs typeface="Calibri" panose="020F0502020204030204" pitchFamily="34" charset="0"/>
              </a:rPr>
              <a:t>yoğunluklu</a:t>
            </a: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ea typeface="Calibri" panose="020F0502020204030204" pitchFamily="34" charset="0"/>
                <a:cs typeface="Calibri" panose="020F0502020204030204" pitchFamily="34" charset="0"/>
              </a:rPr>
              <a:t>lotu</a:t>
            </a: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ea typeface="Calibri" panose="020F0502020204030204" pitchFamily="34" charset="0"/>
                <a:cs typeface="Calibri" panose="020F0502020204030204" pitchFamily="34" charset="0"/>
              </a:rPr>
              <a:t>bulur</a:t>
            </a: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ea typeface="Calibri" panose="020F0502020204030204" pitchFamily="34" charset="0"/>
                <a:cs typeface="Calibri" panose="020F0502020204030204" pitchFamily="34" charset="0"/>
              </a:rPr>
              <a:t>Yönlendirme</a:t>
            </a: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ea typeface="Calibri" panose="020F0502020204030204" pitchFamily="34" charset="0"/>
                <a:cs typeface="Calibri" panose="020F0502020204030204" pitchFamily="34" charset="0"/>
              </a:rPr>
              <a:t>kararı</a:t>
            </a: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ea typeface="Calibri" panose="020F0502020204030204" pitchFamily="34" charset="0"/>
                <a:cs typeface="Calibri" panose="020F0502020204030204" pitchFamily="34" charset="0"/>
              </a:rPr>
              <a:t>üretir</a:t>
            </a: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tr-TR" sz="15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i="1" dirty="0"/>
              <a:t> RL: PPO (</a:t>
            </a:r>
            <a:r>
              <a:rPr lang="en-US" sz="1500" i="1" dirty="0" err="1"/>
              <a:t>birincil</a:t>
            </a:r>
            <a:r>
              <a:rPr lang="en-US" sz="1500" i="1" dirty="0"/>
              <a:t>) + DQN (</a:t>
            </a:r>
            <a:r>
              <a:rPr lang="en-US" sz="1500" i="1" dirty="0" err="1"/>
              <a:t>karşılaştırma</a:t>
            </a:r>
            <a:r>
              <a:rPr lang="tr-TR" sz="1500" i="1" dirty="0"/>
              <a:t>)</a:t>
            </a:r>
            <a:endParaRPr lang="tr-TR" sz="15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5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1500" dirty="0">
                <a:solidFill>
                  <a:schemeClr val="accent4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chemeClr val="accent4">
                    <a:lumMod val="75000"/>
                  </a:schemeClr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Sunum</a:t>
            </a: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chemeClr val="accent4">
                    <a:lumMod val="75000"/>
                  </a:schemeClr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Katmanı</a:t>
            </a:r>
            <a:r>
              <a:rPr lang="tr-TR" sz="1600" b="1" dirty="0">
                <a:solidFill>
                  <a:schemeClr val="accent4">
                    <a:lumMod val="75000"/>
                  </a:schemeClr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1600" dirty="0">
              <a:solidFill>
                <a:schemeClr val="accent4">
                  <a:lumMod val="75000"/>
                </a:schemeClr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 Dashboard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ea typeface="Calibri" panose="020F0502020204030204" pitchFamily="34" charset="0"/>
                <a:cs typeface="Calibri" panose="020F0502020204030204" pitchFamily="34" charset="0"/>
              </a:rPr>
              <a:t>FastAPI</a:t>
            </a: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ea typeface="Calibri" panose="020F0502020204030204" pitchFamily="34" charset="0"/>
                <a:cs typeface="Calibri" panose="020F0502020204030204" pitchFamily="34" charset="0"/>
              </a:rPr>
              <a:t>Servisi</a:t>
            </a: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 React </a:t>
            </a:r>
            <a:r>
              <a:rPr lang="en-US" sz="1500" dirty="0" err="1">
                <a:ea typeface="Calibri" panose="020F0502020204030204" pitchFamily="34" charset="0"/>
                <a:cs typeface="Calibri" panose="020F0502020204030204" pitchFamily="34" charset="0"/>
              </a:rPr>
              <a:t>Arayüzü</a:t>
            </a:r>
            <a:r>
              <a:rPr lang="en-US" sz="15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BB87D0-7E76-D565-84F8-C96F7B44FBC2}"/>
              </a:ext>
            </a:extLst>
          </p:cNvPr>
          <p:cNvSpPr txBox="1"/>
          <p:nvPr/>
        </p:nvSpPr>
        <p:spPr>
          <a:xfrm>
            <a:off x="307829" y="6056921"/>
            <a:ext cx="1371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a typeface="Calibri" panose="020F0502020204030204" pitchFamily="34" charset="0"/>
                <a:cs typeface="Calibri" panose="020F0502020204030204" pitchFamily="34" charset="0"/>
              </a:rPr>
              <a:t>LSTM </a:t>
            </a:r>
            <a:r>
              <a:rPr lang="en-US" sz="1600" b="1" dirty="0" err="1">
                <a:ea typeface="Calibri" panose="020F0502020204030204" pitchFamily="34" charset="0"/>
                <a:cs typeface="Calibri" panose="020F0502020204030204" pitchFamily="34" charset="0"/>
              </a:rPr>
              <a:t>tahminleri</a:t>
            </a:r>
            <a:r>
              <a:rPr lang="en-US" sz="1600" b="1" dirty="0">
                <a:ea typeface="Calibri" panose="020F0502020204030204" pitchFamily="34" charset="0"/>
                <a:cs typeface="Calibri" panose="020F0502020204030204" pitchFamily="34" charset="0"/>
              </a:rPr>
              <a:t> PPO </a:t>
            </a:r>
            <a:r>
              <a:rPr lang="en-US" sz="1600" b="1" dirty="0" err="1">
                <a:ea typeface="Calibri" panose="020F0502020204030204" pitchFamily="34" charset="0"/>
                <a:cs typeface="Calibri" panose="020F0502020204030204" pitchFamily="34" charset="0"/>
              </a:rPr>
              <a:t>ajanının</a:t>
            </a:r>
            <a:r>
              <a:rPr lang="en-US" sz="1600" b="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ea typeface="Calibri" panose="020F0502020204030204" pitchFamily="34" charset="0"/>
                <a:cs typeface="Calibri" panose="020F0502020204030204" pitchFamily="34" charset="0"/>
              </a:rPr>
              <a:t>gözlem</a:t>
            </a:r>
            <a:r>
              <a:rPr lang="en-US" sz="1600" b="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ea typeface="Calibri" panose="020F0502020204030204" pitchFamily="34" charset="0"/>
                <a:cs typeface="Calibri" panose="020F0502020204030204" pitchFamily="34" charset="0"/>
              </a:rPr>
              <a:t>uzayına</a:t>
            </a:r>
            <a:r>
              <a:rPr lang="en-US" sz="1600" b="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ea typeface="Calibri" panose="020F0502020204030204" pitchFamily="34" charset="0"/>
                <a:cs typeface="Calibri" panose="020F0502020204030204" pitchFamily="34" charset="0"/>
              </a:rPr>
              <a:t>entegre</a:t>
            </a:r>
            <a:r>
              <a:rPr lang="en-US" sz="1600" b="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ea typeface="Calibri" panose="020F0502020204030204" pitchFamily="34" charset="0"/>
                <a:cs typeface="Calibri" panose="020F0502020204030204" pitchFamily="34" charset="0"/>
              </a:rPr>
              <a:t>edilerek</a:t>
            </a:r>
            <a:r>
              <a:rPr lang="en-US" sz="1600" b="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ea typeface="Calibri" panose="020F0502020204030204" pitchFamily="34" charset="0"/>
                <a:cs typeface="Calibri" panose="020F0502020204030204" pitchFamily="34" charset="0"/>
              </a:rPr>
              <a:t>sistemin</a:t>
            </a:r>
            <a:r>
              <a:rPr lang="en-US" sz="1600" b="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ea typeface="Calibri" panose="020F0502020204030204" pitchFamily="34" charset="0"/>
                <a:cs typeface="Calibri" panose="020F0502020204030204" pitchFamily="34" charset="0"/>
              </a:rPr>
              <a:t>geleceği</a:t>
            </a:r>
            <a:r>
              <a:rPr lang="en-US" sz="1600" b="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ea typeface="Calibri" panose="020F0502020204030204" pitchFamily="34" charset="0"/>
                <a:cs typeface="Calibri" panose="020F0502020204030204" pitchFamily="34" charset="0"/>
              </a:rPr>
              <a:t>öngörebilen</a:t>
            </a:r>
            <a:r>
              <a:rPr lang="en-US" sz="1600" b="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ea typeface="Calibri" panose="020F0502020204030204" pitchFamily="34" charset="0"/>
                <a:cs typeface="Calibri" panose="020F0502020204030204" pitchFamily="34" charset="0"/>
              </a:rPr>
              <a:t>proaktif</a:t>
            </a:r>
            <a:r>
              <a:rPr lang="en-US" sz="1600" b="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ea typeface="Calibri" panose="020F0502020204030204" pitchFamily="34" charset="0"/>
                <a:cs typeface="Calibri" panose="020F0502020204030204" pitchFamily="34" charset="0"/>
              </a:rPr>
              <a:t>kararlar</a:t>
            </a:r>
            <a:r>
              <a:rPr lang="en-US" sz="1600" b="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ea typeface="Calibri" panose="020F0502020204030204" pitchFamily="34" charset="0"/>
                <a:cs typeface="Calibri" panose="020F0502020204030204" pitchFamily="34" charset="0"/>
              </a:rPr>
              <a:t>vermesi</a:t>
            </a:r>
            <a:r>
              <a:rPr lang="en-US" sz="1600" b="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ea typeface="Calibri" panose="020F0502020204030204" pitchFamily="34" charset="0"/>
                <a:cs typeface="Calibri" panose="020F0502020204030204" pitchFamily="34" charset="0"/>
              </a:rPr>
              <a:t>sağlanmıştır</a:t>
            </a:r>
            <a:r>
              <a:rPr lang="en-US" sz="1600" b="1" dirty="0"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530" y="-561475"/>
            <a:ext cx="10472491" cy="1656304"/>
          </a:xfrm>
        </p:spPr>
        <p:txBody>
          <a:bodyPr/>
          <a:lstStyle/>
          <a:p>
            <a:r>
              <a:rPr lang="tr-TR" b="1" dirty="0">
                <a:solidFill>
                  <a:schemeClr val="accent4">
                    <a:lumMod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EDA: </a:t>
            </a:r>
            <a:r>
              <a:rPr lang="en-US" b="1" dirty="0" err="1">
                <a:solidFill>
                  <a:schemeClr val="accent4">
                    <a:lumMod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Saatlik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chemeClr val="accent4">
                    <a:lumMod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Ortalama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chemeClr val="accent4">
                    <a:lumMod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Otopark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chemeClr val="accent4">
                    <a:lumMod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Doluluk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chemeClr val="accent4">
                    <a:lumMod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Oranı</a:t>
            </a:r>
            <a:r>
              <a:rPr lang="tr-TR" b="1" dirty="0">
                <a:solidFill>
                  <a:schemeClr val="accent4">
                    <a:lumMod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b="1" dirty="0">
              <a:solidFill>
                <a:schemeClr val="accent4">
                  <a:lumMod val="50000"/>
                </a:schemeClr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/>
        <p:txBody>
          <a:bodyPr/>
          <a:lstStyle/>
          <a:p>
            <a:pPr marL="0" indent="0">
              <a:buNone/>
            </a:pPr>
            <a:endParaRPr lang="tr-TR" dirty="0">
              <a:solidFill>
                <a:schemeClr val="tx1"/>
              </a:solidFill>
            </a:endParaRPr>
          </a:p>
          <a:p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E024F78-56A6-7740-B68D-8D4D026EDF3F}" type="slidenum">
              <a:rPr lang="en-US" smtClean="0">
                <a:solidFill>
                  <a:schemeClr val="tx1"/>
                </a:solidFill>
              </a:rPr>
              <a:pPr algn="r"/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1B0D54-C177-B9FC-B2F4-ACF25140AD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464" y="1223776"/>
            <a:ext cx="8235071" cy="32295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D2665B-34E8-E5C8-F75A-EC127F38A811}"/>
              </a:ext>
            </a:extLst>
          </p:cNvPr>
          <p:cNvSpPr txBox="1"/>
          <p:nvPr/>
        </p:nvSpPr>
        <p:spPr>
          <a:xfrm>
            <a:off x="1020311" y="4482490"/>
            <a:ext cx="10806710" cy="2118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Otopark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oranları</a:t>
            </a:r>
            <a:r>
              <a:rPr lang="en-US" dirty="0"/>
              <a:t> </a:t>
            </a:r>
            <a:r>
              <a:rPr lang="en-US" dirty="0" err="1"/>
              <a:t>gün</a:t>
            </a:r>
            <a:r>
              <a:rPr lang="en-US" dirty="0"/>
              <a:t>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belirgin</a:t>
            </a:r>
            <a:r>
              <a:rPr lang="en-US" dirty="0"/>
              <a:t> </a:t>
            </a:r>
            <a:r>
              <a:rPr lang="en-US" dirty="0" err="1"/>
              <a:t>değişimler</a:t>
            </a:r>
            <a:r>
              <a:rPr lang="en-US" dirty="0"/>
              <a:t> </a:t>
            </a:r>
            <a:r>
              <a:rPr lang="en-US" dirty="0" err="1"/>
              <a:t>göstermektedir</a:t>
            </a:r>
            <a:r>
              <a:rPr lang="en-US" dirty="0"/>
              <a:t>.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Sabah </a:t>
            </a:r>
            <a:r>
              <a:rPr lang="en-US" dirty="0" err="1"/>
              <a:t>saatlerinden</a:t>
            </a:r>
            <a:r>
              <a:rPr lang="en-US" dirty="0"/>
              <a:t> </a:t>
            </a:r>
            <a:r>
              <a:rPr lang="en-US" dirty="0" err="1"/>
              <a:t>itibaren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düzenli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artmaktadır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oranları</a:t>
            </a:r>
            <a:r>
              <a:rPr lang="en-US" dirty="0"/>
              <a:t> </a:t>
            </a:r>
            <a:r>
              <a:rPr lang="en-US" b="1" dirty="0"/>
              <a:t>13:00–14:00</a:t>
            </a:r>
            <a:r>
              <a:rPr lang="en-US" dirty="0"/>
              <a:t> </a:t>
            </a:r>
            <a:r>
              <a:rPr lang="en-US" dirty="0" err="1"/>
              <a:t>saatleri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gözlemlenmiştir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Öğleden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oranlarında</a:t>
            </a:r>
            <a:r>
              <a:rPr lang="en-US" dirty="0"/>
              <a:t> </a:t>
            </a:r>
            <a:r>
              <a:rPr lang="en-US" dirty="0" err="1"/>
              <a:t>kademeli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düşüş</a:t>
            </a:r>
            <a:r>
              <a:rPr lang="en-US" dirty="0"/>
              <a:t> </a:t>
            </a:r>
            <a:r>
              <a:rPr lang="en-US" dirty="0" err="1"/>
              <a:t>başlamaktadır</a:t>
            </a:r>
            <a:r>
              <a:rPr lang="en-US" dirty="0"/>
              <a:t>.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Bu </a:t>
            </a:r>
            <a:r>
              <a:rPr lang="en-US" dirty="0" err="1"/>
              <a:t>periyodik</a:t>
            </a:r>
            <a:r>
              <a:rPr lang="en-US" dirty="0"/>
              <a:t> </a:t>
            </a:r>
            <a:r>
              <a:rPr lang="en-US" dirty="0" err="1"/>
              <a:t>yapı</a:t>
            </a:r>
            <a:r>
              <a:rPr lang="en-US" dirty="0"/>
              <a:t>, </a:t>
            </a:r>
            <a:r>
              <a:rPr lang="en-US" b="1" dirty="0"/>
              <a:t>LSTM </a:t>
            </a:r>
            <a:r>
              <a:rPr lang="en-US" b="1" dirty="0" err="1"/>
              <a:t>tabanlı</a:t>
            </a:r>
            <a:r>
              <a:rPr lang="en-US" b="1" dirty="0"/>
              <a:t> zaman </a:t>
            </a:r>
            <a:r>
              <a:rPr lang="en-US" b="1" dirty="0" err="1"/>
              <a:t>serisi</a:t>
            </a:r>
            <a:r>
              <a:rPr lang="en-US" b="1" dirty="0"/>
              <a:t> </a:t>
            </a:r>
            <a:r>
              <a:rPr lang="en-US" b="1" dirty="0" err="1"/>
              <a:t>tahmini</a:t>
            </a:r>
            <a:r>
              <a:rPr lang="en-US" b="1" dirty="0"/>
              <a:t> </a:t>
            </a:r>
            <a:r>
              <a:rPr lang="en-US" b="1" dirty="0" err="1"/>
              <a:t>için</a:t>
            </a:r>
            <a:r>
              <a:rPr lang="en-US" b="1" dirty="0"/>
              <a:t> </a:t>
            </a:r>
            <a:r>
              <a:rPr lang="en-US" b="1" dirty="0" err="1"/>
              <a:t>uygun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örüntü</a:t>
            </a:r>
            <a:r>
              <a:rPr lang="en-US" dirty="0"/>
              <a:t> </a:t>
            </a:r>
            <a:r>
              <a:rPr lang="en-US" dirty="0" err="1"/>
              <a:t>oluşturmaktadır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C7165D-B362-F913-A579-343B914EAE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1" y="1027211"/>
            <a:ext cx="8140383" cy="34507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DFC828-6062-0A15-8977-7FB9210FFFB4}"/>
              </a:ext>
            </a:extLst>
          </p:cNvPr>
          <p:cNvSpPr txBox="1"/>
          <p:nvPr/>
        </p:nvSpPr>
        <p:spPr>
          <a:xfrm>
            <a:off x="3518216" y="442436"/>
            <a:ext cx="64830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Doluluk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Oranı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Dağılım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Analizi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2E03EB-8536-C5F9-0554-537EE6C34168}"/>
              </a:ext>
            </a:extLst>
          </p:cNvPr>
          <p:cNvSpPr txBox="1"/>
          <p:nvPr/>
        </p:nvSpPr>
        <p:spPr>
          <a:xfrm>
            <a:off x="770331" y="4564553"/>
            <a:ext cx="10121584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Veri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setindeki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otopark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doluluk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oranlarının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dağılımı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incelenmiştir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Kayıtların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büyük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bölümü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  <a:t>%20 </a:t>
            </a:r>
            <a:r>
              <a:rPr lang="en-US" b="1" dirty="0" err="1">
                <a:ea typeface="Calibri" panose="020F0502020204030204" pitchFamily="34" charset="0"/>
                <a:cs typeface="Calibri" panose="020F0502020204030204" pitchFamily="34" charset="0"/>
              </a:rPr>
              <a:t>ile</a:t>
            </a:r>
            <a: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  <a:t> %80 </a:t>
            </a:r>
            <a:r>
              <a:rPr lang="en-US" b="1" dirty="0" err="1">
                <a:ea typeface="Calibri" panose="020F0502020204030204" pitchFamily="34" charset="0"/>
                <a:cs typeface="Calibri" panose="020F0502020204030204" pitchFamily="34" charset="0"/>
              </a:rPr>
              <a:t>doluluk</a:t>
            </a:r>
            <a: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ea typeface="Calibri" panose="020F0502020204030204" pitchFamily="34" charset="0"/>
                <a:cs typeface="Calibri" panose="020F0502020204030204" pitchFamily="34" charset="0"/>
              </a:rPr>
              <a:t>aralığında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yoğunlaşmaktadır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tr-TR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Çok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düşük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çok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yüksek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doluluk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değerleri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daha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az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sıklıkla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görülmektedir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tr-TR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Dağılımın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geniş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bir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aralığa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yayılması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veri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setinin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farklı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yoğunluk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senaryolarını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içerdiğini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göstermektedir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tr-TR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Bu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çeşitlilik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tahmin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yönlendirme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modellerinin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farklı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trafik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koşullarını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öğrenmesini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Calibri" panose="020F0502020204030204" pitchFamily="34" charset="0"/>
              </a:rPr>
              <a:t>sağlamaktadır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D8932EB-AECD-E64B-8CB7-B85BF57E1C13}"/>
              </a:ext>
            </a:extLst>
          </p:cNvPr>
          <p:cNvSpPr txBox="1">
            <a:spLocks/>
          </p:cNvSpPr>
          <p:nvPr/>
        </p:nvSpPr>
        <p:spPr>
          <a:xfrm>
            <a:off x="9140971" y="63301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6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E024F78-56A6-7740-B68D-8D4D026EDF3F}" type="slidenum">
              <a:rPr lang="en-US" smtClean="0">
                <a:solidFill>
                  <a:schemeClr val="tx1"/>
                </a:solidFill>
              </a:rPr>
              <a:pPr algn="r"/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0661F1-B64C-A162-C0C2-91B397648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521" y="1181509"/>
            <a:ext cx="8370958" cy="32829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A92E36-9B49-BD17-93E2-321A4792FDCA}"/>
              </a:ext>
            </a:extLst>
          </p:cNvPr>
          <p:cNvSpPr txBox="1"/>
          <p:nvPr/>
        </p:nvSpPr>
        <p:spPr>
          <a:xfrm>
            <a:off x="2476499" y="365562"/>
            <a:ext cx="76771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Günlük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Ortalama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Otopark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Doluluk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Analizi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659EBA-C16E-4961-0093-0EB9A36EF499}"/>
              </a:ext>
            </a:extLst>
          </p:cNvPr>
          <p:cNvSpPr txBox="1"/>
          <p:nvPr/>
        </p:nvSpPr>
        <p:spPr>
          <a:xfrm>
            <a:off x="795676" y="4464459"/>
            <a:ext cx="1188720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Otopark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oranları</a:t>
            </a:r>
            <a:r>
              <a:rPr lang="en-US" dirty="0"/>
              <a:t> </a:t>
            </a:r>
            <a:r>
              <a:rPr lang="en-US" dirty="0" err="1"/>
              <a:t>hafta</a:t>
            </a:r>
            <a:r>
              <a:rPr lang="en-US" dirty="0"/>
              <a:t> </a:t>
            </a:r>
            <a:r>
              <a:rPr lang="en-US" dirty="0" err="1"/>
              <a:t>içi</a:t>
            </a:r>
            <a:r>
              <a:rPr lang="en-US" dirty="0"/>
              <a:t> </a:t>
            </a:r>
            <a:r>
              <a:rPr lang="en-US" dirty="0" err="1"/>
              <a:t>günlerde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seviyelerde</a:t>
            </a:r>
            <a:r>
              <a:rPr lang="en-US" dirty="0"/>
              <a:t> </a:t>
            </a:r>
            <a:r>
              <a:rPr lang="en-US" dirty="0" err="1"/>
              <a:t>seyretmektedir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ortalama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b="1" dirty="0" err="1"/>
              <a:t>Perşembe</a:t>
            </a:r>
            <a:r>
              <a:rPr lang="en-US" b="1" dirty="0"/>
              <a:t> </a:t>
            </a:r>
            <a:r>
              <a:rPr lang="en-US" b="1" dirty="0" err="1"/>
              <a:t>günü</a:t>
            </a:r>
            <a:r>
              <a:rPr lang="en-US" dirty="0"/>
              <a:t> </a:t>
            </a:r>
            <a:r>
              <a:rPr lang="en-US" dirty="0" err="1"/>
              <a:t>gözlemlenmiştir</a:t>
            </a:r>
            <a:r>
              <a:rPr lang="en-US" dirty="0"/>
              <a:t>.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Hafta</a:t>
            </a:r>
            <a:r>
              <a:rPr lang="en-US" dirty="0"/>
              <a:t> </a:t>
            </a:r>
            <a:r>
              <a:rPr lang="en-US" dirty="0" err="1"/>
              <a:t>sonuna</a:t>
            </a:r>
            <a:r>
              <a:rPr lang="en-US" dirty="0"/>
              <a:t> </a:t>
            </a:r>
            <a:r>
              <a:rPr lang="en-US" dirty="0" err="1"/>
              <a:t>doğru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oranlarında</a:t>
            </a:r>
            <a:r>
              <a:rPr lang="en-US" dirty="0"/>
              <a:t> </a:t>
            </a:r>
            <a:r>
              <a:rPr lang="en-US" dirty="0" err="1"/>
              <a:t>düşüş</a:t>
            </a:r>
            <a:r>
              <a:rPr lang="en-US" dirty="0"/>
              <a:t> </a:t>
            </a:r>
            <a:r>
              <a:rPr lang="en-US" dirty="0" err="1"/>
              <a:t>başlamaktadır</a:t>
            </a:r>
            <a:r>
              <a:rPr lang="en-US" dirty="0"/>
              <a:t>.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 err="1"/>
              <a:t>Cumartesi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özellikle</a:t>
            </a:r>
            <a:r>
              <a:rPr lang="en-US" b="1" dirty="0"/>
              <a:t> Pazar </a:t>
            </a:r>
            <a:r>
              <a:rPr lang="en-US" b="1" dirty="0" err="1"/>
              <a:t>günleri</a:t>
            </a:r>
            <a:r>
              <a:rPr lang="en-US" dirty="0"/>
              <a:t>, </a:t>
            </a:r>
            <a:r>
              <a:rPr lang="en-US" dirty="0" err="1"/>
              <a:t>kullanım</a:t>
            </a:r>
            <a:r>
              <a:rPr lang="en-US" dirty="0"/>
              <a:t> </a:t>
            </a:r>
            <a:r>
              <a:rPr lang="en-US" dirty="0" err="1"/>
              <a:t>yoğunluğu</a:t>
            </a:r>
            <a:r>
              <a:rPr lang="en-US" dirty="0"/>
              <a:t> </a:t>
            </a:r>
            <a:r>
              <a:rPr lang="en-US" dirty="0" err="1"/>
              <a:t>belirgin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azalmaktadır</a:t>
            </a:r>
            <a:r>
              <a:rPr lang="en-US" dirty="0"/>
              <a:t>.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Sonuçlar</a:t>
            </a:r>
            <a:r>
              <a:rPr lang="en-US" dirty="0"/>
              <a:t>, </a:t>
            </a:r>
            <a:r>
              <a:rPr lang="en-US" dirty="0" err="1"/>
              <a:t>otopark</a:t>
            </a:r>
            <a:r>
              <a:rPr lang="en-US" dirty="0"/>
              <a:t> </a:t>
            </a:r>
            <a:r>
              <a:rPr lang="en-US" dirty="0" err="1"/>
              <a:t>kullanımının</a:t>
            </a:r>
            <a:r>
              <a:rPr lang="en-US" dirty="0"/>
              <a:t> </a:t>
            </a:r>
            <a:r>
              <a:rPr lang="en-US" dirty="0" err="1"/>
              <a:t>iş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eğitim</a:t>
            </a:r>
            <a:r>
              <a:rPr lang="en-US" dirty="0"/>
              <a:t> </a:t>
            </a:r>
            <a:r>
              <a:rPr lang="en-US" dirty="0" err="1"/>
              <a:t>kaynaklı</a:t>
            </a:r>
            <a:r>
              <a:rPr lang="en-US" dirty="0"/>
              <a:t> </a:t>
            </a:r>
            <a:r>
              <a:rPr lang="en-US" dirty="0" err="1"/>
              <a:t>hafta</a:t>
            </a:r>
            <a:r>
              <a:rPr lang="en-US" dirty="0"/>
              <a:t> </a:t>
            </a:r>
            <a:r>
              <a:rPr lang="en-US" dirty="0" err="1"/>
              <a:t>içi</a:t>
            </a:r>
            <a:r>
              <a:rPr lang="en-US" dirty="0"/>
              <a:t> </a:t>
            </a:r>
            <a:r>
              <a:rPr lang="en-US" dirty="0" err="1"/>
              <a:t>hareketlilikten</a:t>
            </a:r>
            <a:r>
              <a:rPr lang="en-US" dirty="0"/>
              <a:t> </a:t>
            </a:r>
            <a:r>
              <a:rPr lang="en-US" dirty="0" err="1"/>
              <a:t>etkilendiğini</a:t>
            </a:r>
            <a:r>
              <a:rPr lang="en-US" dirty="0"/>
              <a:t> </a:t>
            </a:r>
            <a:r>
              <a:rPr lang="en-US" dirty="0" err="1"/>
              <a:t>göstermektedir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86921D-C554-3C7E-2C51-6D1091C7D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705" y="972197"/>
            <a:ext cx="5512590" cy="36293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8A6714-A797-C295-27A1-8D6991B6CAC5}"/>
              </a:ext>
            </a:extLst>
          </p:cNvPr>
          <p:cNvSpPr txBox="1"/>
          <p:nvPr/>
        </p:nvSpPr>
        <p:spPr>
          <a:xfrm>
            <a:off x="2098249" y="22540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Hafta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İçi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ve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Hafta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Sonu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Doluluk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Karşılaştırması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6F8BDF-5531-158F-EA6A-B42D92FC3CD8}"/>
              </a:ext>
            </a:extLst>
          </p:cNvPr>
          <p:cNvSpPr txBox="1"/>
          <p:nvPr/>
        </p:nvSpPr>
        <p:spPr>
          <a:xfrm>
            <a:off x="276069" y="4601528"/>
            <a:ext cx="9989721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Otoparkların</a:t>
            </a:r>
            <a:r>
              <a:rPr lang="en-US" dirty="0"/>
              <a:t> </a:t>
            </a:r>
            <a:r>
              <a:rPr lang="en-US" dirty="0" err="1"/>
              <a:t>ortalama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oranları</a:t>
            </a:r>
            <a:r>
              <a:rPr lang="en-US" dirty="0"/>
              <a:t> </a:t>
            </a:r>
            <a:r>
              <a:rPr lang="en-US" dirty="0" err="1"/>
              <a:t>hafta</a:t>
            </a:r>
            <a:r>
              <a:rPr lang="en-US" dirty="0"/>
              <a:t> </a:t>
            </a:r>
            <a:r>
              <a:rPr lang="en-US" dirty="0" err="1"/>
              <a:t>içi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hafta</a:t>
            </a:r>
            <a:r>
              <a:rPr lang="en-US" dirty="0"/>
              <a:t> </a:t>
            </a:r>
            <a:r>
              <a:rPr lang="en-US" dirty="0" err="1"/>
              <a:t>sonu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ayrı</a:t>
            </a:r>
            <a:r>
              <a:rPr lang="en-US" dirty="0"/>
              <a:t> </a:t>
            </a:r>
            <a:r>
              <a:rPr lang="en-US" dirty="0" err="1"/>
              <a:t>ayrı</a:t>
            </a:r>
            <a:r>
              <a:rPr lang="en-US" dirty="0"/>
              <a:t> </a:t>
            </a:r>
            <a:r>
              <a:rPr lang="en-US" dirty="0" err="1"/>
              <a:t>analiz</a:t>
            </a:r>
            <a:r>
              <a:rPr lang="en-US" dirty="0"/>
              <a:t> </a:t>
            </a:r>
            <a:r>
              <a:rPr lang="en-US" dirty="0" err="1"/>
              <a:t>edilmiştir</a:t>
            </a:r>
            <a:r>
              <a:rPr lang="en-US" dirty="0"/>
              <a:t>.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Hafta</a:t>
            </a:r>
            <a:r>
              <a:rPr lang="en-US" dirty="0"/>
              <a:t> </a:t>
            </a:r>
            <a:r>
              <a:rPr lang="en-US" dirty="0" err="1"/>
              <a:t>içi</a:t>
            </a:r>
            <a:r>
              <a:rPr lang="en-US" dirty="0"/>
              <a:t> </a:t>
            </a:r>
            <a:r>
              <a:rPr lang="en-US" dirty="0" err="1"/>
              <a:t>günlerde</a:t>
            </a:r>
            <a:r>
              <a:rPr lang="en-US" dirty="0"/>
              <a:t> </a:t>
            </a:r>
            <a:r>
              <a:rPr lang="en-US" dirty="0" err="1"/>
              <a:t>ortalama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oranı</a:t>
            </a:r>
            <a:r>
              <a:rPr lang="en-US" dirty="0"/>
              <a:t> </a:t>
            </a:r>
            <a:r>
              <a:rPr lang="en-US" dirty="0" err="1"/>
              <a:t>hafta</a:t>
            </a:r>
            <a:r>
              <a:rPr lang="en-US" dirty="0"/>
              <a:t> </a:t>
            </a:r>
            <a:r>
              <a:rPr lang="en-US" dirty="0" err="1"/>
              <a:t>sonuna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yüksektir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Hafta</a:t>
            </a:r>
            <a:r>
              <a:rPr lang="en-US" dirty="0"/>
              <a:t> </a:t>
            </a:r>
            <a:r>
              <a:rPr lang="en-US" dirty="0" err="1"/>
              <a:t>sonlarında</a:t>
            </a:r>
            <a:r>
              <a:rPr lang="en-US" dirty="0"/>
              <a:t> </a:t>
            </a:r>
            <a:r>
              <a:rPr lang="en-US" dirty="0" err="1"/>
              <a:t>araç</a:t>
            </a:r>
            <a:r>
              <a:rPr lang="en-US" dirty="0"/>
              <a:t> </a:t>
            </a:r>
            <a:r>
              <a:rPr lang="en-US" dirty="0" err="1"/>
              <a:t>yoğunluğu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otopark</a:t>
            </a:r>
            <a:r>
              <a:rPr lang="en-US" dirty="0"/>
              <a:t> </a:t>
            </a:r>
            <a:r>
              <a:rPr lang="en-US" dirty="0" err="1"/>
              <a:t>kullanımı</a:t>
            </a:r>
            <a:r>
              <a:rPr lang="en-US" dirty="0"/>
              <a:t> </a:t>
            </a:r>
            <a:r>
              <a:rPr lang="en-US" dirty="0" err="1"/>
              <a:t>belirgin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azalmaktadır</a:t>
            </a:r>
            <a:r>
              <a:rPr lang="en-US" dirty="0"/>
              <a:t>.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Kullanım</a:t>
            </a:r>
            <a:r>
              <a:rPr lang="en-US" dirty="0"/>
              <a:t> </a:t>
            </a:r>
            <a:r>
              <a:rPr lang="en-US" dirty="0" err="1"/>
              <a:t>alışkanlıklarının</a:t>
            </a:r>
            <a:r>
              <a:rPr lang="en-US" dirty="0"/>
              <a:t> </a:t>
            </a:r>
            <a:r>
              <a:rPr lang="en-US" dirty="0" err="1"/>
              <a:t>iş</a:t>
            </a:r>
            <a:r>
              <a:rPr lang="en-US" dirty="0"/>
              <a:t>, </a:t>
            </a:r>
            <a:r>
              <a:rPr lang="en-US" dirty="0" err="1"/>
              <a:t>eğitim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günlük</a:t>
            </a:r>
            <a:r>
              <a:rPr lang="en-US" dirty="0"/>
              <a:t> </a:t>
            </a:r>
            <a:r>
              <a:rPr lang="en-US" dirty="0" err="1"/>
              <a:t>şehir</a:t>
            </a:r>
            <a:r>
              <a:rPr lang="en-US" dirty="0"/>
              <a:t> </a:t>
            </a:r>
            <a:r>
              <a:rPr lang="en-US" dirty="0" err="1"/>
              <a:t>içi</a:t>
            </a:r>
            <a:r>
              <a:rPr lang="en-US" dirty="0"/>
              <a:t> </a:t>
            </a:r>
            <a:r>
              <a:rPr lang="en-US" dirty="0" err="1"/>
              <a:t>hareketlilikten</a:t>
            </a:r>
            <a:r>
              <a:rPr lang="en-US" dirty="0"/>
              <a:t> </a:t>
            </a:r>
            <a:r>
              <a:rPr lang="en-US" dirty="0" err="1"/>
              <a:t>etkilendiği</a:t>
            </a:r>
            <a:r>
              <a:rPr lang="en-US" dirty="0"/>
              <a:t> </a:t>
            </a:r>
            <a:r>
              <a:rPr lang="en-US" dirty="0" err="1"/>
              <a:t>görülmektedir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Sonuçlar</a:t>
            </a:r>
            <a:r>
              <a:rPr lang="en-US" dirty="0"/>
              <a:t>, </a:t>
            </a:r>
            <a:r>
              <a:rPr lang="en-US" dirty="0" err="1"/>
              <a:t>haftanın</a:t>
            </a:r>
            <a:r>
              <a:rPr lang="en-US" dirty="0"/>
              <a:t> </a:t>
            </a:r>
            <a:r>
              <a:rPr lang="en-US" dirty="0" err="1"/>
              <a:t>günü</a:t>
            </a:r>
            <a:r>
              <a:rPr lang="en-US" dirty="0"/>
              <a:t> </a:t>
            </a:r>
            <a:r>
              <a:rPr lang="en-US" dirty="0" err="1"/>
              <a:t>bilgisinin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tahmini</a:t>
            </a:r>
            <a:r>
              <a:rPr lang="en-US" dirty="0"/>
              <a:t> </a:t>
            </a:r>
            <a:r>
              <a:rPr lang="en-US" dirty="0" err="1"/>
              <a:t>açısından</a:t>
            </a:r>
            <a:r>
              <a:rPr lang="en-US" dirty="0"/>
              <a:t> </a:t>
            </a:r>
            <a:r>
              <a:rPr lang="en-US" dirty="0" err="1"/>
              <a:t>önemli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değişken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göstermektedir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4E906-5E56-4619-1C45-B2A2EA3E85CE}"/>
              </a:ext>
            </a:extLst>
          </p:cNvPr>
          <p:cNvSpPr txBox="1">
            <a:spLocks/>
          </p:cNvSpPr>
          <p:nvPr/>
        </p:nvSpPr>
        <p:spPr>
          <a:xfrm>
            <a:off x="9140971" y="63301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8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10130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3721D6-4D24-BFDA-F3D8-EA7D05B926A9}"/>
              </a:ext>
            </a:extLst>
          </p:cNvPr>
          <p:cNvSpPr txBox="1"/>
          <p:nvPr/>
        </p:nvSpPr>
        <p:spPr>
          <a:xfrm>
            <a:off x="1447800" y="196393"/>
            <a:ext cx="102298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Lot </a:t>
            </a:r>
            <a:r>
              <a:rPr lang="en-US" sz="3200" b="1" i="0" dirty="0" err="1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Analizi</a:t>
            </a:r>
            <a:r>
              <a:rPr lang="tr-TR" sz="3200" b="1" i="0" dirty="0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: 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En Yüksek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Doluluk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Oranına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Sahip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Otoparklar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C0563D-D491-DF1E-6D96-C6613E042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21" y="847500"/>
            <a:ext cx="8058641" cy="31604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89C3DA-CCA5-CFCC-DA04-DD490DDB7AA9}"/>
              </a:ext>
            </a:extLst>
          </p:cNvPr>
          <p:cNvSpPr txBox="1"/>
          <p:nvPr/>
        </p:nvSpPr>
        <p:spPr>
          <a:xfrm>
            <a:off x="591175" y="4152545"/>
            <a:ext cx="1202055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Veri </a:t>
            </a:r>
            <a:r>
              <a:rPr lang="en-US" dirty="0" err="1"/>
              <a:t>setindeki</a:t>
            </a:r>
            <a:r>
              <a:rPr lang="en-US" dirty="0"/>
              <a:t> </a:t>
            </a:r>
            <a:r>
              <a:rPr lang="en-US" dirty="0" err="1"/>
              <a:t>otoparklar</a:t>
            </a:r>
            <a:r>
              <a:rPr lang="en-US" dirty="0"/>
              <a:t> </a:t>
            </a:r>
            <a:r>
              <a:rPr lang="en-US" dirty="0" err="1"/>
              <a:t>ortalama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oranlarına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sıralanmıştır</a:t>
            </a:r>
            <a:r>
              <a:rPr lang="en-US" dirty="0"/>
              <a:t>.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En </a:t>
            </a:r>
            <a:r>
              <a:rPr lang="en-US" dirty="0" err="1"/>
              <a:t>yoğun</a:t>
            </a:r>
            <a:r>
              <a:rPr lang="en-US" dirty="0"/>
              <a:t> </a:t>
            </a:r>
            <a:r>
              <a:rPr lang="en-US" dirty="0" err="1"/>
              <a:t>kullanılan</a:t>
            </a:r>
            <a:r>
              <a:rPr lang="en-US" dirty="0"/>
              <a:t> </a:t>
            </a:r>
            <a:r>
              <a:rPr lang="en-US" dirty="0" err="1"/>
              <a:t>otoparklarda</a:t>
            </a:r>
            <a:r>
              <a:rPr lang="en-US" dirty="0"/>
              <a:t> </a:t>
            </a:r>
            <a:r>
              <a:rPr lang="en-US" dirty="0" err="1"/>
              <a:t>ortalama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oranı</a:t>
            </a:r>
            <a:r>
              <a:rPr lang="en-US" dirty="0"/>
              <a:t> </a:t>
            </a:r>
            <a:r>
              <a:rPr lang="en-US" b="1" dirty="0"/>
              <a:t>%60–80</a:t>
            </a:r>
            <a:r>
              <a:rPr lang="en-US" dirty="0"/>
              <a:t> </a:t>
            </a:r>
            <a:r>
              <a:rPr lang="en-US" dirty="0" err="1"/>
              <a:t>aralığında</a:t>
            </a:r>
            <a:r>
              <a:rPr lang="en-US" dirty="0"/>
              <a:t> </a:t>
            </a:r>
            <a:r>
              <a:rPr lang="en-US" dirty="0" err="1"/>
              <a:t>değişmektedir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HMBRTARC01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ortalama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oranına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otopark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öne</a:t>
            </a:r>
            <a:r>
              <a:rPr lang="en-US" dirty="0"/>
              <a:t> </a:t>
            </a:r>
            <a:r>
              <a:rPr lang="en-US" dirty="0" err="1"/>
              <a:t>çıkmaktadır</a:t>
            </a:r>
            <a:r>
              <a:rPr lang="en-US" dirty="0"/>
              <a:t>.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İlk 10 </a:t>
            </a:r>
            <a:r>
              <a:rPr lang="en-US" dirty="0" err="1"/>
              <a:t>otoparkın</a:t>
            </a:r>
            <a:r>
              <a:rPr lang="en-US" dirty="0"/>
              <a:t> </a:t>
            </a:r>
            <a:r>
              <a:rPr lang="en-US" dirty="0" err="1"/>
              <a:t>tamamında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oranlarının</a:t>
            </a:r>
            <a:r>
              <a:rPr lang="en-US" dirty="0"/>
              <a:t> </a:t>
            </a:r>
            <a:r>
              <a:rPr lang="en-US" dirty="0" err="1"/>
              <a:t>oldukça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seviyelerde</a:t>
            </a:r>
            <a:r>
              <a:rPr lang="en-US" dirty="0"/>
              <a:t>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görülmektedir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Sonuçlar</a:t>
            </a:r>
            <a:r>
              <a:rPr lang="en-US" dirty="0"/>
              <a:t>, </a:t>
            </a:r>
            <a:r>
              <a:rPr lang="en-US" dirty="0" err="1"/>
              <a:t>bazı</a:t>
            </a:r>
            <a:r>
              <a:rPr lang="en-US" dirty="0"/>
              <a:t> </a:t>
            </a:r>
            <a:r>
              <a:rPr lang="en-US" dirty="0" err="1"/>
              <a:t>otoparkların</a:t>
            </a:r>
            <a:r>
              <a:rPr lang="en-US" dirty="0"/>
              <a:t> </a:t>
            </a:r>
            <a:r>
              <a:rPr lang="en-US" dirty="0" err="1"/>
              <a:t>sürekli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talep</a:t>
            </a:r>
            <a:r>
              <a:rPr lang="en-US" dirty="0"/>
              <a:t> </a:t>
            </a:r>
            <a:r>
              <a:rPr lang="en-US" dirty="0" err="1"/>
              <a:t>altında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göstermektedir</a:t>
            </a:r>
            <a:r>
              <a:rPr lang="en-US" dirty="0"/>
              <a:t>. Bu </a:t>
            </a:r>
            <a:r>
              <a:rPr lang="en-US" dirty="0" err="1"/>
              <a:t>yoğun</a:t>
            </a:r>
            <a:r>
              <a:rPr lang="en-US" dirty="0"/>
              <a:t> </a:t>
            </a:r>
            <a:r>
              <a:rPr lang="en-US" dirty="0" err="1"/>
              <a:t>bölgeler</a:t>
            </a:r>
            <a:r>
              <a:rPr lang="en-US" dirty="0"/>
              <a:t>, </a:t>
            </a:r>
            <a:r>
              <a:rPr lang="en-US" dirty="0" err="1"/>
              <a:t>yönlendirme</a:t>
            </a:r>
            <a:r>
              <a:rPr lang="en-US" dirty="0"/>
              <a:t> </a:t>
            </a:r>
            <a:r>
              <a:rPr lang="en-US" dirty="0" err="1"/>
              <a:t>algoritmaları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kritik</a:t>
            </a:r>
            <a:r>
              <a:rPr lang="en-US" dirty="0"/>
              <a:t>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noktaları</a:t>
            </a:r>
            <a:r>
              <a:rPr lang="en-US" dirty="0"/>
              <a:t> </a:t>
            </a:r>
            <a:r>
              <a:rPr lang="en-US" dirty="0" err="1"/>
              <a:t>oluşturmaktadır</a:t>
            </a:r>
            <a:r>
              <a:rPr lang="en-US" dirty="0"/>
              <a:t>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A19D4D2-6D89-75D0-1FF4-A6F290EDDF6E}"/>
              </a:ext>
            </a:extLst>
          </p:cNvPr>
          <p:cNvSpPr txBox="1">
            <a:spLocks/>
          </p:cNvSpPr>
          <p:nvPr/>
        </p:nvSpPr>
        <p:spPr>
          <a:xfrm>
            <a:off x="9140971" y="63301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9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08412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FEF053-4478-179D-CEEF-ACC6C3249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485" y="1162959"/>
            <a:ext cx="7443029" cy="29140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039758-8206-EAF1-1BAD-807EB6F6EC9E}"/>
              </a:ext>
            </a:extLst>
          </p:cNvPr>
          <p:cNvSpPr txBox="1"/>
          <p:nvPr/>
        </p:nvSpPr>
        <p:spPr>
          <a:xfrm>
            <a:off x="2204803" y="338915"/>
            <a:ext cx="8763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En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Düşük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Doluluk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Oranına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Sahip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Otoparklar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3F66FB-4E93-6AF2-29A3-3B8BC99C9543}"/>
              </a:ext>
            </a:extLst>
          </p:cNvPr>
          <p:cNvSpPr txBox="1"/>
          <p:nvPr/>
        </p:nvSpPr>
        <p:spPr>
          <a:xfrm>
            <a:off x="764760" y="4076975"/>
            <a:ext cx="1198245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Veri </a:t>
            </a:r>
            <a:r>
              <a:rPr lang="en-US" dirty="0" err="1"/>
              <a:t>setindeki</a:t>
            </a:r>
            <a:r>
              <a:rPr lang="en-US" dirty="0"/>
              <a:t> </a:t>
            </a:r>
            <a:r>
              <a:rPr lang="en-US" dirty="0" err="1"/>
              <a:t>otoparklar</a:t>
            </a:r>
            <a:r>
              <a:rPr lang="en-US" dirty="0"/>
              <a:t> </a:t>
            </a:r>
            <a:r>
              <a:rPr lang="en-US" dirty="0" err="1"/>
              <a:t>ortalama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oranlarına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sıralanmıştır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 </a:t>
            </a:r>
            <a:r>
              <a:rPr lang="en-US" dirty="0" err="1"/>
              <a:t>grafikte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düşük</a:t>
            </a:r>
            <a:r>
              <a:rPr lang="en-US" dirty="0"/>
              <a:t> </a:t>
            </a:r>
            <a:r>
              <a:rPr lang="en-US" dirty="0" err="1"/>
              <a:t>ortalama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oranına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10 </a:t>
            </a:r>
            <a:r>
              <a:rPr lang="en-US" dirty="0" err="1"/>
              <a:t>otopark</a:t>
            </a:r>
            <a:r>
              <a:rPr lang="en-US" dirty="0"/>
              <a:t> </a:t>
            </a:r>
            <a:r>
              <a:rPr lang="en-US" dirty="0" err="1"/>
              <a:t>gösterilmektedir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NIA North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düşük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oranına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otopark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öne</a:t>
            </a:r>
            <a:r>
              <a:rPr lang="en-US" dirty="0"/>
              <a:t> </a:t>
            </a:r>
            <a:r>
              <a:rPr lang="en-US" dirty="0" err="1"/>
              <a:t>çıkmaktadır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 </a:t>
            </a:r>
            <a:r>
              <a:rPr lang="en-US" dirty="0" err="1"/>
              <a:t>otoparkların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oranları</a:t>
            </a:r>
            <a:r>
              <a:rPr lang="en-US" dirty="0"/>
              <a:t> </a:t>
            </a:r>
            <a:r>
              <a:rPr lang="en-US" dirty="0" err="1"/>
              <a:t>genel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b="1" dirty="0"/>
              <a:t>%10–45</a:t>
            </a:r>
            <a:r>
              <a:rPr lang="en-US" dirty="0"/>
              <a:t> </a:t>
            </a:r>
            <a:r>
              <a:rPr lang="en-US" dirty="0" err="1"/>
              <a:t>aralığında</a:t>
            </a:r>
            <a:r>
              <a:rPr lang="en-US" dirty="0"/>
              <a:t> </a:t>
            </a:r>
            <a:r>
              <a:rPr lang="en-US" dirty="0" err="1"/>
              <a:t>kalmaktadır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Bazı</a:t>
            </a:r>
            <a:r>
              <a:rPr lang="en-US" dirty="0"/>
              <a:t> </a:t>
            </a:r>
            <a:r>
              <a:rPr lang="en-US" dirty="0" err="1"/>
              <a:t>otoparkların</a:t>
            </a:r>
            <a:r>
              <a:rPr lang="en-US" dirty="0"/>
              <a:t> </a:t>
            </a:r>
            <a:r>
              <a:rPr lang="en-US" dirty="0" err="1"/>
              <a:t>gün</a:t>
            </a:r>
            <a:r>
              <a:rPr lang="en-US" dirty="0"/>
              <a:t> </a:t>
            </a:r>
            <a:r>
              <a:rPr lang="en-US" dirty="0" err="1"/>
              <a:t>boyunca</a:t>
            </a:r>
            <a:r>
              <a:rPr lang="en-US" dirty="0"/>
              <a:t> </a:t>
            </a:r>
            <a:r>
              <a:rPr lang="en-US" dirty="0" err="1"/>
              <a:t>diğerlerine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düşük</a:t>
            </a:r>
            <a:r>
              <a:rPr lang="en-US" dirty="0"/>
              <a:t> </a:t>
            </a:r>
            <a:r>
              <a:rPr lang="en-US" dirty="0" err="1"/>
              <a:t>talep</a:t>
            </a:r>
            <a:r>
              <a:rPr lang="en-US" dirty="0"/>
              <a:t> </a:t>
            </a:r>
            <a:r>
              <a:rPr lang="en-US" dirty="0" err="1"/>
              <a:t>aldığı</a:t>
            </a:r>
            <a:r>
              <a:rPr lang="en-US" dirty="0"/>
              <a:t> </a:t>
            </a:r>
            <a:r>
              <a:rPr lang="en-US" dirty="0" err="1"/>
              <a:t>görülmektedir</a:t>
            </a:r>
            <a:r>
              <a:rPr lang="en-US" dirty="0"/>
              <a:t>.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Bu </a:t>
            </a:r>
            <a:r>
              <a:rPr lang="en-US" dirty="0" err="1"/>
              <a:t>bölgeler</a:t>
            </a:r>
            <a:r>
              <a:rPr lang="en-US" dirty="0"/>
              <a:t>, </a:t>
            </a:r>
            <a:r>
              <a:rPr lang="en-US" dirty="0" err="1"/>
              <a:t>yoğun</a:t>
            </a:r>
            <a:r>
              <a:rPr lang="en-US" dirty="0"/>
              <a:t> </a:t>
            </a:r>
            <a:r>
              <a:rPr lang="en-US" dirty="0" err="1"/>
              <a:t>otoparklara</a:t>
            </a:r>
            <a:r>
              <a:rPr lang="en-US" dirty="0"/>
              <a:t> </a:t>
            </a:r>
            <a:r>
              <a:rPr lang="en-US" dirty="0" err="1"/>
              <a:t>alternatif</a:t>
            </a:r>
            <a:r>
              <a:rPr lang="en-US" dirty="0"/>
              <a:t> </a:t>
            </a:r>
            <a:r>
              <a:rPr lang="en-US" dirty="0" err="1"/>
              <a:t>yönlendirme</a:t>
            </a:r>
            <a:r>
              <a:rPr lang="en-US" dirty="0"/>
              <a:t> </a:t>
            </a:r>
            <a:r>
              <a:rPr lang="en-US" dirty="0" err="1"/>
              <a:t>noktaları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değerlendirilebilir</a:t>
            </a:r>
            <a:r>
              <a:rPr lang="en-US" dirty="0"/>
              <a:t>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B6C3735-C5AD-33B9-49A9-6B1CAB70F242}"/>
              </a:ext>
            </a:extLst>
          </p:cNvPr>
          <p:cNvSpPr txBox="1">
            <a:spLocks/>
          </p:cNvSpPr>
          <p:nvPr/>
        </p:nvSpPr>
        <p:spPr>
          <a:xfrm>
            <a:off x="9140971" y="63301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10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66849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489" y="-236291"/>
            <a:ext cx="9989180" cy="1327464"/>
          </a:xfrm>
        </p:spPr>
        <p:txBody>
          <a:bodyPr/>
          <a:lstStyle/>
          <a:p>
            <a:r>
              <a:rPr lang="fr-FR" b="1" dirty="0">
                <a:solidFill>
                  <a:schemeClr val="accent4">
                    <a:lumMod val="50000"/>
                  </a:schemeClr>
                </a:solidFill>
              </a:rPr>
              <a:t>Train / Validation / Test Veri </a:t>
            </a:r>
            <a:r>
              <a:rPr lang="fr-FR" b="1" dirty="0" err="1">
                <a:solidFill>
                  <a:schemeClr val="accent4">
                    <a:lumMod val="50000"/>
                  </a:schemeClr>
                </a:solidFill>
              </a:rPr>
              <a:t>Bölme</a:t>
            </a:r>
            <a:r>
              <a:rPr lang="fr-FR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accent4">
                    <a:lumMod val="50000"/>
                  </a:schemeClr>
                </a:solidFill>
              </a:rPr>
              <a:t>Stratejisi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E024F78-56A6-7740-B68D-8D4D026EDF3F}" type="slidenum">
              <a:rPr lang="en-US" smtClean="0">
                <a:solidFill>
                  <a:schemeClr val="tx1"/>
                </a:solidFill>
              </a:rPr>
              <a:pPr algn="r"/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E64674-571A-7BDF-CFDC-06B03ACE09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489" y="1381477"/>
            <a:ext cx="9287581" cy="302469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C5E9700-CD9C-96CE-C497-87BB2A8F45A7}"/>
              </a:ext>
            </a:extLst>
          </p:cNvPr>
          <p:cNvSpPr txBox="1"/>
          <p:nvPr/>
        </p:nvSpPr>
        <p:spPr>
          <a:xfrm>
            <a:off x="741680" y="4697394"/>
            <a:ext cx="992505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Veri </a:t>
            </a:r>
            <a:r>
              <a:rPr lang="en-US" dirty="0" err="1"/>
              <a:t>seti</a:t>
            </a:r>
            <a:r>
              <a:rPr lang="en-US" dirty="0"/>
              <a:t> zaman </a:t>
            </a:r>
            <a:r>
              <a:rPr lang="en-US" dirty="0" err="1"/>
              <a:t>sırası</a:t>
            </a:r>
            <a:r>
              <a:rPr lang="en-US" dirty="0"/>
              <a:t> </a:t>
            </a:r>
            <a:r>
              <a:rPr lang="en-US" dirty="0" err="1"/>
              <a:t>korunarak</a:t>
            </a:r>
            <a:r>
              <a:rPr lang="en-US" dirty="0"/>
              <a:t> </a:t>
            </a:r>
            <a:r>
              <a:rPr lang="en-US" b="1" dirty="0"/>
              <a:t>%70 </a:t>
            </a:r>
            <a:r>
              <a:rPr lang="en-US" b="1" dirty="0" err="1"/>
              <a:t>Eğitim</a:t>
            </a:r>
            <a:r>
              <a:rPr lang="en-US" b="1" dirty="0"/>
              <a:t>, %15 </a:t>
            </a:r>
            <a:r>
              <a:rPr lang="en-US" b="1" dirty="0" err="1"/>
              <a:t>Doğrulama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%15 Test</a:t>
            </a:r>
            <a:r>
              <a:rPr lang="en-US" dirty="0"/>
              <a:t> </a:t>
            </a:r>
            <a:r>
              <a:rPr lang="en-US" dirty="0" err="1"/>
              <a:t>kümelerine</a:t>
            </a:r>
            <a:r>
              <a:rPr lang="en-US" dirty="0"/>
              <a:t> </a:t>
            </a:r>
            <a:r>
              <a:rPr lang="en-US" dirty="0" err="1"/>
              <a:t>ayrılmıştır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Bölme</a:t>
            </a:r>
            <a:r>
              <a:rPr lang="en-US" dirty="0"/>
              <a:t> </a:t>
            </a:r>
            <a:r>
              <a:rPr lang="en-US" dirty="0" err="1"/>
              <a:t>işlemi</a:t>
            </a:r>
            <a:r>
              <a:rPr lang="en-US" dirty="0"/>
              <a:t> </a:t>
            </a:r>
            <a:r>
              <a:rPr lang="en-US" dirty="0" err="1"/>
              <a:t>kronolojik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gerçekleştirilmiş</a:t>
            </a:r>
            <a:r>
              <a:rPr lang="en-US" dirty="0"/>
              <a:t>, </a:t>
            </a:r>
            <a:r>
              <a:rPr lang="en-US" dirty="0" err="1"/>
              <a:t>böylece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sızıntısı</a:t>
            </a:r>
            <a:r>
              <a:rPr lang="en-US" dirty="0"/>
              <a:t> </a:t>
            </a:r>
            <a:r>
              <a:rPr lang="en-US" dirty="0" err="1"/>
              <a:t>önlenmiştir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Model 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geçmiş</a:t>
            </a:r>
            <a:r>
              <a:rPr lang="en-US" dirty="0"/>
              <a:t> </a:t>
            </a:r>
            <a:r>
              <a:rPr lang="en-US" dirty="0" err="1"/>
              <a:t>verilerle</a:t>
            </a:r>
            <a:r>
              <a:rPr lang="en-US" dirty="0"/>
              <a:t> </a:t>
            </a:r>
            <a:r>
              <a:rPr lang="en-US" dirty="0" err="1"/>
              <a:t>eğitilmiş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gelecekteki</a:t>
            </a:r>
            <a:r>
              <a:rPr lang="en-US" dirty="0"/>
              <a:t> </a:t>
            </a:r>
            <a:r>
              <a:rPr lang="en-US" dirty="0" err="1"/>
              <a:t>veriler</a:t>
            </a:r>
            <a:r>
              <a:rPr lang="en-US" dirty="0"/>
              <a:t> </a:t>
            </a:r>
            <a:r>
              <a:rPr lang="en-US" dirty="0" err="1"/>
              <a:t>üzerinde</a:t>
            </a:r>
            <a:r>
              <a:rPr lang="en-US" dirty="0"/>
              <a:t> test </a:t>
            </a:r>
            <a:r>
              <a:rPr lang="en-US" dirty="0" err="1"/>
              <a:t>edilmiştir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 </a:t>
            </a:r>
            <a:r>
              <a:rPr lang="en-US" dirty="0" err="1"/>
              <a:t>yaklaşım</a:t>
            </a:r>
            <a:r>
              <a:rPr lang="en-US" dirty="0"/>
              <a:t>,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hayattaki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senaryolarını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doğru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yansıtmaktadır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B7923F9-CB46-3E44-2CBB-D9193ACE7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" y="-455816"/>
            <a:ext cx="12612370" cy="1327464"/>
          </a:xfrm>
        </p:spPr>
        <p:txBody>
          <a:bodyPr/>
          <a:lstStyle/>
          <a:p>
            <a:r>
              <a:rPr lang="tr-TR" sz="2800" b="1" dirty="0">
                <a:solidFill>
                  <a:schemeClr val="accent4">
                    <a:lumMod val="50000"/>
                  </a:schemeClr>
                </a:solidFill>
              </a:rPr>
              <a:t>   ÖN İŞLEME:</a:t>
            </a:r>
            <a:r>
              <a:rPr lang="en-US" sz="2800" b="1" dirty="0" err="1">
                <a:solidFill>
                  <a:schemeClr val="accent4">
                    <a:lumMod val="50000"/>
                  </a:schemeClr>
                </a:solidFill>
              </a:rPr>
              <a:t>Otopark</a:t>
            </a: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4">
                    <a:lumMod val="50000"/>
                  </a:schemeClr>
                </a:solidFill>
              </a:rPr>
              <a:t>Lotları</a:t>
            </a: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4">
                    <a:lumMod val="50000"/>
                  </a:schemeClr>
                </a:solidFill>
              </a:rPr>
              <a:t>ve</a:t>
            </a: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4">
                    <a:lumMod val="50000"/>
                  </a:schemeClr>
                </a:solidFill>
              </a:rPr>
              <a:t>Saatlere</a:t>
            </a: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4">
                    <a:lumMod val="50000"/>
                  </a:schemeClr>
                </a:solidFill>
              </a:rPr>
              <a:t>Göre</a:t>
            </a: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4">
                    <a:lumMod val="50000"/>
                  </a:schemeClr>
                </a:solidFill>
              </a:rPr>
              <a:t>Doluluk</a:t>
            </a: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4">
                    <a:lumMod val="50000"/>
                  </a:schemeClr>
                </a:solidFill>
              </a:rPr>
              <a:t>Isı</a:t>
            </a: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4">
                    <a:lumMod val="50000"/>
                  </a:schemeClr>
                </a:solidFill>
              </a:rPr>
              <a:t>Haritası</a:t>
            </a:r>
            <a:endParaRPr lang="en-US" sz="28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E024F78-56A6-7740-B68D-8D4D026EDF3F}" type="slidenum">
              <a:rPr lang="en-US" smtClean="0">
                <a:solidFill>
                  <a:schemeClr val="tx1"/>
                </a:solidFill>
              </a:rPr>
              <a:pPr algn="r"/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C5072E-A499-5062-8F73-04CAE5A2A0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710" y="910409"/>
            <a:ext cx="6978580" cy="35345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FDCDAD7-58AE-D872-8679-632832285299}"/>
              </a:ext>
            </a:extLst>
          </p:cNvPr>
          <p:cNvSpPr txBox="1"/>
          <p:nvPr/>
        </p:nvSpPr>
        <p:spPr>
          <a:xfrm>
            <a:off x="383243" y="4444963"/>
            <a:ext cx="1215390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Isı</a:t>
            </a:r>
            <a:r>
              <a:rPr lang="en-US" dirty="0"/>
              <a:t> </a:t>
            </a:r>
            <a:r>
              <a:rPr lang="en-US" dirty="0" err="1"/>
              <a:t>haritası</a:t>
            </a:r>
            <a:r>
              <a:rPr lang="en-US" dirty="0"/>
              <a:t>,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otoparkların</a:t>
            </a:r>
            <a:r>
              <a:rPr lang="en-US" dirty="0"/>
              <a:t> </a:t>
            </a:r>
            <a:r>
              <a:rPr lang="en-US" dirty="0" err="1"/>
              <a:t>gün</a:t>
            </a:r>
            <a:r>
              <a:rPr lang="en-US" dirty="0"/>
              <a:t> </a:t>
            </a:r>
            <a:r>
              <a:rPr lang="en-US" dirty="0" err="1"/>
              <a:t>içerisindeki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değişimini</a:t>
            </a:r>
            <a:r>
              <a:rPr lang="en-US" dirty="0"/>
              <a:t> </a:t>
            </a:r>
            <a:r>
              <a:rPr lang="en-US" dirty="0" err="1"/>
              <a:t>göstermektedir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Koyu</a:t>
            </a:r>
            <a:r>
              <a:rPr lang="en-US" dirty="0"/>
              <a:t> </a:t>
            </a:r>
            <a:r>
              <a:rPr lang="en-US" dirty="0" err="1"/>
              <a:t>kırmızı</a:t>
            </a:r>
            <a:r>
              <a:rPr lang="en-US" dirty="0"/>
              <a:t> </a:t>
            </a:r>
            <a:r>
              <a:rPr lang="en-US" dirty="0" err="1"/>
              <a:t>bölgeler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oranlarını</a:t>
            </a:r>
            <a:r>
              <a:rPr lang="en-US" dirty="0"/>
              <a:t>, </a:t>
            </a:r>
            <a:r>
              <a:rPr lang="en-US" dirty="0" err="1"/>
              <a:t>açık</a:t>
            </a:r>
            <a:r>
              <a:rPr lang="en-US" dirty="0"/>
              <a:t> </a:t>
            </a:r>
            <a:r>
              <a:rPr lang="en-US" dirty="0" err="1"/>
              <a:t>renkler</a:t>
            </a:r>
            <a:r>
              <a:rPr lang="en-US" dirty="0"/>
              <a:t> </a:t>
            </a:r>
            <a:r>
              <a:rPr lang="en-US" dirty="0" err="1"/>
              <a:t>düşük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oranlarını</a:t>
            </a:r>
            <a:r>
              <a:rPr lang="en-US" dirty="0"/>
              <a:t> </a:t>
            </a:r>
            <a:r>
              <a:rPr lang="en-US" dirty="0" err="1"/>
              <a:t>temsil</a:t>
            </a:r>
            <a:r>
              <a:rPr lang="en-US" dirty="0"/>
              <a:t> </a:t>
            </a:r>
            <a:r>
              <a:rPr lang="en-US" dirty="0" err="1"/>
              <a:t>etmektedir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Birçok</a:t>
            </a:r>
            <a:r>
              <a:rPr lang="en-US" dirty="0"/>
              <a:t> </a:t>
            </a:r>
            <a:r>
              <a:rPr lang="en-US" dirty="0" err="1"/>
              <a:t>otoparkta</a:t>
            </a:r>
            <a:r>
              <a:rPr lang="en-US" dirty="0"/>
              <a:t> </a:t>
            </a:r>
            <a:r>
              <a:rPr lang="en-US" b="1" dirty="0"/>
              <a:t>10:00–15:00 </a:t>
            </a:r>
            <a:r>
              <a:rPr lang="en-US" b="1" dirty="0" err="1"/>
              <a:t>saatleri</a:t>
            </a:r>
            <a:r>
              <a:rPr lang="en-US" b="1" dirty="0"/>
              <a:t> </a:t>
            </a:r>
            <a:r>
              <a:rPr lang="en-US" b="1" dirty="0" err="1"/>
              <a:t>arasında</a:t>
            </a:r>
            <a:r>
              <a:rPr lang="en-US" b="1" dirty="0"/>
              <a:t> </a:t>
            </a:r>
            <a:r>
              <a:rPr lang="en-US" b="1" dirty="0" err="1"/>
              <a:t>yoğunluk</a:t>
            </a:r>
            <a:r>
              <a:rPr lang="en-US" b="1" dirty="0"/>
              <a:t> </a:t>
            </a:r>
            <a:r>
              <a:rPr lang="en-US" b="1" dirty="0" err="1"/>
              <a:t>artışı</a:t>
            </a:r>
            <a:r>
              <a:rPr lang="en-US" dirty="0"/>
              <a:t> </a:t>
            </a:r>
            <a:r>
              <a:rPr lang="en-US" dirty="0" err="1"/>
              <a:t>gözlemlenmektedir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Bazı</a:t>
            </a:r>
            <a:r>
              <a:rPr lang="en-US" dirty="0"/>
              <a:t> </a:t>
            </a:r>
            <a:r>
              <a:rPr lang="en-US" dirty="0" err="1"/>
              <a:t>otoparkların</a:t>
            </a:r>
            <a:r>
              <a:rPr lang="en-US" dirty="0"/>
              <a:t> </a:t>
            </a:r>
            <a:r>
              <a:rPr lang="en-US" dirty="0" err="1"/>
              <a:t>gün</a:t>
            </a:r>
            <a:r>
              <a:rPr lang="en-US" dirty="0"/>
              <a:t> </a:t>
            </a:r>
            <a:r>
              <a:rPr lang="en-US" dirty="0" err="1"/>
              <a:t>boyunca</a:t>
            </a:r>
            <a:r>
              <a:rPr lang="en-US" dirty="0"/>
              <a:t> </a:t>
            </a:r>
            <a:r>
              <a:rPr lang="en-US" dirty="0" err="1"/>
              <a:t>sürekli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dolulukta</a:t>
            </a:r>
            <a:r>
              <a:rPr lang="en-US" dirty="0"/>
              <a:t> </a:t>
            </a:r>
            <a:r>
              <a:rPr lang="en-US" dirty="0" err="1"/>
              <a:t>çalıştığı</a:t>
            </a:r>
            <a:r>
              <a:rPr lang="en-US" dirty="0"/>
              <a:t> </a:t>
            </a:r>
            <a:r>
              <a:rPr lang="en-US" dirty="0" err="1"/>
              <a:t>görülmektedir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Sonuçlar</a:t>
            </a:r>
            <a:r>
              <a:rPr lang="en-US" dirty="0"/>
              <a:t>,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oranlarının</a:t>
            </a:r>
            <a:r>
              <a:rPr lang="en-US" dirty="0"/>
              <a:t> hem </a:t>
            </a:r>
            <a:r>
              <a:rPr lang="en-US" dirty="0" err="1"/>
              <a:t>zamana</a:t>
            </a:r>
            <a:r>
              <a:rPr lang="en-US" dirty="0"/>
              <a:t> hem de </a:t>
            </a:r>
            <a:r>
              <a:rPr lang="en-US" dirty="0" err="1"/>
              <a:t>otopark</a:t>
            </a:r>
            <a:r>
              <a:rPr lang="en-US" dirty="0"/>
              <a:t> </a:t>
            </a:r>
            <a:r>
              <a:rPr lang="en-US" dirty="0" err="1"/>
              <a:t>konumuna</a:t>
            </a:r>
            <a:r>
              <a:rPr lang="en-US" dirty="0"/>
              <a:t> </a:t>
            </a:r>
            <a:r>
              <a:rPr lang="en-US" dirty="0" err="1"/>
              <a:t>bağlı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değiştiğini</a:t>
            </a:r>
            <a:r>
              <a:rPr lang="en-US" dirty="0"/>
              <a:t> </a:t>
            </a:r>
            <a:r>
              <a:rPr lang="en-US" dirty="0" err="1"/>
              <a:t>göstermektedir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79DFA6C-0DAC-6AB2-8952-5BF1A7481E14}"/>
              </a:ext>
            </a:extLst>
          </p:cNvPr>
          <p:cNvSpPr txBox="1"/>
          <p:nvPr/>
        </p:nvSpPr>
        <p:spPr>
          <a:xfrm>
            <a:off x="1934852" y="414198"/>
            <a:ext cx="88582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Hafta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İçi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ve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Hafta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Sonu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Saatlik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Doluluk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Analizi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8D6098A-BE40-7B82-98AF-1A794558D2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334" y="1203552"/>
            <a:ext cx="8500531" cy="340550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27ECEBA-F601-84D6-97D8-129D3B92BF73}"/>
              </a:ext>
            </a:extLst>
          </p:cNvPr>
          <p:cNvSpPr txBox="1"/>
          <p:nvPr/>
        </p:nvSpPr>
        <p:spPr>
          <a:xfrm>
            <a:off x="700165" y="4609057"/>
            <a:ext cx="1219200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Isı</a:t>
            </a:r>
            <a:r>
              <a:rPr lang="en-US" dirty="0"/>
              <a:t> </a:t>
            </a:r>
            <a:r>
              <a:rPr lang="en-US" dirty="0" err="1"/>
              <a:t>haritası</a:t>
            </a:r>
            <a:r>
              <a:rPr lang="en-US" dirty="0"/>
              <a:t>, </a:t>
            </a:r>
            <a:r>
              <a:rPr lang="en-US" dirty="0" err="1"/>
              <a:t>gün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bazında</a:t>
            </a:r>
            <a:r>
              <a:rPr lang="en-US" dirty="0"/>
              <a:t> </a:t>
            </a:r>
            <a:r>
              <a:rPr lang="en-US" dirty="0" err="1"/>
              <a:t>ortalama</a:t>
            </a:r>
            <a:r>
              <a:rPr lang="en-US" dirty="0"/>
              <a:t> </a:t>
            </a:r>
            <a:r>
              <a:rPr lang="en-US" dirty="0" err="1"/>
              <a:t>otopark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oranlarını</a:t>
            </a:r>
            <a:r>
              <a:rPr lang="en-US" dirty="0"/>
              <a:t> </a:t>
            </a:r>
            <a:r>
              <a:rPr lang="en-US" dirty="0" err="1"/>
              <a:t>göstermektedir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Hafta</a:t>
            </a:r>
            <a:r>
              <a:rPr lang="en-US" dirty="0"/>
              <a:t> </a:t>
            </a:r>
            <a:r>
              <a:rPr lang="en-US" dirty="0" err="1"/>
              <a:t>içi</a:t>
            </a:r>
            <a:r>
              <a:rPr lang="en-US" dirty="0"/>
              <a:t> </a:t>
            </a:r>
            <a:r>
              <a:rPr lang="en-US" dirty="0" err="1"/>
              <a:t>günlerde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oranları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seviyelerde</a:t>
            </a:r>
            <a:r>
              <a:rPr lang="en-US" dirty="0"/>
              <a:t> </a:t>
            </a:r>
            <a:r>
              <a:rPr lang="en-US" dirty="0" err="1"/>
              <a:t>seyretmektedir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Özellikle</a:t>
            </a:r>
            <a:r>
              <a:rPr lang="en-US" dirty="0"/>
              <a:t> </a:t>
            </a:r>
            <a:r>
              <a:rPr lang="en-US" b="1" dirty="0"/>
              <a:t>11:00–14:00 </a:t>
            </a:r>
            <a:r>
              <a:rPr lang="en-US" b="1" dirty="0" err="1"/>
              <a:t>saatleri</a:t>
            </a:r>
            <a:r>
              <a:rPr lang="en-US" b="1" dirty="0"/>
              <a:t> </a:t>
            </a:r>
            <a:r>
              <a:rPr lang="en-US" b="1" dirty="0" err="1"/>
              <a:t>arasında</a:t>
            </a:r>
            <a:r>
              <a:rPr lang="en-US" b="1" dirty="0"/>
              <a:t> </a:t>
            </a:r>
            <a:r>
              <a:rPr lang="en-US" b="1" dirty="0" err="1"/>
              <a:t>yoğunluk</a:t>
            </a:r>
            <a:r>
              <a:rPr lang="en-US" b="1" dirty="0"/>
              <a:t> </a:t>
            </a:r>
            <a:r>
              <a:rPr lang="en-US" b="1" dirty="0" err="1"/>
              <a:t>zirveye</a:t>
            </a:r>
            <a:r>
              <a:rPr lang="en-US" b="1" dirty="0"/>
              <a:t> </a:t>
            </a:r>
            <a:r>
              <a:rPr lang="en-US" b="1" dirty="0" err="1"/>
              <a:t>ulaşmaktadır</a:t>
            </a:r>
            <a:r>
              <a:rPr lang="en-US" b="1" dirty="0"/>
              <a:t>.</a:t>
            </a:r>
            <a:r>
              <a:rPr lang="en-US" dirty="0"/>
              <a:t>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Hafta</a:t>
            </a:r>
            <a:r>
              <a:rPr lang="en-US" dirty="0"/>
              <a:t> </a:t>
            </a:r>
            <a:r>
              <a:rPr lang="en-US" dirty="0" err="1"/>
              <a:t>sonlarında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oranları</a:t>
            </a:r>
            <a:r>
              <a:rPr lang="en-US" dirty="0"/>
              <a:t> </a:t>
            </a:r>
            <a:r>
              <a:rPr lang="en-US" dirty="0" err="1"/>
              <a:t>belirgin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azalmaktadır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Sonuçlar</a:t>
            </a:r>
            <a:r>
              <a:rPr lang="en-US" dirty="0"/>
              <a:t>, </a:t>
            </a:r>
            <a:r>
              <a:rPr lang="en-US" dirty="0" err="1"/>
              <a:t>otopark</a:t>
            </a:r>
            <a:r>
              <a:rPr lang="en-US" dirty="0"/>
              <a:t> </a:t>
            </a:r>
            <a:r>
              <a:rPr lang="en-US" dirty="0" err="1"/>
              <a:t>kullanımının</a:t>
            </a:r>
            <a:r>
              <a:rPr lang="en-US" dirty="0"/>
              <a:t> </a:t>
            </a:r>
            <a:r>
              <a:rPr lang="en-US" dirty="0" err="1"/>
              <a:t>zamana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haftanın</a:t>
            </a:r>
            <a:r>
              <a:rPr lang="en-US" dirty="0"/>
              <a:t> </a:t>
            </a:r>
            <a:r>
              <a:rPr lang="en-US" dirty="0" err="1"/>
              <a:t>gününe</a:t>
            </a:r>
            <a:r>
              <a:rPr lang="en-US" dirty="0"/>
              <a:t> </a:t>
            </a:r>
            <a:r>
              <a:rPr lang="en-US" dirty="0" err="1"/>
              <a:t>bağlı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değiştiğini</a:t>
            </a:r>
            <a:r>
              <a:rPr lang="en-US" dirty="0"/>
              <a:t> </a:t>
            </a:r>
            <a:r>
              <a:rPr lang="en-US" dirty="0" err="1"/>
              <a:t>göstermektedir</a:t>
            </a:r>
            <a:r>
              <a:rPr lang="en-US" dirty="0"/>
              <a:t>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33B8789-719B-B9CA-CAA8-591B9C5B441F}"/>
              </a:ext>
            </a:extLst>
          </p:cNvPr>
          <p:cNvSpPr txBox="1">
            <a:spLocks/>
          </p:cNvSpPr>
          <p:nvPr/>
        </p:nvSpPr>
        <p:spPr>
          <a:xfrm>
            <a:off x="9140971" y="63301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13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70071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7124" y="-400664"/>
            <a:ext cx="10515601" cy="1327464"/>
          </a:xfrm>
        </p:spPr>
        <p:txBody>
          <a:bodyPr/>
          <a:lstStyle/>
          <a:p>
            <a:r>
              <a:rPr lang="en-US" b="1" dirty="0" err="1">
                <a:solidFill>
                  <a:schemeClr val="accent4">
                    <a:lumMod val="50000"/>
                  </a:schemeClr>
                </a:solidFill>
              </a:rPr>
              <a:t>Korelasyon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4">
                    <a:lumMod val="50000"/>
                  </a:schemeClr>
                </a:solidFill>
              </a:rPr>
              <a:t>Analizi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>
                <a:solidFill>
                  <a:schemeClr val="tx1"/>
                </a:solidFill>
              </a:rPr>
              <a:pPr/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98B36E-F918-2664-C095-3A5119FD5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230" y="1197610"/>
            <a:ext cx="8656784" cy="29933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3B2C1A7-9333-0F6A-CCE1-436494C52314}"/>
              </a:ext>
            </a:extLst>
          </p:cNvPr>
          <p:cNvSpPr txBox="1"/>
          <p:nvPr/>
        </p:nvSpPr>
        <p:spPr>
          <a:xfrm>
            <a:off x="713688" y="4464459"/>
            <a:ext cx="1130427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Veri </a:t>
            </a:r>
            <a:r>
              <a:rPr lang="en-US" dirty="0" err="1"/>
              <a:t>setindeki</a:t>
            </a:r>
            <a:r>
              <a:rPr lang="en-US" dirty="0"/>
              <a:t> </a:t>
            </a:r>
            <a:r>
              <a:rPr lang="en-US" dirty="0" err="1"/>
              <a:t>değişkenler</a:t>
            </a:r>
            <a:r>
              <a:rPr lang="en-US" dirty="0"/>
              <a:t> </a:t>
            </a:r>
            <a:r>
              <a:rPr lang="en-US" dirty="0" err="1"/>
              <a:t>arasındaki</a:t>
            </a:r>
            <a:r>
              <a:rPr lang="en-US" dirty="0"/>
              <a:t> </a:t>
            </a:r>
            <a:r>
              <a:rPr lang="en-US" dirty="0" err="1"/>
              <a:t>ilişkiler</a:t>
            </a:r>
            <a:r>
              <a:rPr lang="en-US" dirty="0"/>
              <a:t> Pearson </a:t>
            </a:r>
            <a:r>
              <a:rPr lang="en-US" dirty="0" err="1"/>
              <a:t>korelasyon</a:t>
            </a:r>
            <a:r>
              <a:rPr lang="en-US" dirty="0"/>
              <a:t> </a:t>
            </a:r>
            <a:r>
              <a:rPr lang="en-US" dirty="0" err="1"/>
              <a:t>katsayısı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incelenmiştir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Occupancy (</a:t>
            </a:r>
            <a:r>
              <a:rPr lang="en-US" b="1" dirty="0" err="1"/>
              <a:t>dolu</a:t>
            </a:r>
            <a:r>
              <a:rPr lang="en-US" b="1" dirty="0"/>
              <a:t> </a:t>
            </a:r>
            <a:r>
              <a:rPr lang="en-US" b="1" dirty="0" err="1"/>
              <a:t>araç</a:t>
            </a:r>
            <a:r>
              <a:rPr lang="en-US" b="1" dirty="0"/>
              <a:t> </a:t>
            </a:r>
            <a:r>
              <a:rPr lang="en-US" b="1" dirty="0" err="1"/>
              <a:t>sayısı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b="1" dirty="0" err="1"/>
              <a:t>doluluk</a:t>
            </a:r>
            <a:r>
              <a:rPr lang="en-US" b="1" dirty="0"/>
              <a:t> </a:t>
            </a:r>
            <a:r>
              <a:rPr lang="en-US" b="1" dirty="0" err="1"/>
              <a:t>oranı</a:t>
            </a:r>
            <a:r>
              <a:rPr lang="en-US" b="1" dirty="0"/>
              <a:t> (</a:t>
            </a:r>
            <a:r>
              <a:rPr lang="en-US" b="1" dirty="0" err="1"/>
              <a:t>occupancy_rate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pozitif</a:t>
            </a:r>
            <a:r>
              <a:rPr lang="en-US" dirty="0"/>
              <a:t> </a:t>
            </a:r>
            <a:r>
              <a:rPr lang="en-US" dirty="0" err="1"/>
              <a:t>ilişki</a:t>
            </a:r>
            <a:r>
              <a:rPr lang="en-US" dirty="0"/>
              <a:t> </a:t>
            </a:r>
            <a:r>
              <a:rPr lang="en-US" dirty="0" err="1"/>
              <a:t>bulunmaktadır</a:t>
            </a:r>
            <a:r>
              <a:rPr lang="en-US" dirty="0"/>
              <a:t> (</a:t>
            </a:r>
            <a:r>
              <a:rPr lang="en-US" b="1" dirty="0"/>
              <a:t>r = 0.353</a:t>
            </a:r>
            <a:r>
              <a:rPr lang="en-US" dirty="0"/>
              <a:t>).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Capacity (</a:t>
            </a:r>
            <a:r>
              <a:rPr lang="en-US" b="1" dirty="0" err="1"/>
              <a:t>kapasite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oranı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zayıf</a:t>
            </a:r>
            <a:r>
              <a:rPr lang="en-US" dirty="0"/>
              <a:t> </a:t>
            </a:r>
            <a:r>
              <a:rPr lang="en-US" dirty="0" err="1"/>
              <a:t>negatif</a:t>
            </a:r>
            <a:r>
              <a:rPr lang="en-US" dirty="0"/>
              <a:t> </a:t>
            </a:r>
            <a:r>
              <a:rPr lang="en-US" dirty="0" err="1"/>
              <a:t>ilişki</a:t>
            </a:r>
            <a:r>
              <a:rPr lang="en-US" dirty="0"/>
              <a:t> </a:t>
            </a:r>
            <a:r>
              <a:rPr lang="en-US" dirty="0" err="1"/>
              <a:t>gözlemlenmiştir</a:t>
            </a:r>
            <a:r>
              <a:rPr lang="en-US" dirty="0"/>
              <a:t> (</a:t>
            </a:r>
            <a:r>
              <a:rPr lang="en-US" b="1" dirty="0"/>
              <a:t>r = -0.139</a:t>
            </a:r>
            <a:r>
              <a:rPr lang="en-US" dirty="0"/>
              <a:t>).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En </a:t>
            </a:r>
            <a:r>
              <a:rPr lang="en-US" dirty="0" err="1"/>
              <a:t>güçlü</a:t>
            </a:r>
            <a:r>
              <a:rPr lang="en-US" dirty="0"/>
              <a:t> </a:t>
            </a:r>
            <a:r>
              <a:rPr lang="en-US" dirty="0" err="1"/>
              <a:t>ilişki</a:t>
            </a:r>
            <a:r>
              <a:rPr lang="en-US" dirty="0"/>
              <a:t>, </a:t>
            </a:r>
            <a:r>
              <a:rPr lang="en-US" b="1" dirty="0"/>
              <a:t>Capacity </a:t>
            </a:r>
            <a:r>
              <a:rPr lang="en-US" b="1" dirty="0" err="1"/>
              <a:t>ve</a:t>
            </a:r>
            <a:r>
              <a:rPr lang="en-US" b="1" dirty="0"/>
              <a:t> Occupancy</a:t>
            </a:r>
            <a:r>
              <a:rPr lang="en-US" dirty="0"/>
              <a:t> </a:t>
            </a:r>
            <a:r>
              <a:rPr lang="en-US" dirty="0" err="1"/>
              <a:t>değişkenleri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görülmektedir</a:t>
            </a:r>
            <a:r>
              <a:rPr lang="en-US" dirty="0"/>
              <a:t> (</a:t>
            </a:r>
            <a:r>
              <a:rPr lang="en-US" b="1" dirty="0"/>
              <a:t>r = 0.778</a:t>
            </a:r>
            <a:r>
              <a:rPr lang="en-US" dirty="0"/>
              <a:t>).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Sonuçlar</a:t>
            </a:r>
            <a:r>
              <a:rPr lang="en-US" dirty="0"/>
              <a:t>, </a:t>
            </a:r>
            <a:r>
              <a:rPr lang="en-US" dirty="0" err="1"/>
              <a:t>otopark</a:t>
            </a:r>
            <a:r>
              <a:rPr lang="en-US" dirty="0"/>
              <a:t> </a:t>
            </a:r>
            <a:r>
              <a:rPr lang="en-US" dirty="0" err="1"/>
              <a:t>doluluğunun</a:t>
            </a:r>
            <a:r>
              <a:rPr lang="en-US" dirty="0"/>
              <a:t> 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kapasiteye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kullanım</a:t>
            </a:r>
            <a:r>
              <a:rPr lang="en-US" dirty="0"/>
              <a:t> </a:t>
            </a:r>
            <a:r>
              <a:rPr lang="en-US" dirty="0" err="1"/>
              <a:t>yoğunluğuna</a:t>
            </a:r>
            <a:r>
              <a:rPr lang="en-US" dirty="0"/>
              <a:t> da </a:t>
            </a:r>
            <a:r>
              <a:rPr lang="en-US" dirty="0" err="1"/>
              <a:t>bağlı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göstermektedir</a:t>
            </a:r>
            <a:r>
              <a:rPr lang="en-US" dirty="0"/>
              <a:t>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EE37C22-3F02-D4A6-F4CE-D3C2131AF785}"/>
              </a:ext>
            </a:extLst>
          </p:cNvPr>
          <p:cNvSpPr txBox="1">
            <a:spLocks/>
          </p:cNvSpPr>
          <p:nvPr/>
        </p:nvSpPr>
        <p:spPr>
          <a:xfrm>
            <a:off x="9140971" y="63301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14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F125C3-99F8-5ABF-1328-0370F1121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620" y="-303748"/>
            <a:ext cx="10515601" cy="1140849"/>
          </a:xfrm>
        </p:spPr>
        <p:txBody>
          <a:bodyPr/>
          <a:lstStyle/>
          <a:p>
            <a:r>
              <a:rPr lang="en-US" b="1" dirty="0" err="1">
                <a:solidFill>
                  <a:schemeClr val="accent4">
                    <a:lumMod val="50000"/>
                  </a:schemeClr>
                </a:solidFill>
              </a:rPr>
              <a:t>Doluluk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4">
                    <a:lumMod val="50000"/>
                  </a:schemeClr>
                </a:solidFill>
              </a:rPr>
              <a:t>Oranı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4">
                    <a:lumMod val="50000"/>
                  </a:schemeClr>
                </a:solidFill>
              </a:rPr>
              <a:t>Dağılımı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4">
                    <a:lumMod val="50000"/>
                  </a:schemeClr>
                </a:solidFill>
              </a:rPr>
              <a:t>ve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4">
                    <a:lumMod val="50000"/>
                  </a:schemeClr>
                </a:solidFill>
              </a:rPr>
              <a:t>Aykırı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 Değer </a:t>
            </a:r>
            <a:r>
              <a:rPr lang="en-US" b="1" dirty="0" err="1">
                <a:solidFill>
                  <a:schemeClr val="accent4">
                    <a:lumMod val="50000"/>
                  </a:schemeClr>
                </a:solidFill>
              </a:rPr>
              <a:t>Analizi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A189C-8A41-5C63-2470-06541519C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>
                <a:solidFill>
                  <a:schemeClr val="tx1"/>
                </a:solidFill>
              </a:rPr>
              <a:pPr/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5694CB-3781-82F6-1FA8-8A3E7756C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366" y="943452"/>
            <a:ext cx="7513784" cy="35536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AED23F-80D9-B793-6856-5E6F4BE9ED64}"/>
              </a:ext>
            </a:extLst>
          </p:cNvPr>
          <p:cNvSpPr txBox="1"/>
          <p:nvPr/>
        </p:nvSpPr>
        <p:spPr>
          <a:xfrm>
            <a:off x="615658" y="4497126"/>
            <a:ext cx="11576342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Boxplot </a:t>
            </a:r>
            <a:r>
              <a:rPr lang="en-US" dirty="0" err="1"/>
              <a:t>grafiği</a:t>
            </a:r>
            <a:r>
              <a:rPr lang="en-US" dirty="0"/>
              <a:t>,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oranlarının</a:t>
            </a:r>
            <a:r>
              <a:rPr lang="en-US" dirty="0"/>
              <a:t> </a:t>
            </a:r>
            <a:r>
              <a:rPr lang="en-US" dirty="0" err="1"/>
              <a:t>dağılımını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olası</a:t>
            </a:r>
            <a:r>
              <a:rPr lang="en-US" dirty="0"/>
              <a:t> </a:t>
            </a:r>
            <a:r>
              <a:rPr lang="en-US" dirty="0" err="1"/>
              <a:t>aykırı</a:t>
            </a:r>
            <a:r>
              <a:rPr lang="en-US" dirty="0"/>
              <a:t>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göstermektedir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Veri </a:t>
            </a:r>
            <a:r>
              <a:rPr lang="en-US" dirty="0" err="1"/>
              <a:t>setindeki</a:t>
            </a:r>
            <a:r>
              <a:rPr lang="en-US" dirty="0"/>
              <a:t> </a:t>
            </a:r>
            <a:r>
              <a:rPr lang="en-US" dirty="0" err="1"/>
              <a:t>medyan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oranı</a:t>
            </a:r>
            <a:r>
              <a:rPr lang="en-US" dirty="0"/>
              <a:t> </a:t>
            </a:r>
            <a:r>
              <a:rPr lang="en-US" dirty="0" err="1"/>
              <a:t>yaklaşık</a:t>
            </a:r>
            <a:r>
              <a:rPr lang="en-US" dirty="0"/>
              <a:t> </a:t>
            </a:r>
            <a:r>
              <a:rPr lang="en-US" b="1" dirty="0"/>
              <a:t>%47</a:t>
            </a:r>
            <a:r>
              <a:rPr lang="en-US" dirty="0"/>
              <a:t> </a:t>
            </a:r>
            <a:r>
              <a:rPr lang="en-US" dirty="0" err="1"/>
              <a:t>seviyesindedir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Kayıtların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bölümü</a:t>
            </a:r>
            <a:r>
              <a:rPr lang="en-US" dirty="0"/>
              <a:t> </a:t>
            </a:r>
            <a:r>
              <a:rPr lang="en-US" b="1" dirty="0"/>
              <a:t>%25 – %70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aralığında</a:t>
            </a:r>
            <a:r>
              <a:rPr lang="en-US" dirty="0"/>
              <a:t> </a:t>
            </a:r>
            <a:r>
              <a:rPr lang="en-US" dirty="0" err="1"/>
              <a:t>yoğunlaşmaktadır</a:t>
            </a:r>
            <a:r>
              <a:rPr lang="en-US" dirty="0"/>
              <a:t>.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oranları</a:t>
            </a:r>
            <a:r>
              <a:rPr lang="en-US" dirty="0"/>
              <a:t> 0 </a:t>
            </a:r>
            <a:r>
              <a:rPr lang="en-US" dirty="0" err="1"/>
              <a:t>ile</a:t>
            </a:r>
            <a:r>
              <a:rPr lang="en-US" dirty="0"/>
              <a:t> 1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geniş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dağılım</a:t>
            </a:r>
            <a:r>
              <a:rPr lang="en-US" dirty="0"/>
              <a:t> </a:t>
            </a:r>
            <a:r>
              <a:rPr lang="en-US" dirty="0" err="1"/>
              <a:t>göstermektedir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Belirgin</a:t>
            </a:r>
            <a:r>
              <a:rPr lang="en-US" dirty="0"/>
              <a:t> </a:t>
            </a:r>
            <a:r>
              <a:rPr lang="en-US" dirty="0" err="1"/>
              <a:t>aykırı</a:t>
            </a:r>
            <a:r>
              <a:rPr lang="en-US" dirty="0"/>
              <a:t> </a:t>
            </a:r>
            <a:r>
              <a:rPr lang="en-US" dirty="0" err="1"/>
              <a:t>değer</a:t>
            </a:r>
            <a:r>
              <a:rPr lang="en-US" dirty="0"/>
              <a:t> </a:t>
            </a:r>
            <a:r>
              <a:rPr lang="en-US" dirty="0" err="1"/>
              <a:t>gözlenmemesi</a:t>
            </a:r>
            <a:r>
              <a:rPr lang="en-US" dirty="0"/>
              <a:t>,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setinin</a:t>
            </a:r>
            <a:r>
              <a:rPr lang="en-US" dirty="0"/>
              <a:t> </a:t>
            </a:r>
            <a:r>
              <a:rPr lang="en-US" dirty="0" err="1"/>
              <a:t>tutarlı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model </a:t>
            </a:r>
            <a:r>
              <a:rPr lang="en-US" dirty="0" err="1"/>
              <a:t>eğitimi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uygun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göstermektedir</a:t>
            </a:r>
            <a:r>
              <a:rPr lang="en-US" dirty="0"/>
              <a:t>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9A3669B-7C23-1767-F9B8-FF7B3CEEADE3}"/>
              </a:ext>
            </a:extLst>
          </p:cNvPr>
          <p:cNvSpPr txBox="1">
            <a:spLocks/>
          </p:cNvSpPr>
          <p:nvPr/>
        </p:nvSpPr>
        <p:spPr>
          <a:xfrm>
            <a:off x="9140971" y="63301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15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04068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1B7872E-10E4-BEB2-DA1F-C97285873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414" y="968702"/>
            <a:ext cx="6693171" cy="36645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D20CCA-3542-411E-C9DC-2E8F0EF4F1C9}"/>
              </a:ext>
            </a:extLst>
          </p:cNvPr>
          <p:cNvSpPr txBox="1"/>
          <p:nvPr/>
        </p:nvSpPr>
        <p:spPr>
          <a:xfrm>
            <a:off x="2405859" y="272534"/>
            <a:ext cx="94107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Kayan Ortalama ile Doluluk Eğilimi Analizi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179D0D-0E5C-74F3-D05E-EB37F4C0BCB3}"/>
              </a:ext>
            </a:extLst>
          </p:cNvPr>
          <p:cNvSpPr txBox="1"/>
          <p:nvPr/>
        </p:nvSpPr>
        <p:spPr>
          <a:xfrm>
            <a:off x="500297" y="4640930"/>
            <a:ext cx="1087755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Ham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verileri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frekanslı</a:t>
            </a:r>
            <a:r>
              <a:rPr lang="en-US" dirty="0"/>
              <a:t> </a:t>
            </a:r>
            <a:r>
              <a:rPr lang="en-US" dirty="0" err="1"/>
              <a:t>dalgalanmalar</a:t>
            </a:r>
            <a:r>
              <a:rPr lang="en-US" dirty="0"/>
              <a:t> </a:t>
            </a:r>
            <a:r>
              <a:rPr lang="en-US" dirty="0" err="1"/>
              <a:t>içermektedir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20 </a:t>
            </a:r>
            <a:r>
              <a:rPr lang="en-US" dirty="0" err="1"/>
              <a:t>periyotluk</a:t>
            </a:r>
            <a:r>
              <a:rPr lang="en-US" dirty="0"/>
              <a:t> </a:t>
            </a:r>
            <a:r>
              <a:rPr lang="en-US" dirty="0" err="1"/>
              <a:t>kayan</a:t>
            </a:r>
            <a:r>
              <a:rPr lang="en-US" dirty="0"/>
              <a:t> </a:t>
            </a:r>
            <a:r>
              <a:rPr lang="en-US" dirty="0" err="1"/>
              <a:t>ortalama</a:t>
            </a:r>
            <a:r>
              <a:rPr lang="en-US" dirty="0"/>
              <a:t> </a:t>
            </a:r>
            <a:r>
              <a:rPr lang="en-US" dirty="0" err="1"/>
              <a:t>uygulanarak</a:t>
            </a:r>
            <a:r>
              <a:rPr lang="en-US" dirty="0"/>
              <a:t> </a:t>
            </a:r>
            <a:r>
              <a:rPr lang="en-US" dirty="0" err="1"/>
              <a:t>genel</a:t>
            </a:r>
            <a:r>
              <a:rPr lang="en-US" dirty="0"/>
              <a:t> </a:t>
            </a:r>
            <a:r>
              <a:rPr lang="en-US" dirty="0" err="1"/>
              <a:t>eğilim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görünür</a:t>
            </a:r>
            <a:r>
              <a:rPr lang="en-US" dirty="0"/>
              <a:t> hale </a:t>
            </a:r>
            <a:r>
              <a:rPr lang="en-US" dirty="0" err="1"/>
              <a:t>getirilmiştir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Kayan </a:t>
            </a:r>
            <a:r>
              <a:rPr lang="en-US" dirty="0" err="1"/>
              <a:t>ortalama</a:t>
            </a:r>
            <a:r>
              <a:rPr lang="en-US" dirty="0"/>
              <a:t>, </a:t>
            </a:r>
            <a:r>
              <a:rPr lang="en-US" dirty="0" err="1"/>
              <a:t>kısa</a:t>
            </a:r>
            <a:r>
              <a:rPr lang="en-US" dirty="0"/>
              <a:t> </a:t>
            </a:r>
            <a:r>
              <a:rPr lang="en-US" dirty="0" err="1"/>
              <a:t>süreli</a:t>
            </a:r>
            <a:r>
              <a:rPr lang="en-US" dirty="0"/>
              <a:t> ani </a:t>
            </a:r>
            <a:r>
              <a:rPr lang="en-US" dirty="0" err="1"/>
              <a:t>değişimleri</a:t>
            </a:r>
            <a:r>
              <a:rPr lang="en-US" dirty="0"/>
              <a:t> </a:t>
            </a:r>
            <a:r>
              <a:rPr lang="en-US" dirty="0" err="1"/>
              <a:t>yumuşatarak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davranışını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net </a:t>
            </a:r>
            <a:r>
              <a:rPr lang="en-US" dirty="0" err="1"/>
              <a:t>göstermektedir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Grafik</a:t>
            </a:r>
            <a:r>
              <a:rPr lang="en-US" dirty="0"/>
              <a:t> </a:t>
            </a:r>
            <a:r>
              <a:rPr lang="en-US" dirty="0" err="1"/>
              <a:t>boyunca</a:t>
            </a:r>
            <a:r>
              <a:rPr lang="en-US" dirty="0"/>
              <a:t> </a:t>
            </a:r>
            <a:r>
              <a:rPr lang="en-US" dirty="0" err="1"/>
              <a:t>düzenli</a:t>
            </a:r>
            <a:r>
              <a:rPr lang="en-US" dirty="0"/>
              <a:t> </a:t>
            </a:r>
            <a:r>
              <a:rPr lang="en-US" dirty="0" err="1"/>
              <a:t>periyodik</a:t>
            </a:r>
            <a:r>
              <a:rPr lang="en-US" dirty="0"/>
              <a:t> </a:t>
            </a:r>
            <a:r>
              <a:rPr lang="en-US" dirty="0" err="1"/>
              <a:t>kullanım</a:t>
            </a:r>
            <a:r>
              <a:rPr lang="en-US" dirty="0"/>
              <a:t> </a:t>
            </a:r>
            <a:r>
              <a:rPr lang="en-US" dirty="0" err="1"/>
              <a:t>desenleri</a:t>
            </a:r>
            <a:r>
              <a:rPr lang="en-US" dirty="0"/>
              <a:t> </a:t>
            </a:r>
            <a:r>
              <a:rPr lang="en-US" dirty="0" err="1"/>
              <a:t>gözlemlenmektedir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 </a:t>
            </a:r>
            <a:r>
              <a:rPr lang="en-US" dirty="0" err="1"/>
              <a:t>eğilimler</a:t>
            </a:r>
            <a:r>
              <a:rPr lang="en-US" dirty="0"/>
              <a:t>, zaman </a:t>
            </a:r>
            <a:r>
              <a:rPr lang="en-US" dirty="0" err="1"/>
              <a:t>serisi</a:t>
            </a:r>
            <a:r>
              <a:rPr lang="en-US" dirty="0"/>
              <a:t> </a:t>
            </a:r>
            <a:r>
              <a:rPr lang="en-US" dirty="0" err="1"/>
              <a:t>tahmini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anlamlı</a:t>
            </a:r>
            <a:r>
              <a:rPr lang="en-US" dirty="0"/>
              <a:t> </a:t>
            </a:r>
            <a:r>
              <a:rPr lang="en-US" dirty="0" err="1"/>
              <a:t>örüntüler</a:t>
            </a:r>
            <a:r>
              <a:rPr lang="en-US" dirty="0"/>
              <a:t> </a:t>
            </a:r>
            <a:r>
              <a:rPr lang="en-US" dirty="0" err="1"/>
              <a:t>içerdiğini</a:t>
            </a:r>
            <a:r>
              <a:rPr lang="en-US" dirty="0"/>
              <a:t> </a:t>
            </a:r>
            <a:r>
              <a:rPr lang="en-US" dirty="0" err="1"/>
              <a:t>göstermektedir</a:t>
            </a:r>
            <a:r>
              <a:rPr lang="en-US" dirty="0"/>
              <a:t>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A9EBE9E-F6F3-8FC0-1B0F-B8CDB3A5693F}"/>
              </a:ext>
            </a:extLst>
          </p:cNvPr>
          <p:cNvSpPr txBox="1">
            <a:spLocks/>
          </p:cNvSpPr>
          <p:nvPr/>
        </p:nvSpPr>
        <p:spPr>
          <a:xfrm>
            <a:off x="9140971" y="63301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16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C2A602-00A9-9F1B-AAE3-1EF0A2B56317}"/>
              </a:ext>
            </a:extLst>
          </p:cNvPr>
          <p:cNvSpPr txBox="1"/>
          <p:nvPr/>
        </p:nvSpPr>
        <p:spPr>
          <a:xfrm>
            <a:off x="1626370" y="272534"/>
            <a:ext cx="94107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LSTM (Long Short-Term Memory)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Matematiksel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Yapısı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BF9DAF-0890-F06F-AC23-400D2013EC5A}"/>
                  </a:ext>
                </a:extLst>
              </p:cNvPr>
              <p:cNvSpPr txBox="1"/>
              <p:nvPr/>
            </p:nvSpPr>
            <p:spPr>
              <a:xfrm>
                <a:off x="0" y="885133"/>
                <a:ext cx="8129647" cy="59093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LSTM (Long Short-Term Memory), </a:t>
                </a:r>
                <a:r>
                  <a:rPr lang="en-US" dirty="0">
                    <a:solidFill>
                      <a:schemeClr val="tx1"/>
                    </a:solidFill>
                  </a:rPr>
                  <a:t>zaman </a:t>
                </a:r>
                <a:r>
                  <a:rPr lang="en-US" dirty="0" err="1">
                    <a:solidFill>
                      <a:schemeClr val="tx1"/>
                    </a:solidFill>
                  </a:rPr>
                  <a:t>serilerindeki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uzun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dönem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bağımlılıkları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öğrenmek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için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geliştirilmiş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bir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tekrarlayan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sinir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ağı</a:t>
                </a:r>
                <a:r>
                  <a:rPr lang="en-US" dirty="0">
                    <a:solidFill>
                      <a:schemeClr val="tx1"/>
                    </a:solidFill>
                  </a:rPr>
                  <a:t> (RNN) </a:t>
                </a:r>
                <a:r>
                  <a:rPr lang="en-US" dirty="0" err="1">
                    <a:solidFill>
                      <a:schemeClr val="tx1"/>
                    </a:solidFill>
                  </a:rPr>
                  <a:t>mimarisidir</a:t>
                </a:r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  <a:endParaRPr lang="tr-TR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Forget Gate (</a:t>
                </a:r>
                <a:r>
                  <a:rPr lang="en-US" b="1" dirty="0" err="1">
                    <a:solidFill>
                      <a:schemeClr val="tx1"/>
                    </a:solidFill>
                  </a:rPr>
                  <a:t>Unutma</a:t>
                </a:r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</a:rPr>
                  <a:t>Kapısı</a:t>
                </a:r>
                <a:r>
                  <a:rPr lang="en-US" b="1" dirty="0">
                    <a:solidFill>
                      <a:schemeClr val="tx1"/>
                    </a:solidFill>
                  </a:rPr>
                  <a:t>):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Önceki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bilgilerin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hangilerinin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korunacağına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veya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silineceğine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karar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verir</a:t>
                </a:r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  <a:endParaRPr lang="tr-TR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Input Gate (</a:t>
                </a:r>
                <a:r>
                  <a:rPr lang="en-US" b="1" dirty="0" err="1">
                    <a:solidFill>
                      <a:schemeClr val="tx1"/>
                    </a:solidFill>
                  </a:rPr>
                  <a:t>Giriş</a:t>
                </a:r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</a:rPr>
                  <a:t>Kapısı</a:t>
                </a:r>
                <a:r>
                  <a:rPr lang="en-US" b="1" dirty="0">
                    <a:solidFill>
                      <a:schemeClr val="tx1"/>
                    </a:solidFill>
                  </a:rPr>
                  <a:t>):</a:t>
                </a:r>
                <a:r>
                  <a:rPr lang="en-US" dirty="0">
                    <a:solidFill>
                      <a:schemeClr val="tx1"/>
                    </a:solidFill>
                  </a:rPr>
                  <a:t> Yeni </a:t>
                </a:r>
                <a:r>
                  <a:rPr lang="en-US" dirty="0" err="1">
                    <a:solidFill>
                      <a:schemeClr val="tx1"/>
                    </a:solidFill>
                  </a:rPr>
                  <a:t>bilgilerin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hücre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hafızasına</a:t>
                </a:r>
                <a:r>
                  <a:rPr lang="en-US" dirty="0">
                    <a:solidFill>
                      <a:schemeClr val="tx1"/>
                    </a:solidFill>
                  </a:rPr>
                  <a:t> ne </a:t>
                </a:r>
                <a:r>
                  <a:rPr lang="en-US" dirty="0" err="1">
                    <a:solidFill>
                      <a:schemeClr val="tx1"/>
                    </a:solidFill>
                  </a:rPr>
                  <a:t>kadar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ekleneceğini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belirler</a:t>
                </a:r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  <a:endParaRPr lang="tr-TR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Cell State (</a:t>
                </a:r>
                <a:r>
                  <a:rPr lang="en-US" b="1" dirty="0" err="1">
                    <a:solidFill>
                      <a:schemeClr val="tx1"/>
                    </a:solidFill>
                  </a:rPr>
                  <a:t>Hücre</a:t>
                </a:r>
                <a:r>
                  <a:rPr lang="en-US" b="1" dirty="0">
                    <a:solidFill>
                      <a:schemeClr val="tx1"/>
                    </a:solidFill>
                  </a:rPr>
                  <a:t> Durumu):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Geçmiş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ve</a:t>
                </a:r>
                <a:r>
                  <a:rPr lang="en-US" dirty="0">
                    <a:solidFill>
                      <a:schemeClr val="tx1"/>
                    </a:solidFill>
                  </a:rPr>
                  <a:t> yeni </a:t>
                </a:r>
                <a:r>
                  <a:rPr lang="en-US" dirty="0" err="1">
                    <a:solidFill>
                      <a:schemeClr val="tx1"/>
                    </a:solidFill>
                  </a:rPr>
                  <a:t>bilgileri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birleştirerek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uzun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dönem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hafızayı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oluşturur</a:t>
                </a:r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  <a:endParaRPr lang="tr-TR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Output Gate (</a:t>
                </a:r>
                <a:r>
                  <a:rPr lang="en-US" b="1" dirty="0" err="1">
                    <a:solidFill>
                      <a:schemeClr val="tx1"/>
                    </a:solidFill>
                  </a:rPr>
                  <a:t>Çıkış</a:t>
                </a:r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</a:rPr>
                  <a:t>Kapısı</a:t>
                </a:r>
                <a:r>
                  <a:rPr lang="en-US" b="1" dirty="0">
                    <a:solidFill>
                      <a:schemeClr val="tx1"/>
                    </a:solidFill>
                  </a:rPr>
                  <a:t>):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Hücre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durumundan</a:t>
                </a:r>
                <a:r>
                  <a:rPr lang="en-US" dirty="0">
                    <a:solidFill>
                      <a:schemeClr val="tx1"/>
                    </a:solidFill>
                  </a:rPr>
                  <a:t> hangi </a:t>
                </a:r>
                <a:r>
                  <a:rPr lang="en-US" dirty="0" err="1">
                    <a:solidFill>
                      <a:schemeClr val="tx1"/>
                    </a:solidFill>
                  </a:rPr>
                  <a:t>bilgilerin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çıktı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olarak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kullanılacağını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belirler</a:t>
                </a:r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  <a:endParaRPr lang="tr-TR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Hidden State (</a:t>
                </a:r>
                <a:r>
                  <a:rPr lang="en-US" b="1" dirty="0" err="1">
                    <a:solidFill>
                      <a:schemeClr val="tx1"/>
                    </a:solidFill>
                  </a:rPr>
                  <a:t>Gizli</a:t>
                </a:r>
                <a:r>
                  <a:rPr lang="en-US" b="1" dirty="0">
                    <a:solidFill>
                      <a:schemeClr val="tx1"/>
                    </a:solidFill>
                  </a:rPr>
                  <a:t> Durum):</a:t>
                </a:r>
                <a:r>
                  <a:rPr lang="en-US" dirty="0">
                    <a:solidFill>
                      <a:schemeClr val="tx1"/>
                    </a:solidFill>
                  </a:rPr>
                  <a:t> Bir </a:t>
                </a:r>
                <a:r>
                  <a:rPr lang="en-US" dirty="0" err="1">
                    <a:solidFill>
                      <a:schemeClr val="tx1"/>
                    </a:solidFill>
                  </a:rPr>
                  <a:t>sonraki</a:t>
                </a:r>
                <a:r>
                  <a:rPr lang="en-US" dirty="0">
                    <a:solidFill>
                      <a:schemeClr val="tx1"/>
                    </a:solidFill>
                  </a:rPr>
                  <a:t> zaman </a:t>
                </a:r>
                <a:r>
                  <a:rPr lang="en-US" dirty="0" err="1">
                    <a:solidFill>
                      <a:schemeClr val="tx1"/>
                    </a:solidFill>
                  </a:rPr>
                  <a:t>adımına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aktarılan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bilgiyi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temsil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eder</a:t>
                </a:r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  <a:endParaRPr lang="tr-TR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LSTM, </a:t>
                </a:r>
                <a:r>
                  <a:rPr lang="en-US" dirty="0" err="1">
                    <a:solidFill>
                      <a:schemeClr val="tx1"/>
                    </a:solidFill>
                  </a:rPr>
                  <a:t>hücre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durumu</a:t>
                </a:r>
                <a:r>
                  <a:rPr lang="en-US" dirty="0">
                    <a:solidFill>
                      <a:schemeClr val="tx1"/>
                    </a:solidFill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dirty="0">
                    <a:solidFill>
                      <a:schemeClr val="tx1"/>
                    </a:solidFill>
                  </a:rPr>
                  <a:t>) </a:t>
                </a:r>
                <a:r>
                  <a:rPr lang="en-US" dirty="0" err="1">
                    <a:solidFill>
                      <a:schemeClr val="tx1"/>
                    </a:solidFill>
                  </a:rPr>
                  <a:t>ve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gizli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durumu</a:t>
                </a:r>
                <a:r>
                  <a:rPr lang="en-US" dirty="0">
                    <a:solidFill>
                      <a:schemeClr val="tx1"/>
                    </a:solidFill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dirty="0">
                    <a:solidFill>
                      <a:schemeClr val="tx1"/>
                    </a:solidFill>
                  </a:rPr>
                  <a:t>) </a:t>
                </a:r>
                <a:r>
                  <a:rPr lang="en-US" dirty="0">
                    <a:solidFill>
                      <a:schemeClr val="tx1"/>
                    </a:solidFill>
                  </a:rPr>
                  <a:t>zaman </a:t>
                </a:r>
                <a:r>
                  <a:rPr lang="en-US" dirty="0" err="1">
                    <a:solidFill>
                      <a:schemeClr val="tx1"/>
                    </a:solidFill>
                  </a:rPr>
                  <a:t>boyunca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taşıyarak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geçmiş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doluluk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verilerindeki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örüntüleri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öğrenir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ve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gelecekteki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otopark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doluluk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oranlarını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tahmin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eder</a:t>
                </a:r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BF9DAF-0890-F06F-AC23-400D2013E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85133"/>
                <a:ext cx="8129647" cy="5909310"/>
              </a:xfrm>
              <a:prstGeom prst="rect">
                <a:avLst/>
              </a:prstGeom>
              <a:blipFill>
                <a:blip r:embed="rId2"/>
                <a:stretch>
                  <a:fillRect l="-468" t="-428" b="-642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3199AE90-858D-FAA9-E8FD-D78B90F87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770" y="2329453"/>
            <a:ext cx="4200829" cy="2199094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888F75A-4942-CA67-0610-A883567D834B}"/>
              </a:ext>
            </a:extLst>
          </p:cNvPr>
          <p:cNvSpPr txBox="1">
            <a:spLocks/>
          </p:cNvSpPr>
          <p:nvPr/>
        </p:nvSpPr>
        <p:spPr>
          <a:xfrm>
            <a:off x="9140971" y="63301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17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60196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75C0029-4C4F-A72C-3B3A-AAB3B84BF8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633" b="35011"/>
          <a:stretch>
            <a:fillRect/>
          </a:stretch>
        </p:blipFill>
        <p:spPr>
          <a:xfrm>
            <a:off x="3521597" y="417781"/>
            <a:ext cx="4830706" cy="32087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04B958-2BA7-8AAD-58F1-01E875321C66}"/>
              </a:ext>
            </a:extLst>
          </p:cNvPr>
          <p:cNvSpPr txBox="1"/>
          <p:nvPr/>
        </p:nvSpPr>
        <p:spPr>
          <a:xfrm>
            <a:off x="1019013" y="3781349"/>
            <a:ext cx="9105375" cy="2125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LSTM </a:t>
            </a:r>
            <a:r>
              <a:rPr lang="en-US" dirty="0" err="1"/>
              <a:t>modeli</a:t>
            </a:r>
            <a:r>
              <a:rPr lang="en-US" dirty="0"/>
              <a:t>, </a:t>
            </a:r>
            <a:r>
              <a:rPr lang="en-US" dirty="0" err="1"/>
              <a:t>unutma</a:t>
            </a:r>
            <a:r>
              <a:rPr lang="en-US" dirty="0"/>
              <a:t> (ft​), </a:t>
            </a:r>
            <a:r>
              <a:rPr lang="en-US" dirty="0" err="1"/>
              <a:t>giriş</a:t>
            </a:r>
            <a:r>
              <a:rPr lang="en-US" dirty="0"/>
              <a:t> (it)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çıkış</a:t>
            </a:r>
            <a:r>
              <a:rPr lang="en-US" dirty="0"/>
              <a:t> (</a:t>
            </a:r>
            <a:r>
              <a:rPr lang="en-US" dirty="0" err="1"/>
              <a:t>ot</a:t>
            </a:r>
            <a:r>
              <a:rPr lang="en-US" dirty="0"/>
              <a:t>​) </a:t>
            </a:r>
            <a:r>
              <a:rPr lang="en-US" dirty="0" err="1"/>
              <a:t>kapıları</a:t>
            </a:r>
            <a:r>
              <a:rPr lang="en-US" dirty="0"/>
              <a:t> </a:t>
            </a:r>
            <a:r>
              <a:rPr lang="en-US" dirty="0" err="1"/>
              <a:t>aracılığıyla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akışını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Hücre</a:t>
            </a:r>
            <a:r>
              <a:rPr lang="en-US" dirty="0"/>
              <a:t> </a:t>
            </a:r>
            <a:r>
              <a:rPr lang="en-US" dirty="0" err="1"/>
              <a:t>durumu</a:t>
            </a:r>
            <a:r>
              <a:rPr lang="en-US" dirty="0"/>
              <a:t> (</a:t>
            </a:r>
            <a:r>
              <a:rPr lang="en-US" dirty="0" err="1"/>
              <a:t>ct</a:t>
            </a:r>
            <a:r>
              <a:rPr lang="en-US" dirty="0"/>
              <a:t>​) </a:t>
            </a:r>
            <a:r>
              <a:rPr lang="en-US" dirty="0" err="1"/>
              <a:t>uzun</a:t>
            </a:r>
            <a:r>
              <a:rPr lang="en-US" dirty="0"/>
              <a:t> </a:t>
            </a:r>
            <a:r>
              <a:rPr lang="en-US" dirty="0" err="1"/>
              <a:t>dönem</a:t>
            </a:r>
            <a:r>
              <a:rPr lang="en-US" dirty="0"/>
              <a:t> </a:t>
            </a:r>
            <a:r>
              <a:rPr lang="en-US" dirty="0" err="1"/>
              <a:t>hafızayı</a:t>
            </a:r>
            <a:r>
              <a:rPr lang="en-US" dirty="0"/>
              <a:t> </a:t>
            </a:r>
            <a:r>
              <a:rPr lang="en-US" dirty="0" err="1"/>
              <a:t>temsil</a:t>
            </a:r>
            <a:r>
              <a:rPr lang="en-US" dirty="0"/>
              <a:t> </a:t>
            </a:r>
            <a:r>
              <a:rPr lang="en-US" dirty="0" err="1"/>
              <a:t>ederken</a:t>
            </a:r>
            <a:r>
              <a:rPr lang="en-US" dirty="0"/>
              <a:t>, </a:t>
            </a:r>
            <a:r>
              <a:rPr lang="en-US" dirty="0" err="1"/>
              <a:t>gizli</a:t>
            </a:r>
            <a:r>
              <a:rPr lang="en-US" dirty="0"/>
              <a:t> durum (</a:t>
            </a:r>
            <a:r>
              <a:rPr lang="en-US" dirty="0" err="1"/>
              <a:t>ht</a:t>
            </a:r>
            <a:r>
              <a:rPr lang="en-US" dirty="0"/>
              <a:t>​) </a:t>
            </a:r>
            <a:r>
              <a:rPr lang="en-US" dirty="0" err="1"/>
              <a:t>modelin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çıktısını</a:t>
            </a:r>
            <a:r>
              <a:rPr lang="en-US" dirty="0"/>
              <a:t> </a:t>
            </a:r>
            <a:r>
              <a:rPr lang="en-US" dirty="0" err="1"/>
              <a:t>oluşturur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 </a:t>
            </a:r>
            <a:r>
              <a:rPr lang="en-US" dirty="0" err="1"/>
              <a:t>yapı</a:t>
            </a:r>
            <a:r>
              <a:rPr lang="en-US" dirty="0"/>
              <a:t> </a:t>
            </a:r>
            <a:r>
              <a:rPr lang="en-US" dirty="0" err="1"/>
              <a:t>sayesinde</a:t>
            </a:r>
            <a:r>
              <a:rPr lang="en-US" dirty="0"/>
              <a:t> </a:t>
            </a:r>
            <a:r>
              <a:rPr lang="en-US" dirty="0" err="1"/>
              <a:t>geçmiş</a:t>
            </a:r>
            <a:r>
              <a:rPr lang="en-US" dirty="0"/>
              <a:t> </a:t>
            </a:r>
            <a:r>
              <a:rPr lang="en-US" dirty="0" err="1"/>
              <a:t>otopark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örüntüleri</a:t>
            </a:r>
            <a:r>
              <a:rPr lang="en-US" dirty="0"/>
              <a:t> </a:t>
            </a:r>
            <a:r>
              <a:rPr lang="en-US" dirty="0" err="1"/>
              <a:t>öğrenilerek</a:t>
            </a:r>
            <a:r>
              <a:rPr lang="en-US" dirty="0"/>
              <a:t> </a:t>
            </a:r>
            <a:r>
              <a:rPr lang="en-US" dirty="0" err="1"/>
              <a:t>gelecekteki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oranları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edilir</a:t>
            </a:r>
            <a:r>
              <a:rPr lang="en-US" dirty="0"/>
              <a:t>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A208634-7F1C-EE08-80FB-437B1B4E2A4B}"/>
              </a:ext>
            </a:extLst>
          </p:cNvPr>
          <p:cNvSpPr txBox="1">
            <a:spLocks/>
          </p:cNvSpPr>
          <p:nvPr/>
        </p:nvSpPr>
        <p:spPr>
          <a:xfrm>
            <a:off x="9140971" y="63301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18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48857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EFA0F4-A46A-44A7-0821-EC5D2689D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056" y="1245793"/>
            <a:ext cx="9654824" cy="30568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92E9EB-5A2E-DCED-0C5B-F5B992C1A67B}"/>
              </a:ext>
            </a:extLst>
          </p:cNvPr>
          <p:cNvSpPr txBox="1"/>
          <p:nvPr/>
        </p:nvSpPr>
        <p:spPr>
          <a:xfrm>
            <a:off x="2000250" y="272534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LSTM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Tahmin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Performansının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Değerlendirilmesi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8CC41-EC15-5F01-8040-92ED0F9DE567}"/>
              </a:ext>
            </a:extLst>
          </p:cNvPr>
          <p:cNvSpPr txBox="1"/>
          <p:nvPr/>
        </p:nvSpPr>
        <p:spPr>
          <a:xfrm>
            <a:off x="492926" y="4458602"/>
            <a:ext cx="11206147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Sol </a:t>
            </a:r>
            <a:r>
              <a:rPr lang="en-US" dirty="0" err="1"/>
              <a:t>grafikte</a:t>
            </a:r>
            <a:r>
              <a:rPr lang="en-US" dirty="0"/>
              <a:t>, model </a:t>
            </a:r>
            <a:r>
              <a:rPr lang="en-US" dirty="0" err="1"/>
              <a:t>tahminleri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karşılaştırılmıştır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Noktaların</a:t>
            </a:r>
            <a:r>
              <a:rPr lang="en-US" dirty="0"/>
              <a:t> </a:t>
            </a:r>
            <a:r>
              <a:rPr lang="en-US" dirty="0" err="1"/>
              <a:t>referans</a:t>
            </a:r>
            <a:r>
              <a:rPr lang="en-US" dirty="0"/>
              <a:t> </a:t>
            </a:r>
            <a:r>
              <a:rPr lang="en-US" dirty="0" err="1"/>
              <a:t>çizgisine</a:t>
            </a:r>
            <a:r>
              <a:rPr lang="en-US" dirty="0"/>
              <a:t> </a:t>
            </a:r>
            <a:r>
              <a:rPr lang="en-US" dirty="0" err="1"/>
              <a:t>yakın</a:t>
            </a:r>
            <a:r>
              <a:rPr lang="en-US" dirty="0"/>
              <a:t> </a:t>
            </a:r>
            <a:r>
              <a:rPr lang="en-US" dirty="0" err="1"/>
              <a:t>olması</a:t>
            </a:r>
            <a:r>
              <a:rPr lang="en-US" dirty="0"/>
              <a:t>, </a:t>
            </a:r>
            <a:r>
              <a:rPr lang="en-US" dirty="0" err="1"/>
              <a:t>modelin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eğilimleri</a:t>
            </a:r>
            <a:r>
              <a:rPr lang="en-US" dirty="0"/>
              <a:t> </a:t>
            </a:r>
            <a:r>
              <a:rPr lang="en-US" dirty="0" err="1"/>
              <a:t>başarılı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yakaladığını</a:t>
            </a:r>
            <a:r>
              <a:rPr lang="en-US" dirty="0"/>
              <a:t> </a:t>
            </a:r>
            <a:r>
              <a:rPr lang="en-US" dirty="0" err="1"/>
              <a:t>göstermektedir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Sağ</a:t>
            </a:r>
            <a:r>
              <a:rPr lang="en-US" dirty="0"/>
              <a:t> </a:t>
            </a:r>
            <a:r>
              <a:rPr lang="en-US" dirty="0" err="1"/>
              <a:t>grafikte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edilen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oranları</a:t>
            </a:r>
            <a:r>
              <a:rPr lang="en-US" dirty="0"/>
              <a:t> zaman </a:t>
            </a:r>
            <a:r>
              <a:rPr lang="en-US" dirty="0" err="1"/>
              <a:t>ekseninde</a:t>
            </a:r>
            <a:r>
              <a:rPr lang="en-US" dirty="0"/>
              <a:t> </a:t>
            </a:r>
            <a:r>
              <a:rPr lang="en-US" dirty="0" err="1"/>
              <a:t>karşılaştırılmıştır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LSTM </a:t>
            </a:r>
            <a:r>
              <a:rPr lang="en-US" dirty="0" err="1"/>
              <a:t>modeli</a:t>
            </a:r>
            <a:r>
              <a:rPr lang="en-US" dirty="0"/>
              <a:t>,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verilerindeki</a:t>
            </a:r>
            <a:r>
              <a:rPr lang="en-US" dirty="0"/>
              <a:t> </a:t>
            </a:r>
            <a:r>
              <a:rPr lang="en-US" dirty="0" err="1"/>
              <a:t>periyodik</a:t>
            </a:r>
            <a:r>
              <a:rPr lang="en-US" dirty="0"/>
              <a:t> </a:t>
            </a:r>
            <a:r>
              <a:rPr lang="en-US" dirty="0" err="1"/>
              <a:t>değişimleri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genel</a:t>
            </a:r>
            <a:r>
              <a:rPr lang="en-US" dirty="0"/>
              <a:t> </a:t>
            </a:r>
            <a:r>
              <a:rPr lang="en-US" dirty="0" err="1"/>
              <a:t>trendleri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ölçüde</a:t>
            </a:r>
            <a:r>
              <a:rPr lang="en-US" dirty="0"/>
              <a:t> </a:t>
            </a:r>
            <a:r>
              <a:rPr lang="en-US" dirty="0" err="1"/>
              <a:t>takip</a:t>
            </a:r>
            <a:r>
              <a:rPr lang="en-US" dirty="0"/>
              <a:t> </a:t>
            </a:r>
            <a:r>
              <a:rPr lang="en-US" dirty="0" err="1"/>
              <a:t>edebilmektedir</a:t>
            </a:r>
            <a:r>
              <a:rPr lang="en-US" dirty="0"/>
              <a:t>.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Sonuçlar</a:t>
            </a:r>
            <a:r>
              <a:rPr lang="en-US" dirty="0"/>
              <a:t>, </a:t>
            </a:r>
            <a:r>
              <a:rPr lang="en-US" dirty="0" err="1"/>
              <a:t>modelin</a:t>
            </a:r>
            <a:r>
              <a:rPr lang="en-US" dirty="0"/>
              <a:t> </a:t>
            </a:r>
            <a:r>
              <a:rPr lang="en-US" dirty="0" err="1"/>
              <a:t>kısa</a:t>
            </a:r>
            <a:r>
              <a:rPr lang="en-US" dirty="0"/>
              <a:t> </a:t>
            </a:r>
            <a:r>
              <a:rPr lang="en-US" dirty="0" err="1"/>
              <a:t>vadeli</a:t>
            </a:r>
            <a:r>
              <a:rPr lang="en-US" dirty="0"/>
              <a:t> </a:t>
            </a:r>
            <a:r>
              <a:rPr lang="en-US" dirty="0" err="1"/>
              <a:t>otopark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tahmini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kullanılabilir</a:t>
            </a:r>
            <a:r>
              <a:rPr lang="en-US" dirty="0"/>
              <a:t> </a:t>
            </a:r>
            <a:r>
              <a:rPr lang="en-US" dirty="0" err="1"/>
              <a:t>performans</a:t>
            </a:r>
            <a:r>
              <a:rPr lang="en-US" dirty="0"/>
              <a:t> </a:t>
            </a:r>
            <a:r>
              <a:rPr lang="en-US" dirty="0" err="1"/>
              <a:t>sergilediğini</a:t>
            </a:r>
            <a:r>
              <a:rPr lang="en-US" dirty="0"/>
              <a:t> </a:t>
            </a:r>
            <a:r>
              <a:rPr lang="en-US" dirty="0" err="1"/>
              <a:t>göstermektedir</a:t>
            </a:r>
            <a:r>
              <a:rPr lang="en-US" dirty="0"/>
              <a:t>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68FA968-BB2F-4DBD-64B1-0A401B31E790}"/>
              </a:ext>
            </a:extLst>
          </p:cNvPr>
          <p:cNvSpPr txBox="1">
            <a:spLocks/>
          </p:cNvSpPr>
          <p:nvPr/>
        </p:nvSpPr>
        <p:spPr>
          <a:xfrm>
            <a:off x="9140971" y="63301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19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49970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D2E839-DD08-652C-A301-4B6052E0FCA9}"/>
              </a:ext>
            </a:extLst>
          </p:cNvPr>
          <p:cNvSpPr txBox="1"/>
          <p:nvPr/>
        </p:nvSpPr>
        <p:spPr>
          <a:xfrm>
            <a:off x="2630837" y="164046"/>
            <a:ext cx="7629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PPO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Algoritmasının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Matematiksel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Temeli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760672A-1A0A-0FC0-996C-6C3AE22C96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15" t="39322" r="4577" b="30734"/>
          <a:stretch>
            <a:fillRect/>
          </a:stretch>
        </p:blipFill>
        <p:spPr>
          <a:xfrm>
            <a:off x="578603" y="1171821"/>
            <a:ext cx="6107948" cy="11366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2D3916E-B302-05B4-557B-7123A304EFB0}"/>
                  </a:ext>
                </a:extLst>
              </p:cNvPr>
              <p:cNvSpPr txBox="1"/>
              <p:nvPr/>
            </p:nvSpPr>
            <p:spPr>
              <a:xfrm>
                <a:off x="405219" y="3429000"/>
                <a:ext cx="10232756" cy="30181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1" i="0" dirty="0">
                    <a:solidFill>
                      <a:schemeClr val="tx1"/>
                    </a:solidFill>
                    <a:effectLst/>
                    <a:ea typeface="Calibri" panose="020F0502020204030204" pitchFamily="34" charset="0"/>
                    <a:cs typeface="Calibri" panose="020F0502020204030204" pitchFamily="34" charset="0"/>
                  </a:rPr>
                  <a:t>PPO’nun </a:t>
                </a:r>
                <a:r>
                  <a:rPr lang="tr-TR" sz="2000" b="1" dirty="0">
                    <a:solidFill>
                      <a:schemeClr val="tx1"/>
                    </a:solidFill>
                    <a:ea typeface="Calibri" panose="020F0502020204030204" pitchFamily="34" charset="0"/>
                    <a:cs typeface="Calibri" panose="020F0502020204030204" pitchFamily="34" charset="0"/>
                  </a:rPr>
                  <a:t>K</a:t>
                </a:r>
                <a:r>
                  <a:rPr lang="en-US" sz="2000" b="1" i="0" dirty="0" err="1">
                    <a:solidFill>
                      <a:schemeClr val="tx1"/>
                    </a:solidFill>
                    <a:effectLst/>
                    <a:ea typeface="Calibri" panose="020F0502020204030204" pitchFamily="34" charset="0"/>
                    <a:cs typeface="Calibri" panose="020F0502020204030204" pitchFamily="34" charset="0"/>
                  </a:rPr>
                  <a:t>esik</a:t>
                </a:r>
                <a:r>
                  <a:rPr lang="en-US" sz="2000" b="1" i="0" dirty="0">
                    <a:solidFill>
                      <a:schemeClr val="tx1"/>
                    </a:solidFill>
                    <a:effectLst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tr-TR" sz="2000" b="1" dirty="0">
                    <a:solidFill>
                      <a:schemeClr val="tx1"/>
                    </a:solidFill>
                    <a:ea typeface="Calibri" panose="020F0502020204030204" pitchFamily="34" charset="0"/>
                    <a:cs typeface="Calibri" panose="020F0502020204030204" pitchFamily="34" charset="0"/>
                  </a:rPr>
                  <a:t>S</a:t>
                </a:r>
                <a:r>
                  <a:rPr lang="en-US" sz="2000" b="1" i="0" dirty="0" err="1">
                    <a:solidFill>
                      <a:schemeClr val="tx1"/>
                    </a:solidFill>
                    <a:effectLst/>
                    <a:ea typeface="Calibri" panose="020F0502020204030204" pitchFamily="34" charset="0"/>
                    <a:cs typeface="Calibri" panose="020F0502020204030204" pitchFamily="34" charset="0"/>
                  </a:rPr>
                  <a:t>urrogate</a:t>
                </a:r>
                <a:r>
                  <a:rPr lang="en-US" sz="2000" b="1" i="0" dirty="0">
                    <a:solidFill>
                      <a:schemeClr val="tx1"/>
                    </a:solidFill>
                    <a:effectLst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tr-TR" sz="2000" b="1" dirty="0">
                    <a:solidFill>
                      <a:schemeClr val="tx1"/>
                    </a:solidFill>
                    <a:ea typeface="Calibri" panose="020F0502020204030204" pitchFamily="34" charset="0"/>
                    <a:cs typeface="Calibri" panose="020F0502020204030204" pitchFamily="34" charset="0"/>
                  </a:rPr>
                  <a:t>H</a:t>
                </a:r>
                <a:r>
                  <a:rPr lang="en-US" sz="2000" b="1" i="0" dirty="0" err="1">
                    <a:solidFill>
                      <a:schemeClr val="tx1"/>
                    </a:solidFill>
                    <a:effectLst/>
                    <a:ea typeface="Calibri" panose="020F0502020204030204" pitchFamily="34" charset="0"/>
                    <a:cs typeface="Calibri" panose="020F0502020204030204" pitchFamily="34" charset="0"/>
                  </a:rPr>
                  <a:t>edefi</a:t>
                </a:r>
                <a:r>
                  <a:rPr lang="tr-TR" sz="2000" b="1" i="0" dirty="0">
                    <a:solidFill>
                      <a:schemeClr val="tx1"/>
                    </a:solidFill>
                    <a:effectLst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PPO, yeni </a:t>
                </a:r>
                <a:r>
                  <a:rPr lang="en-US" dirty="0" err="1">
                    <a:solidFill>
                      <a:schemeClr val="tx1"/>
                    </a:solidFill>
                  </a:rPr>
                  <a:t>politika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ile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eski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politika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arasındaki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olasılık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oranını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ar-AE" dirty="0">
                    <a:solidFill>
                      <a:schemeClr val="tx1"/>
                    </a:solidFill>
                  </a:rPr>
                  <a:t>)</a:t>
                </a:r>
                <a:r>
                  <a:rPr lang="en-US" dirty="0">
                    <a:solidFill>
                      <a:schemeClr val="tx1"/>
                    </a:solidFill>
                  </a:rPr>
                  <a:t>hesaplar. </a:t>
                </a:r>
                <a:endParaRPr lang="tr-TR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 err="1">
                    <a:solidFill>
                      <a:schemeClr val="tx1"/>
                    </a:solidFill>
                  </a:rPr>
                  <a:t>Ajanın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yaptığı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hareketin</a:t>
                </a:r>
                <a:r>
                  <a:rPr lang="en-US" dirty="0">
                    <a:solidFill>
                      <a:schemeClr val="tx1"/>
                    </a:solidFill>
                  </a:rPr>
                  <a:t> ne </a:t>
                </a:r>
                <a:r>
                  <a:rPr lang="en-US" dirty="0" err="1">
                    <a:solidFill>
                      <a:schemeClr val="tx1"/>
                    </a:solidFill>
                  </a:rPr>
                  <a:t>kadar</a:t>
                </a:r>
                <a:r>
                  <a:rPr lang="en-US" dirty="0">
                    <a:solidFill>
                      <a:schemeClr val="tx1"/>
                    </a:solidFill>
                  </a:rPr>
                  <a:t> iyi </a:t>
                </a:r>
                <a:r>
                  <a:rPr lang="en-US" dirty="0" err="1">
                    <a:solidFill>
                      <a:schemeClr val="tx1"/>
                    </a:solidFill>
                  </a:rPr>
                  <a:t>olduğunu</a:t>
                </a:r>
                <a:r>
                  <a:rPr lang="en-US" dirty="0">
                    <a:solidFill>
                      <a:schemeClr val="tx1"/>
                    </a:solidFill>
                  </a:rPr>
                  <a:t> Advantage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tr-TR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tr-TR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de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ğeri </a:t>
                </a:r>
                <a:r>
                  <a:rPr lang="en-US" dirty="0" err="1">
                    <a:solidFill>
                      <a:schemeClr val="tx1"/>
                    </a:solidFill>
                  </a:rPr>
                  <a:t>ile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ölçer</a:t>
                </a:r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  <a:endParaRPr lang="tr-TR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Politika </a:t>
                </a:r>
                <a:r>
                  <a:rPr lang="en-US" dirty="0" err="1">
                    <a:solidFill>
                      <a:schemeClr val="tx1"/>
                    </a:solidFill>
                  </a:rPr>
                  <a:t>güncellemesi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sırasında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çok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büyük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değişiklikler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yapılmasını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engellemek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için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b="1" dirty="0">
                    <a:solidFill>
                      <a:schemeClr val="tx1"/>
                    </a:solidFill>
                  </a:rPr>
                  <a:t>clip()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mekanizmasını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kullanır</a:t>
                </a:r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  <a:endParaRPr lang="tr-TR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Böylece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öğrenme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süreci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daha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kararlı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ve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güvenilir</a:t>
                </a:r>
                <a:r>
                  <a:rPr lang="en-US" dirty="0">
                    <a:solidFill>
                      <a:schemeClr val="tx1"/>
                    </a:solidFill>
                  </a:rPr>
                  <a:t> hale </a:t>
                </a:r>
                <a:r>
                  <a:rPr lang="en-US" dirty="0" err="1">
                    <a:solidFill>
                      <a:schemeClr val="tx1"/>
                    </a:solidFill>
                  </a:rPr>
                  <a:t>gelir</a:t>
                </a:r>
                <a:r>
                  <a:rPr lang="en-US" dirty="0">
                    <a:solidFill>
                      <a:schemeClr val="tx1"/>
                    </a:solidFill>
                  </a:rPr>
                  <a:t>. PPO, ani </a:t>
                </a:r>
                <a:r>
                  <a:rPr lang="en-US" dirty="0" err="1">
                    <a:solidFill>
                      <a:schemeClr val="tx1"/>
                    </a:solidFill>
                  </a:rPr>
                  <a:t>politika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değişimlerini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önleyerek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daha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yüksek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başarı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oranı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elde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eder</a:t>
                </a:r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  <a:r>
                  <a:rPr lang="tr-TR" b="1" i="0" dirty="0">
                    <a:solidFill>
                      <a:schemeClr val="tx1"/>
                    </a:solidFill>
                    <a:effectLst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en-US" b="1" dirty="0">
                  <a:solidFill>
                    <a:schemeClr val="tx1"/>
                  </a:solidFill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2D3916E-B302-05B4-557B-7123A304E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219" y="3429000"/>
                <a:ext cx="10232756" cy="3018199"/>
              </a:xfrm>
              <a:prstGeom prst="rect">
                <a:avLst/>
              </a:prstGeom>
              <a:blipFill>
                <a:blip r:embed="rId3"/>
                <a:stretch>
                  <a:fillRect l="-620" r="-124" b="-2101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16DEAF9-3FEA-6E72-F63B-F05DB12E6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984" y="968171"/>
            <a:ext cx="4141797" cy="2895797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6BF3729-4957-8472-D741-DF5D23D8666C}"/>
              </a:ext>
            </a:extLst>
          </p:cNvPr>
          <p:cNvSpPr txBox="1">
            <a:spLocks/>
          </p:cNvSpPr>
          <p:nvPr/>
        </p:nvSpPr>
        <p:spPr>
          <a:xfrm>
            <a:off x="9140971" y="63301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20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79180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7E02D6-0934-1B3C-9876-D10EA7D9AB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84" t="43824" r="5551" b="26339"/>
          <a:stretch>
            <a:fillRect/>
          </a:stretch>
        </p:blipFill>
        <p:spPr>
          <a:xfrm>
            <a:off x="2267918" y="1363850"/>
            <a:ext cx="7656163" cy="13940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A89CF0-9F7B-0F62-51B1-2D517DC02B5C}"/>
              </a:ext>
            </a:extLst>
          </p:cNvPr>
          <p:cNvSpPr txBox="1"/>
          <p:nvPr/>
        </p:nvSpPr>
        <p:spPr>
          <a:xfrm>
            <a:off x="2267918" y="365524"/>
            <a:ext cx="812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 Clip: </a:t>
            </a:r>
            <a:r>
              <a:rPr lang="tr-TR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G</a:t>
            </a:r>
            <a:r>
              <a:rPr lang="en-US" sz="3200" b="1" i="0" dirty="0" err="1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üncellemeyi</a:t>
            </a:r>
            <a:r>
              <a:rPr lang="en-US" sz="3200" b="1" i="0" dirty="0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 </a:t>
            </a:r>
            <a:r>
              <a:rPr lang="tr-TR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G</a:t>
            </a:r>
            <a:r>
              <a:rPr lang="en-US" sz="3200" b="1" i="0" dirty="0" err="1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üvenli</a:t>
            </a:r>
            <a:r>
              <a:rPr lang="en-US" sz="3200" b="1" i="0" dirty="0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 </a:t>
            </a:r>
            <a:r>
              <a:rPr lang="tr-TR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A</a:t>
            </a:r>
            <a:r>
              <a:rPr lang="en-US" sz="3200" b="1" i="0" dirty="0" err="1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ralıkta</a:t>
            </a:r>
            <a:r>
              <a:rPr lang="en-US" sz="3200" b="1" i="0" dirty="0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 </a:t>
            </a:r>
            <a:r>
              <a:rPr lang="tr-TR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T</a:t>
            </a:r>
            <a:r>
              <a:rPr lang="en-US" sz="3200" b="1" i="0" dirty="0" err="1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utmak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C4EEEB-0881-47D1-6068-E8C45E0E31A1}"/>
                  </a:ext>
                </a:extLst>
              </p:cNvPr>
              <p:cNvSpPr txBox="1"/>
              <p:nvPr/>
            </p:nvSpPr>
            <p:spPr>
              <a:xfrm>
                <a:off x="919565" y="3212164"/>
                <a:ext cx="10821691" cy="25423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clip() </a:t>
                </a:r>
                <a:r>
                  <a:rPr lang="en-US" b="1" dirty="0" err="1">
                    <a:solidFill>
                      <a:schemeClr val="tx1"/>
                    </a:solidFill>
                  </a:rPr>
                  <a:t>fonksiyonu</a:t>
                </a:r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:r>
                  <a:rPr lang="en-US" dirty="0" err="1">
                    <a:solidFill>
                      <a:schemeClr val="tx1"/>
                    </a:solidFill>
                  </a:rPr>
                  <a:t>politika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oranının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belirli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sınırlar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içinde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kalmasını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sağlar</a:t>
                </a:r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  <a:endParaRPr lang="tr-TR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 err="1">
                    <a:solidFill>
                      <a:schemeClr val="tx1"/>
                    </a:solidFill>
                  </a:rPr>
                  <a:t>Genellikle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–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0.2</m:t>
                    </m:r>
                  </m:oMath>
                </a14:m>
                <a:r>
                  <a:rPr lang="en-US" dirty="0" err="1">
                    <a:solidFill>
                      <a:schemeClr val="tx1"/>
                    </a:solidFill>
                  </a:rPr>
                  <a:t>aralığında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seçilir</a:t>
                </a:r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  <a:endParaRPr lang="tr-TR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 err="1">
                    <a:solidFill>
                      <a:schemeClr val="tx1"/>
                    </a:solidFill>
                  </a:rPr>
                  <a:t>Avantaj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pozitif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olduğunda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politikanın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aşırı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büyümesi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engellenir</a:t>
                </a:r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  <a:r>
                  <a:rPr lang="en-US" dirty="0" err="1">
                    <a:solidFill>
                      <a:schemeClr val="tx1"/>
                    </a:solidFill>
                  </a:rPr>
                  <a:t>Avantaj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negatif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olduğunda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politikanın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aşırı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küçülmesi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önlenir</a:t>
                </a:r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  <a:endParaRPr lang="tr-TR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Bu </a:t>
                </a:r>
                <a:r>
                  <a:rPr lang="en-US" dirty="0" err="1">
                    <a:solidFill>
                      <a:schemeClr val="tx1"/>
                    </a:solidFill>
                  </a:rPr>
                  <a:t>mekanizma</a:t>
                </a:r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:r>
                  <a:rPr lang="en-US" dirty="0" err="1">
                    <a:solidFill>
                      <a:schemeClr val="tx1"/>
                    </a:solidFill>
                  </a:rPr>
                  <a:t>büyük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ve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kontrolsüz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güncellemeleri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sınırlandırır</a:t>
                </a:r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  <a:r>
                  <a:rPr lang="en-US" dirty="0" err="1">
                    <a:solidFill>
                      <a:schemeClr val="tx1"/>
                    </a:solidFill>
                  </a:rPr>
                  <a:t>Sonuç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olarak</a:t>
                </a:r>
                <a:r>
                  <a:rPr lang="en-US" dirty="0">
                    <a:solidFill>
                      <a:schemeClr val="tx1"/>
                    </a:solidFill>
                  </a:rPr>
                  <a:t> PPO </a:t>
                </a:r>
                <a:r>
                  <a:rPr lang="en-US" dirty="0" err="1">
                    <a:solidFill>
                      <a:schemeClr val="tx1"/>
                    </a:solidFill>
                  </a:rPr>
                  <a:t>daha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kararlı</a:t>
                </a:r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:r>
                  <a:rPr lang="en-US" dirty="0" err="1">
                    <a:solidFill>
                      <a:schemeClr val="tx1"/>
                    </a:solidFill>
                  </a:rPr>
                  <a:t>güvenli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ve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dengeli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bir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öğrenme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süreci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gerçekleştirir</a:t>
                </a:r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C4EEEB-0881-47D1-6068-E8C45E0E3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565" y="3212164"/>
                <a:ext cx="10821691" cy="2542363"/>
              </a:xfrm>
              <a:prstGeom prst="rect">
                <a:avLst/>
              </a:prstGeom>
              <a:blipFill>
                <a:blip r:embed="rId4"/>
                <a:stretch>
                  <a:fillRect l="-352" r="-234" b="-2475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07AABEC-8D3F-5282-A00D-A2C9A9A1B451}"/>
              </a:ext>
            </a:extLst>
          </p:cNvPr>
          <p:cNvSpPr txBox="1">
            <a:spLocks/>
          </p:cNvSpPr>
          <p:nvPr/>
        </p:nvSpPr>
        <p:spPr>
          <a:xfrm>
            <a:off x="9140971" y="63301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21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76552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68C250-197D-F998-A4B3-CB46DA807E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13" t="35254" r="5042" b="19322"/>
          <a:stretch>
            <a:fillRect/>
          </a:stretch>
        </p:blipFill>
        <p:spPr>
          <a:xfrm>
            <a:off x="3042834" y="1363852"/>
            <a:ext cx="6395635" cy="17929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5965FA-0DE9-8B9A-A8D1-BA7E13E01D79}"/>
              </a:ext>
            </a:extLst>
          </p:cNvPr>
          <p:cNvSpPr txBox="1"/>
          <p:nvPr/>
        </p:nvSpPr>
        <p:spPr>
          <a:xfrm>
            <a:off x="2568844" y="319029"/>
            <a:ext cx="86364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Tam PPO </a:t>
            </a:r>
            <a:r>
              <a:rPr lang="tr-TR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K</a:t>
            </a:r>
            <a:r>
              <a:rPr lang="en-US" sz="3200" b="1" i="0" dirty="0" err="1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aybı</a:t>
            </a:r>
            <a:r>
              <a:rPr lang="en-US" sz="3200" b="1" i="0" dirty="0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: </a:t>
            </a:r>
            <a:r>
              <a:rPr lang="tr-TR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P</a:t>
            </a:r>
            <a:r>
              <a:rPr lang="en-US" sz="3200" b="1" i="0" dirty="0" err="1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olitika</a:t>
            </a:r>
            <a:r>
              <a:rPr lang="en-US" sz="3200" b="1" i="0" dirty="0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 + </a:t>
            </a:r>
            <a:r>
              <a:rPr lang="tr-TR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D</a:t>
            </a:r>
            <a:r>
              <a:rPr lang="en-US" sz="3200" b="1" i="0" dirty="0" err="1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eğer</a:t>
            </a:r>
            <a:r>
              <a:rPr lang="en-US" sz="3200" b="1" i="0" dirty="0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 + </a:t>
            </a:r>
            <a:r>
              <a:rPr lang="tr-TR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E</a:t>
            </a:r>
            <a:r>
              <a:rPr lang="en-US" sz="3200" b="1" i="0" dirty="0" err="1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ntropi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EAF10F-1310-8B1D-11A8-25FB23AD1169}"/>
                  </a:ext>
                </a:extLst>
              </p:cNvPr>
              <p:cNvSpPr txBox="1"/>
              <p:nvPr/>
            </p:nvSpPr>
            <p:spPr>
              <a:xfrm>
                <a:off x="729713" y="3622608"/>
                <a:ext cx="9096213" cy="25437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PPO'nun </a:t>
                </a:r>
                <a:r>
                  <a:rPr lang="en-US" dirty="0" err="1">
                    <a:solidFill>
                      <a:schemeClr val="tx1"/>
                    </a:solidFill>
                  </a:rPr>
                  <a:t>toplam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kayıp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fonksiyonu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üç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bileşenden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oluşur</a:t>
                </a:r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  <a:endParaRPr lang="tr-TR" i="1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𝐶𝐿𝐼𝑃</m:t>
                        </m:r>
                      </m:sup>
                    </m:sSup>
                  </m:oMath>
                </a14:m>
                <a:r>
                  <a:rPr lang="ar-AE" dirty="0">
                    <a:solidFill>
                      <a:schemeClr val="tx1"/>
                    </a:solidFill>
                  </a:rPr>
                  <a:t>: </a:t>
                </a:r>
                <a:r>
                  <a:rPr lang="en-US" dirty="0">
                    <a:solidFill>
                      <a:schemeClr val="tx1"/>
                    </a:solidFill>
                  </a:rPr>
                  <a:t>Politika (Actor) </a:t>
                </a:r>
                <a:r>
                  <a:rPr lang="en-US" dirty="0" err="1">
                    <a:solidFill>
                      <a:schemeClr val="tx1"/>
                    </a:solidFill>
                  </a:rPr>
                  <a:t>güncellemesini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gerçekleştirir</a:t>
                </a:r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  <a:endParaRPr lang="tr-TR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𝑉𝐹</m:t>
                        </m:r>
                      </m:sup>
                    </m:sSup>
                  </m:oMath>
                </a14:m>
                <a:r>
                  <a:rPr lang="ar-AE" dirty="0">
                    <a:solidFill>
                      <a:schemeClr val="tx1"/>
                    </a:solidFill>
                  </a:rPr>
                  <a:t>: </a:t>
                </a:r>
                <a:r>
                  <a:rPr lang="en-US" dirty="0">
                    <a:solidFill>
                      <a:schemeClr val="tx1"/>
                    </a:solidFill>
                  </a:rPr>
                  <a:t>Critic </a:t>
                </a:r>
                <a:r>
                  <a:rPr lang="en-US" dirty="0" err="1">
                    <a:solidFill>
                      <a:schemeClr val="tx1"/>
                    </a:solidFill>
                  </a:rPr>
                  <a:t>ağının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değer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tahmin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hatasını</a:t>
                </a:r>
                <a:r>
                  <a:rPr lang="en-US" dirty="0">
                    <a:solidFill>
                      <a:schemeClr val="tx1"/>
                    </a:solidFill>
                  </a:rPr>
                  <a:t> minimize </a:t>
                </a:r>
                <a:r>
                  <a:rPr lang="en-US" dirty="0" err="1">
                    <a:solidFill>
                      <a:schemeClr val="tx1"/>
                    </a:solidFill>
                  </a:rPr>
                  <a:t>eder</a:t>
                </a:r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  <a:endParaRPr lang="tr-TR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>
                    <a:solidFill>
                      <a:schemeClr val="tx1"/>
                    </a:solidFill>
                  </a:rPr>
                  <a:t>: </a:t>
                </a:r>
                <a:r>
                  <a:rPr lang="en-US" dirty="0" err="1">
                    <a:solidFill>
                      <a:schemeClr val="tx1"/>
                    </a:solidFill>
                  </a:rPr>
                  <a:t>Entropi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bonusu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ile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keşif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davranışını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teşvik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eder</a:t>
                </a:r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  <a:endParaRPr lang="tr-TR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err="1">
                    <a:solidFill>
                      <a:schemeClr val="tx1"/>
                    </a:solidFill>
                  </a:rPr>
                  <a:t>ve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err="1">
                    <a:solidFill>
                      <a:schemeClr val="tx1"/>
                    </a:solidFill>
                  </a:rPr>
                  <a:t>katsayıları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bu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bileşenlerin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etkisini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belirleyen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hiperparametrelerdir</a:t>
                </a:r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  <a:endParaRPr lang="tr-TR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PPO, </a:t>
                </a:r>
                <a:r>
                  <a:rPr lang="en-US" dirty="0" err="1">
                    <a:solidFill>
                      <a:schemeClr val="tx1"/>
                    </a:solidFill>
                  </a:rPr>
                  <a:t>bu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üç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terimi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birlikte</a:t>
                </a:r>
                <a:r>
                  <a:rPr lang="en-US" dirty="0">
                    <a:solidFill>
                      <a:schemeClr val="tx1"/>
                    </a:solidFill>
                  </a:rPr>
                  <a:t> optimize </a:t>
                </a:r>
                <a:r>
                  <a:rPr lang="en-US" dirty="0" err="1">
                    <a:solidFill>
                      <a:schemeClr val="tx1"/>
                    </a:solidFill>
                  </a:rPr>
                  <a:t>ederek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kararlı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ve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etkili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öğrenme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sağlar</a:t>
                </a:r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EAF10F-1310-8B1D-11A8-25FB23AD1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13" y="3622608"/>
                <a:ext cx="9096213" cy="2543710"/>
              </a:xfrm>
              <a:prstGeom prst="rect">
                <a:avLst/>
              </a:prstGeom>
              <a:blipFill>
                <a:blip r:embed="rId3"/>
                <a:stretch>
                  <a:fillRect l="-418" b="-2985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675D53E-D037-48FF-0F5A-18A71DF258E8}"/>
              </a:ext>
            </a:extLst>
          </p:cNvPr>
          <p:cNvSpPr txBox="1">
            <a:spLocks/>
          </p:cNvSpPr>
          <p:nvPr/>
        </p:nvSpPr>
        <p:spPr>
          <a:xfrm>
            <a:off x="9140971" y="63301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22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89005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379DE4-6445-17D9-C343-E10B8717F2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505" b="50000"/>
          <a:stretch>
            <a:fillRect/>
          </a:stretch>
        </p:blipFill>
        <p:spPr>
          <a:xfrm>
            <a:off x="3280087" y="866710"/>
            <a:ext cx="5631826" cy="25622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4CE1E0-6C1F-53B4-66B1-EA63BB24EE81}"/>
              </a:ext>
            </a:extLst>
          </p:cNvPr>
          <p:cNvSpPr txBox="1"/>
          <p:nvPr/>
        </p:nvSpPr>
        <p:spPr>
          <a:xfrm>
            <a:off x="2499360" y="249669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 DQN: Bellman </a:t>
            </a:r>
            <a:r>
              <a:rPr lang="tr-TR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H</a:t>
            </a:r>
            <a:r>
              <a:rPr lang="en-US" sz="3200" b="1" i="0" dirty="0" err="1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edefi</a:t>
            </a:r>
            <a:r>
              <a:rPr lang="en-US" sz="3200" b="1" i="0" dirty="0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, Q-</a:t>
            </a:r>
            <a:r>
              <a:rPr lang="en-US" sz="3200" b="1" i="0" dirty="0" err="1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kayıp</a:t>
            </a:r>
            <a:r>
              <a:rPr lang="en-US" sz="3200" b="1" i="0" dirty="0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 </a:t>
            </a:r>
            <a:r>
              <a:rPr lang="en-US" sz="3200" b="1" i="0" dirty="0" err="1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ve</a:t>
            </a:r>
            <a:r>
              <a:rPr lang="en-US" sz="3200" b="1" i="0" dirty="0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 </a:t>
            </a:r>
            <a:r>
              <a:rPr lang="el-GR" sz="3200" b="1" i="0" dirty="0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ε-</a:t>
            </a:r>
            <a:r>
              <a:rPr lang="en-US" sz="3200" b="1" i="0" dirty="0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greedy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C5AEF39-526B-15E3-A0D5-5D6EA78E0ECC}"/>
                  </a:ext>
                </a:extLst>
              </p:cNvPr>
              <p:cNvSpPr txBox="1"/>
              <p:nvPr/>
            </p:nvSpPr>
            <p:spPr>
              <a:xfrm>
                <a:off x="411480" y="3429000"/>
                <a:ext cx="10972800" cy="33781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Durum-</a:t>
                </a:r>
                <a:r>
                  <a:rPr lang="en-US" dirty="0" err="1">
                    <a:solidFill>
                      <a:schemeClr val="tx1"/>
                    </a:solidFill>
                  </a:rPr>
                  <a:t>eylem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değerlerini</a:t>
                </a:r>
                <a:r>
                  <a:rPr lang="en-US" dirty="0">
                    <a:solidFill>
                      <a:schemeClr val="tx1"/>
                    </a:solidFill>
                  </a:rPr>
                  <a:t> (</a:t>
                </a:r>
                <a:r>
                  <a:rPr lang="en-US" b="1" dirty="0">
                    <a:solidFill>
                      <a:schemeClr val="tx1"/>
                    </a:solidFill>
                  </a:rPr>
                  <a:t>Q(</a:t>
                </a:r>
                <a:r>
                  <a:rPr lang="en-US" b="1" dirty="0" err="1">
                    <a:solidFill>
                      <a:schemeClr val="tx1"/>
                    </a:solidFill>
                  </a:rPr>
                  <a:t>s,a</a:t>
                </a:r>
                <a:r>
                  <a:rPr lang="en-US" b="1" dirty="0">
                    <a:solidFill>
                      <a:schemeClr val="tx1"/>
                    </a:solidFill>
                  </a:rPr>
                  <a:t>)</a:t>
                </a:r>
                <a:r>
                  <a:rPr lang="en-US" dirty="0">
                    <a:solidFill>
                      <a:schemeClr val="tx1"/>
                    </a:solidFill>
                  </a:rPr>
                  <a:t>) </a:t>
                </a:r>
                <a:r>
                  <a:rPr lang="en-US" dirty="0" err="1">
                    <a:solidFill>
                      <a:schemeClr val="tx1"/>
                    </a:solidFill>
                  </a:rPr>
                  <a:t>sinir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ağı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ile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öğrenir</a:t>
                </a:r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 err="1">
                    <a:solidFill>
                      <a:schemeClr val="tx1"/>
                    </a:solidFill>
                  </a:rPr>
                  <a:t>Hedef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değer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b="1" dirty="0">
                    <a:solidFill>
                      <a:schemeClr val="tx1"/>
                    </a:solidFill>
                  </a:rPr>
                  <a:t>Bellman </a:t>
                </a:r>
                <a:r>
                  <a:rPr lang="en-US" b="1" dirty="0" err="1">
                    <a:solidFill>
                      <a:schemeClr val="tx1"/>
                    </a:solidFill>
                  </a:rPr>
                  <a:t>Denklemi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ile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hesaplanır</a:t>
                </a:r>
                <a:r>
                  <a:rPr lang="en-US" dirty="0">
                    <a:solidFill>
                      <a:schemeClr val="tx1"/>
                    </a:solidFill>
                  </a:rPr>
                  <a:t>: 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/>
                          </m:func>
                        </m:e>
                        <m:sub>
                          <m:sSup>
                            <m:sSupPr>
                              <m:ctrlP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ar-AE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ar-AE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sepChr m:val=","/>
                          <m:ctrlP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p>
                            <m:sSupPr>
                              <m:ctrlP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ar-AE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e>
                          <m:sSup>
                            <m:sSupPr>
                              <m:ctrlP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ar-AE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 err="1">
                    <a:solidFill>
                      <a:schemeClr val="tx1"/>
                    </a:solidFill>
                  </a:rPr>
                  <a:t>Ağ</a:t>
                </a:r>
                <a:r>
                  <a:rPr lang="en-US" dirty="0">
                    <a:solidFill>
                      <a:schemeClr val="tx1"/>
                    </a:solidFill>
                  </a:rPr>
                  <a:t>, MSE </a:t>
                </a:r>
                <a:r>
                  <a:rPr lang="en-US" dirty="0" err="1">
                    <a:solidFill>
                      <a:schemeClr val="tx1"/>
                    </a:solidFill>
                  </a:rPr>
                  <a:t>kaybı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ile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bu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hedefe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yaklaşacak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şekilde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güncellenir</a:t>
                </a:r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Eylem </a:t>
                </a:r>
                <a:r>
                  <a:rPr lang="en-US" dirty="0" err="1">
                    <a:solidFill>
                      <a:schemeClr val="tx1"/>
                    </a:solidFill>
                  </a:rPr>
                  <a:t>seçimi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l-GR" b="1" dirty="0">
                    <a:solidFill>
                      <a:schemeClr val="tx1"/>
                    </a:solidFill>
                  </a:rPr>
                  <a:t>ε-</a:t>
                </a:r>
                <a:r>
                  <a:rPr lang="en-US" b="1" dirty="0">
                    <a:solidFill>
                      <a:schemeClr val="tx1"/>
                    </a:solidFill>
                  </a:rPr>
                  <a:t>Greedy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stratejisi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ile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yapılır</a:t>
                </a:r>
                <a:r>
                  <a:rPr lang="en-US" dirty="0">
                    <a:solidFill>
                      <a:schemeClr val="tx1"/>
                    </a:solidFill>
                  </a:rPr>
                  <a:t>: 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 err="1">
                    <a:solidFill>
                      <a:schemeClr val="tx1"/>
                    </a:solidFill>
                  </a:rPr>
                  <a:t>Rastgele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seçim</a:t>
                </a:r>
                <a:r>
                  <a:rPr lang="en-US" dirty="0">
                    <a:solidFill>
                      <a:schemeClr val="tx1"/>
                    </a:solidFill>
                  </a:rPr>
                  <a:t> (</a:t>
                </a:r>
                <a:r>
                  <a:rPr lang="en-US" dirty="0" err="1">
                    <a:solidFill>
                      <a:schemeClr val="tx1"/>
                    </a:solidFill>
                  </a:rPr>
                  <a:t>keşif</a:t>
                </a:r>
                <a:r>
                  <a:rPr lang="en-US" dirty="0">
                    <a:solidFill>
                      <a:schemeClr val="tx1"/>
                    </a:solidFill>
                  </a:rPr>
                  <a:t>) 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En </a:t>
                </a:r>
                <a:r>
                  <a:rPr lang="en-US" dirty="0" err="1">
                    <a:solidFill>
                      <a:schemeClr val="tx1"/>
                    </a:solidFill>
                  </a:rPr>
                  <a:t>yüksek</a:t>
                </a:r>
                <a:r>
                  <a:rPr lang="en-US" dirty="0">
                    <a:solidFill>
                      <a:schemeClr val="tx1"/>
                    </a:solidFill>
                  </a:rPr>
                  <a:t> Q </a:t>
                </a:r>
                <a:r>
                  <a:rPr lang="en-US" dirty="0" err="1">
                    <a:solidFill>
                      <a:schemeClr val="tx1"/>
                    </a:solidFill>
                  </a:rPr>
                  <a:t>değerini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seçme</a:t>
                </a:r>
                <a:r>
                  <a:rPr lang="en-US" dirty="0">
                    <a:solidFill>
                      <a:schemeClr val="tx1"/>
                    </a:solidFill>
                  </a:rPr>
                  <a:t> (</a:t>
                </a:r>
                <a:r>
                  <a:rPr lang="en-US" dirty="0" err="1">
                    <a:solidFill>
                      <a:schemeClr val="tx1"/>
                    </a:solidFill>
                  </a:rPr>
                  <a:t>kullanım</a:t>
                </a:r>
                <a:r>
                  <a:rPr lang="en-US" dirty="0">
                    <a:solidFill>
                      <a:schemeClr val="tx1"/>
                    </a:solidFill>
                  </a:rPr>
                  <a:t>) 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 err="1">
                    <a:solidFill>
                      <a:schemeClr val="tx1"/>
                    </a:solidFill>
                  </a:rPr>
                  <a:t>Projede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b="1" dirty="0">
                    <a:solidFill>
                      <a:schemeClr val="tx1"/>
                    </a:solidFill>
                  </a:rPr>
                  <a:t>SB3 DQN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kullanılmıştır</a:t>
                </a:r>
                <a:r>
                  <a:rPr lang="en-US" dirty="0">
                    <a:solidFill>
                      <a:schemeClr val="tx1"/>
                    </a:solidFill>
                  </a:rPr>
                  <a:t> (</a:t>
                </a:r>
                <a:r>
                  <a:rPr lang="el-GR" b="1" dirty="0">
                    <a:solidFill>
                      <a:schemeClr val="tx1"/>
                    </a:solidFill>
                  </a:rPr>
                  <a:t>γ=0.99</a:t>
                </a:r>
                <a:r>
                  <a:rPr lang="el-GR" dirty="0">
                    <a:solidFill>
                      <a:schemeClr val="tx1"/>
                    </a:solidFill>
                  </a:rPr>
                  <a:t>, </a:t>
                </a:r>
                <a:r>
                  <a:rPr lang="en-US" dirty="0">
                    <a:solidFill>
                      <a:schemeClr val="tx1"/>
                    </a:solidFill>
                  </a:rPr>
                  <a:t>Buffer=150k, </a:t>
                </a:r>
                <a:r>
                  <a:rPr lang="el-GR" b="1" dirty="0">
                    <a:solidFill>
                      <a:schemeClr val="tx1"/>
                    </a:solidFill>
                  </a:rPr>
                  <a:t>ε=1.0→0.05</a:t>
                </a:r>
                <a:r>
                  <a:rPr lang="el-GR" dirty="0">
                    <a:solidFill>
                      <a:schemeClr val="tx1"/>
                    </a:solidFill>
                  </a:rPr>
                  <a:t>).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C5AEF39-526B-15E3-A0D5-5D6EA78E0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3429000"/>
                <a:ext cx="10972800" cy="3378169"/>
              </a:xfrm>
              <a:prstGeom prst="rect">
                <a:avLst/>
              </a:prstGeom>
              <a:blipFill>
                <a:blip r:embed="rId3"/>
                <a:stretch>
                  <a:fillRect l="-347" b="-1498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EA6E899-5E98-7ABD-3E3B-ED591255B976}"/>
              </a:ext>
            </a:extLst>
          </p:cNvPr>
          <p:cNvSpPr txBox="1">
            <a:spLocks/>
          </p:cNvSpPr>
          <p:nvPr/>
        </p:nvSpPr>
        <p:spPr>
          <a:xfrm>
            <a:off x="9140971" y="63301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23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307517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A85CE-1F70-572A-D85C-7F61BBA78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585" y="1056795"/>
            <a:ext cx="6640830" cy="27502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82D04D-FDB7-4E2F-0881-CCE166B4CED9}"/>
              </a:ext>
            </a:extLst>
          </p:cNvPr>
          <p:cNvSpPr txBox="1"/>
          <p:nvPr/>
        </p:nvSpPr>
        <p:spPr>
          <a:xfrm>
            <a:off x="2259330" y="242054"/>
            <a:ext cx="8442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DQN </a:t>
            </a:r>
            <a:r>
              <a:rPr lang="tr-TR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E</a:t>
            </a:r>
            <a:r>
              <a:rPr lang="en-US" sz="3200" b="1" i="0" dirty="0" err="1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ğitim</a:t>
            </a:r>
            <a:r>
              <a:rPr lang="en-US" sz="3200" b="1" i="0" dirty="0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 </a:t>
            </a:r>
            <a:r>
              <a:rPr lang="tr-TR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D</a:t>
            </a:r>
            <a:r>
              <a:rPr lang="en-US" sz="3200" b="1" i="0" dirty="0" err="1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öngüsü</a:t>
            </a:r>
            <a:r>
              <a:rPr lang="en-US" sz="3200" b="1" i="0" dirty="0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 — Akıllı Park </a:t>
            </a:r>
            <a:r>
              <a:rPr lang="tr-TR" sz="3200" b="1" i="0" dirty="0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G</a:t>
            </a:r>
            <a:r>
              <a:rPr lang="en-US" sz="3200" b="1" i="0" dirty="0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rid </a:t>
            </a:r>
            <a:r>
              <a:rPr lang="tr-TR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O</a:t>
            </a:r>
            <a:r>
              <a:rPr lang="en-US" sz="3200" b="1" i="0" dirty="0" err="1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rtamı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E10840-C909-144E-9BAF-586F2B57145A}"/>
              </a:ext>
            </a:extLst>
          </p:cNvPr>
          <p:cNvSpPr txBox="1"/>
          <p:nvPr/>
        </p:nvSpPr>
        <p:spPr>
          <a:xfrm>
            <a:off x="655320" y="3829035"/>
            <a:ext cx="844296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Ajan, </a:t>
            </a:r>
            <a:r>
              <a:rPr lang="en-US" b="1" dirty="0"/>
              <a:t>15×15 grid </a:t>
            </a:r>
            <a:r>
              <a:rPr lang="en-US" b="1" dirty="0" err="1"/>
              <a:t>gözlemi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b="1" dirty="0"/>
              <a:t>LSTM </a:t>
            </a:r>
            <a:r>
              <a:rPr lang="en-US" b="1" dirty="0" err="1"/>
              <a:t>doluluk</a:t>
            </a:r>
            <a:r>
              <a:rPr lang="en-US" b="1" dirty="0"/>
              <a:t> </a:t>
            </a:r>
            <a:r>
              <a:rPr lang="en-US" b="1" dirty="0" err="1"/>
              <a:t>tahminini</a:t>
            </a:r>
            <a:r>
              <a:rPr lang="en-US" dirty="0"/>
              <a:t> </a:t>
            </a:r>
            <a:r>
              <a:rPr lang="en-US" dirty="0" err="1"/>
              <a:t>girdi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.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l-GR" b="1" dirty="0"/>
              <a:t>ε-</a:t>
            </a:r>
            <a:r>
              <a:rPr lang="en-US" b="1" dirty="0"/>
              <a:t>Greedy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yukarı</a:t>
            </a:r>
            <a:r>
              <a:rPr lang="en-US" dirty="0"/>
              <a:t>, </a:t>
            </a:r>
            <a:r>
              <a:rPr lang="en-US" dirty="0" err="1"/>
              <a:t>aşağı</a:t>
            </a:r>
            <a:r>
              <a:rPr lang="en-US" dirty="0"/>
              <a:t>, </a:t>
            </a:r>
            <a:r>
              <a:rPr lang="en-US" dirty="0" err="1"/>
              <a:t>sağ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sol </a:t>
            </a:r>
            <a:r>
              <a:rPr lang="en-US" dirty="0" err="1"/>
              <a:t>hareket</a:t>
            </a:r>
            <a:r>
              <a:rPr lang="en-US" dirty="0"/>
              <a:t> </a:t>
            </a:r>
            <a:r>
              <a:rPr lang="en-US" dirty="0" err="1"/>
              <a:t>seçer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Deneyimler</a:t>
            </a:r>
            <a:r>
              <a:rPr lang="en-US" dirty="0"/>
              <a:t> </a:t>
            </a:r>
            <a:r>
              <a:rPr lang="en-US" b="1" dirty="0"/>
              <a:t>(s, a, r, s′)</a:t>
            </a:r>
            <a:r>
              <a:rPr lang="en-US" dirty="0"/>
              <a:t> </a:t>
            </a:r>
            <a:r>
              <a:rPr lang="en-US" dirty="0" err="1"/>
              <a:t>şeklinde</a:t>
            </a:r>
            <a:r>
              <a:rPr lang="en-US" dirty="0"/>
              <a:t> Replay </a:t>
            </a:r>
            <a:r>
              <a:rPr lang="en-US" dirty="0" err="1"/>
              <a:t>Buffer'a</a:t>
            </a:r>
            <a:r>
              <a:rPr lang="en-US" dirty="0"/>
              <a:t> </a:t>
            </a:r>
            <a:r>
              <a:rPr lang="en-US" dirty="0" err="1"/>
              <a:t>kaydedilir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Mini-batch </a:t>
            </a:r>
            <a:r>
              <a:rPr lang="en-US" dirty="0" err="1"/>
              <a:t>örnekleri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Q </a:t>
            </a:r>
            <a:r>
              <a:rPr lang="en-US" dirty="0" err="1"/>
              <a:t>ağı</a:t>
            </a:r>
            <a:r>
              <a:rPr lang="en-US" dirty="0"/>
              <a:t> </a:t>
            </a:r>
            <a:r>
              <a:rPr lang="en-US" dirty="0" err="1"/>
              <a:t>güncellenir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Kararlılık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b="1" dirty="0"/>
              <a:t>Target Network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b="1" dirty="0"/>
              <a:t>Experience Replay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/>
              <a:t>.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PPO'daki</a:t>
            </a:r>
            <a:r>
              <a:rPr lang="en-US" dirty="0"/>
              <a:t> clip </a:t>
            </a:r>
            <a:r>
              <a:rPr lang="en-US" dirty="0" err="1"/>
              <a:t>mekanizması</a:t>
            </a:r>
            <a:r>
              <a:rPr lang="en-US" dirty="0"/>
              <a:t> </a:t>
            </a:r>
            <a:r>
              <a:rPr lang="en-US" dirty="0" err="1"/>
              <a:t>yerine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yapı</a:t>
            </a:r>
            <a:r>
              <a:rPr lang="en-US" dirty="0"/>
              <a:t> </a:t>
            </a:r>
            <a:r>
              <a:rPr lang="en-US" dirty="0" err="1"/>
              <a:t>öğrenmeyi</a:t>
            </a:r>
            <a:r>
              <a:rPr lang="en-US" dirty="0"/>
              <a:t> </a:t>
            </a:r>
            <a:r>
              <a:rPr lang="en-US" dirty="0" err="1"/>
              <a:t>dengeler</a:t>
            </a:r>
            <a:r>
              <a:rPr lang="en-US" dirty="0"/>
              <a:t>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C4D017B-6EE4-5434-2FD3-A5F411FDDF1E}"/>
              </a:ext>
            </a:extLst>
          </p:cNvPr>
          <p:cNvSpPr txBox="1">
            <a:spLocks/>
          </p:cNvSpPr>
          <p:nvPr/>
        </p:nvSpPr>
        <p:spPr>
          <a:xfrm>
            <a:off x="9140971" y="63301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24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524741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DB7631-3607-55F1-5AA8-72AF51994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324" y="1241000"/>
            <a:ext cx="8515351" cy="33135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FA2E39-A73B-2F1F-87BB-987F85E90529}"/>
              </a:ext>
            </a:extLst>
          </p:cNvPr>
          <p:cNvSpPr txBox="1"/>
          <p:nvPr/>
        </p:nvSpPr>
        <p:spPr>
          <a:xfrm>
            <a:off x="2162175" y="366118"/>
            <a:ext cx="85153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RL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Ajanlarının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Performans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Karşılaştırması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C590C4-3781-B918-72DF-1F855C2D630E}"/>
              </a:ext>
            </a:extLst>
          </p:cNvPr>
          <p:cNvSpPr txBox="1"/>
          <p:nvPr/>
        </p:nvSpPr>
        <p:spPr>
          <a:xfrm>
            <a:off x="666750" y="4554517"/>
            <a:ext cx="1175385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PPO, DQN </a:t>
            </a:r>
            <a:r>
              <a:rPr lang="en-US" dirty="0" err="1"/>
              <a:t>ve</a:t>
            </a:r>
            <a:r>
              <a:rPr lang="en-US" dirty="0"/>
              <a:t> baseline </a:t>
            </a:r>
            <a:r>
              <a:rPr lang="en-US" dirty="0" err="1"/>
              <a:t>yöntemler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ortamda</a:t>
            </a:r>
            <a:r>
              <a:rPr lang="en-US" dirty="0"/>
              <a:t> </a:t>
            </a:r>
            <a:r>
              <a:rPr lang="en-US" dirty="0" err="1"/>
              <a:t>karşılaştırılmıştır</a:t>
            </a:r>
            <a:r>
              <a:rPr lang="en-US" dirty="0"/>
              <a:t>.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PPO </a:t>
            </a:r>
            <a:r>
              <a:rPr lang="en-US" b="1" dirty="0" err="1"/>
              <a:t>ajanı</a:t>
            </a:r>
            <a:r>
              <a:rPr lang="en-US" b="1" dirty="0"/>
              <a:t> %92,5 </a:t>
            </a:r>
            <a:r>
              <a:rPr lang="en-US" b="1" dirty="0" err="1"/>
              <a:t>başarı</a:t>
            </a:r>
            <a:r>
              <a:rPr lang="en-US" b="1" dirty="0"/>
              <a:t> </a:t>
            </a:r>
            <a:r>
              <a:rPr lang="en-US" b="1" dirty="0" err="1"/>
              <a:t>oranı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hedefe</a:t>
            </a:r>
            <a:r>
              <a:rPr lang="en-US" dirty="0"/>
              <a:t> </a:t>
            </a:r>
            <a:r>
              <a:rPr lang="en-US" dirty="0" err="1"/>
              <a:t>ulaşmada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performans</a:t>
            </a:r>
            <a:r>
              <a:rPr lang="en-US" dirty="0"/>
              <a:t> </a:t>
            </a:r>
            <a:r>
              <a:rPr lang="en-US" dirty="0" err="1"/>
              <a:t>göstermiştir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PPO, </a:t>
            </a:r>
            <a:r>
              <a:rPr lang="en-US" dirty="0" err="1"/>
              <a:t>DQN'e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adım</a:t>
            </a:r>
            <a:r>
              <a:rPr lang="en-US" dirty="0"/>
              <a:t> </a:t>
            </a:r>
            <a:r>
              <a:rPr lang="en-US" dirty="0" err="1"/>
              <a:t>kullanmış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düşük</a:t>
            </a:r>
            <a:r>
              <a:rPr lang="en-US" dirty="0"/>
              <a:t> </a:t>
            </a:r>
            <a:r>
              <a:rPr lang="en-US" dirty="0" err="1"/>
              <a:t>çarpışma</a:t>
            </a:r>
            <a:r>
              <a:rPr lang="en-US" dirty="0"/>
              <a:t> </a:t>
            </a:r>
            <a:r>
              <a:rPr lang="en-US" dirty="0" err="1"/>
              <a:t>oranı</a:t>
            </a:r>
            <a:r>
              <a:rPr lang="en-US" dirty="0"/>
              <a:t>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etmiştir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DQN </a:t>
            </a:r>
            <a:r>
              <a:rPr lang="en-US" dirty="0" err="1"/>
              <a:t>ajanı</a:t>
            </a:r>
            <a:r>
              <a:rPr lang="en-US" dirty="0"/>
              <a:t> </a:t>
            </a:r>
            <a:r>
              <a:rPr lang="en-US" dirty="0" err="1"/>
              <a:t>düşük</a:t>
            </a:r>
            <a:r>
              <a:rPr lang="en-US" dirty="0"/>
              <a:t> </a:t>
            </a:r>
            <a:r>
              <a:rPr lang="en-US" dirty="0" err="1"/>
              <a:t>başarı</a:t>
            </a:r>
            <a:r>
              <a:rPr lang="en-US" dirty="0"/>
              <a:t> </a:t>
            </a:r>
            <a:r>
              <a:rPr lang="en-US" dirty="0" err="1"/>
              <a:t>oranı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çarpışma</a:t>
            </a:r>
            <a:r>
              <a:rPr lang="en-US" dirty="0"/>
              <a:t> </a:t>
            </a:r>
            <a:r>
              <a:rPr lang="en-US" dirty="0" err="1"/>
              <a:t>sayısı</a:t>
            </a:r>
            <a:r>
              <a:rPr lang="en-US" dirty="0"/>
              <a:t> </a:t>
            </a:r>
            <a:r>
              <a:rPr lang="en-US" dirty="0" err="1"/>
              <a:t>nedeniyle</a:t>
            </a:r>
            <a:r>
              <a:rPr lang="en-US" dirty="0"/>
              <a:t> </a:t>
            </a:r>
            <a:r>
              <a:rPr lang="en-US" dirty="0" err="1"/>
              <a:t>kararsız</a:t>
            </a:r>
            <a:r>
              <a:rPr lang="en-US" dirty="0"/>
              <a:t> </a:t>
            </a:r>
            <a:r>
              <a:rPr lang="en-US" dirty="0" err="1"/>
              <a:t>performans</a:t>
            </a:r>
            <a:r>
              <a:rPr lang="en-US" dirty="0"/>
              <a:t> </a:t>
            </a:r>
            <a:r>
              <a:rPr lang="en-US" dirty="0" err="1"/>
              <a:t>sergilemiştir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PPO </a:t>
            </a:r>
            <a:r>
              <a:rPr lang="en-US" dirty="0" err="1"/>
              <a:t>sonuçları</a:t>
            </a:r>
            <a:r>
              <a:rPr lang="en-US" dirty="0"/>
              <a:t>, </a:t>
            </a:r>
            <a:r>
              <a:rPr lang="en-US" dirty="0" err="1"/>
              <a:t>hibrit</a:t>
            </a:r>
            <a:r>
              <a:rPr lang="en-US" dirty="0"/>
              <a:t>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tercih</a:t>
            </a:r>
            <a:r>
              <a:rPr lang="en-US" dirty="0"/>
              <a:t> </a:t>
            </a:r>
            <a:r>
              <a:rPr lang="en-US" dirty="0" err="1"/>
              <a:t>edilen</a:t>
            </a:r>
            <a:r>
              <a:rPr lang="en-US" dirty="0"/>
              <a:t> RL </a:t>
            </a:r>
            <a:r>
              <a:rPr lang="en-US" dirty="0" err="1"/>
              <a:t>algoritmasının</a:t>
            </a:r>
            <a:r>
              <a:rPr lang="en-US" dirty="0"/>
              <a:t> </a:t>
            </a:r>
            <a:r>
              <a:rPr lang="en-US" dirty="0" err="1"/>
              <a:t>neden</a:t>
            </a:r>
            <a:r>
              <a:rPr lang="en-US" dirty="0"/>
              <a:t> PPO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doğrulamaktadır</a:t>
            </a:r>
            <a:r>
              <a:rPr lang="en-US" dirty="0"/>
              <a:t>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35602B8-499F-4DE9-37F8-181801260781}"/>
              </a:ext>
            </a:extLst>
          </p:cNvPr>
          <p:cNvSpPr txBox="1">
            <a:spLocks/>
          </p:cNvSpPr>
          <p:nvPr/>
        </p:nvSpPr>
        <p:spPr>
          <a:xfrm>
            <a:off x="9140971" y="63301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25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595416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32F5683-F319-278B-7045-DF0C8D424498}"/>
              </a:ext>
            </a:extLst>
          </p:cNvPr>
          <p:cNvSpPr txBox="1"/>
          <p:nvPr/>
        </p:nvSpPr>
        <p:spPr>
          <a:xfrm>
            <a:off x="1733550" y="215384"/>
            <a:ext cx="94869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Algoritmaların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Ortalama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Yol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Uzunluğu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Karşılaştırması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312971-4397-E9CC-F56A-B33ECDF0D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417" y="993630"/>
            <a:ext cx="6279593" cy="30867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EB9BCCD-DB8F-0E27-C7C8-2F54018AC0A4}"/>
              </a:ext>
            </a:extLst>
          </p:cNvPr>
          <p:cNvSpPr txBox="1"/>
          <p:nvPr/>
        </p:nvSpPr>
        <p:spPr>
          <a:xfrm>
            <a:off x="576496" y="4100253"/>
            <a:ext cx="1339215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Algoritmaların</a:t>
            </a:r>
            <a:r>
              <a:rPr lang="en-US" dirty="0"/>
              <a:t> </a:t>
            </a:r>
            <a:r>
              <a:rPr lang="en-US" dirty="0" err="1"/>
              <a:t>hedefe</a:t>
            </a:r>
            <a:r>
              <a:rPr lang="en-US" dirty="0"/>
              <a:t> </a:t>
            </a:r>
            <a:r>
              <a:rPr lang="en-US" dirty="0" err="1"/>
              <a:t>ulaşmak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kat </a:t>
            </a:r>
            <a:r>
              <a:rPr lang="en-US" dirty="0" err="1"/>
              <a:t>ettiği</a:t>
            </a:r>
            <a:r>
              <a:rPr lang="en-US" dirty="0"/>
              <a:t> </a:t>
            </a:r>
            <a:r>
              <a:rPr lang="en-US" dirty="0" err="1"/>
              <a:t>ortalama</a:t>
            </a:r>
            <a:r>
              <a:rPr lang="en-US" dirty="0"/>
              <a:t> </a:t>
            </a:r>
            <a:r>
              <a:rPr lang="en-US" dirty="0" err="1"/>
              <a:t>yol</a:t>
            </a:r>
            <a:r>
              <a:rPr lang="en-US" dirty="0"/>
              <a:t> </a:t>
            </a:r>
            <a:r>
              <a:rPr lang="en-US" dirty="0" err="1"/>
              <a:t>uzunlukları</a:t>
            </a:r>
            <a:r>
              <a:rPr lang="en-US" dirty="0"/>
              <a:t> </a:t>
            </a:r>
            <a:r>
              <a:rPr lang="en-US" dirty="0" err="1"/>
              <a:t>karşılaştırılmıştır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Greedy Shortest Path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b="1" dirty="0"/>
              <a:t>BFS Oracle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kısa</a:t>
            </a:r>
            <a:r>
              <a:rPr lang="en-US" dirty="0"/>
              <a:t> </a:t>
            </a:r>
            <a:r>
              <a:rPr lang="en-US" dirty="0" err="1"/>
              <a:t>yolları</a:t>
            </a:r>
            <a:r>
              <a:rPr lang="en-US" dirty="0"/>
              <a:t> </a:t>
            </a:r>
            <a:r>
              <a:rPr lang="en-US" dirty="0" err="1"/>
              <a:t>üreterek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düşük</a:t>
            </a:r>
            <a:r>
              <a:rPr lang="en-US" dirty="0"/>
              <a:t> </a:t>
            </a:r>
            <a:r>
              <a:rPr lang="en-US" dirty="0" err="1"/>
              <a:t>yol</a:t>
            </a:r>
            <a:r>
              <a:rPr lang="en-US" dirty="0"/>
              <a:t> </a:t>
            </a:r>
            <a:r>
              <a:rPr lang="en-US" dirty="0" err="1"/>
              <a:t>uzunluğuna</a:t>
            </a:r>
            <a:r>
              <a:rPr lang="en-US" dirty="0"/>
              <a:t> </a:t>
            </a:r>
            <a:r>
              <a:rPr lang="en-US" dirty="0" err="1"/>
              <a:t>ulaşmıştır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PPO </a:t>
            </a:r>
            <a:r>
              <a:rPr lang="en-US" dirty="0" err="1"/>
              <a:t>algoritması</a:t>
            </a:r>
            <a:r>
              <a:rPr lang="en-US" dirty="0"/>
              <a:t> </a:t>
            </a:r>
            <a:r>
              <a:rPr lang="en-US" dirty="0" err="1"/>
              <a:t>hedefe</a:t>
            </a:r>
            <a:r>
              <a:rPr lang="en-US" dirty="0"/>
              <a:t> </a:t>
            </a:r>
            <a:r>
              <a:rPr lang="en-US" dirty="0" err="1"/>
              <a:t>başarılı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ulaşırken</a:t>
            </a:r>
            <a:r>
              <a:rPr lang="en-US" dirty="0"/>
              <a:t> </a:t>
            </a:r>
            <a:r>
              <a:rPr lang="en-US" dirty="0" err="1"/>
              <a:t>makul</a:t>
            </a:r>
            <a:r>
              <a:rPr lang="en-US" dirty="0"/>
              <a:t> </a:t>
            </a:r>
            <a:r>
              <a:rPr lang="en-US" dirty="0" err="1"/>
              <a:t>seviyede</a:t>
            </a:r>
            <a:r>
              <a:rPr lang="en-US" dirty="0"/>
              <a:t> </a:t>
            </a:r>
            <a:r>
              <a:rPr lang="en-US" dirty="0" err="1"/>
              <a:t>yol</a:t>
            </a:r>
            <a:r>
              <a:rPr lang="en-US" dirty="0"/>
              <a:t> </a:t>
            </a:r>
            <a:r>
              <a:rPr lang="en-US" dirty="0" err="1"/>
              <a:t>uzunluğu</a:t>
            </a:r>
            <a:r>
              <a:rPr lang="en-US" dirty="0"/>
              <a:t> </a:t>
            </a:r>
            <a:r>
              <a:rPr lang="en-US" dirty="0" err="1"/>
              <a:t>üretmiştir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Random </a:t>
            </a:r>
            <a:r>
              <a:rPr lang="en-US" dirty="0" err="1"/>
              <a:t>ajanı</a:t>
            </a:r>
            <a:r>
              <a:rPr lang="en-US" dirty="0"/>
              <a:t> </a:t>
            </a:r>
            <a:r>
              <a:rPr lang="en-US" dirty="0" err="1"/>
              <a:t>rastgele</a:t>
            </a:r>
            <a:r>
              <a:rPr lang="en-US" dirty="0"/>
              <a:t> </a:t>
            </a:r>
            <a:r>
              <a:rPr lang="en-US" dirty="0" err="1"/>
              <a:t>hareket</a:t>
            </a:r>
            <a:r>
              <a:rPr lang="en-US" dirty="0"/>
              <a:t> </a:t>
            </a:r>
            <a:r>
              <a:rPr lang="en-US" dirty="0" err="1"/>
              <a:t>ettiği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uzun</a:t>
            </a:r>
            <a:r>
              <a:rPr lang="en-US" dirty="0"/>
              <a:t> </a:t>
            </a:r>
            <a:r>
              <a:rPr lang="en-US" dirty="0" err="1"/>
              <a:t>yolları</a:t>
            </a:r>
            <a:r>
              <a:rPr lang="en-US" dirty="0"/>
              <a:t> </a:t>
            </a:r>
            <a:r>
              <a:rPr lang="en-US" dirty="0" err="1"/>
              <a:t>oluşturmuştur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DQN </a:t>
            </a:r>
            <a:r>
              <a:rPr lang="en-US" dirty="0" err="1"/>
              <a:t>algoritması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kararsız</a:t>
            </a:r>
            <a:r>
              <a:rPr lang="en-US" dirty="0"/>
              <a:t> </a:t>
            </a:r>
            <a:r>
              <a:rPr lang="en-US" dirty="0" err="1"/>
              <a:t>öğrenme</a:t>
            </a:r>
            <a:r>
              <a:rPr lang="en-US" dirty="0"/>
              <a:t> </a:t>
            </a:r>
            <a:r>
              <a:rPr lang="en-US" dirty="0" err="1"/>
              <a:t>nedeniyle</a:t>
            </a:r>
            <a:r>
              <a:rPr lang="en-US" dirty="0"/>
              <a:t> </a:t>
            </a:r>
            <a:r>
              <a:rPr lang="en-US" dirty="0" err="1"/>
              <a:t>PPO'ya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uzun</a:t>
            </a:r>
            <a:r>
              <a:rPr lang="en-US" dirty="0"/>
              <a:t> </a:t>
            </a:r>
            <a:r>
              <a:rPr lang="en-US" dirty="0" err="1"/>
              <a:t>rotalar</a:t>
            </a:r>
            <a:r>
              <a:rPr lang="en-US" dirty="0"/>
              <a:t> </a:t>
            </a:r>
            <a:r>
              <a:rPr lang="en-US" dirty="0" err="1"/>
              <a:t>izlemiştir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Sonuçlar</a:t>
            </a:r>
            <a:r>
              <a:rPr lang="en-US" dirty="0"/>
              <a:t>, </a:t>
            </a:r>
            <a:r>
              <a:rPr lang="en-US" dirty="0" err="1"/>
              <a:t>PPO'nun</a:t>
            </a:r>
            <a:r>
              <a:rPr lang="en-US" dirty="0"/>
              <a:t> </a:t>
            </a:r>
            <a:r>
              <a:rPr lang="en-US" dirty="0" err="1"/>
              <a:t>başarı</a:t>
            </a:r>
            <a:r>
              <a:rPr lang="en-US" dirty="0"/>
              <a:t> </a:t>
            </a:r>
            <a:r>
              <a:rPr lang="en-US" dirty="0" err="1"/>
              <a:t>oranı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yol</a:t>
            </a:r>
            <a:r>
              <a:rPr lang="en-US" dirty="0"/>
              <a:t> </a:t>
            </a:r>
            <a:r>
              <a:rPr lang="en-US" dirty="0" err="1"/>
              <a:t>verimliliği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dengeli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performans</a:t>
            </a:r>
            <a:r>
              <a:rPr lang="en-US" dirty="0"/>
              <a:t> </a:t>
            </a:r>
            <a:r>
              <a:rPr lang="en-US" dirty="0" err="1"/>
              <a:t>sunduğunu</a:t>
            </a:r>
            <a:r>
              <a:rPr lang="en-US" dirty="0"/>
              <a:t> </a:t>
            </a:r>
            <a:r>
              <a:rPr lang="en-US" dirty="0" err="1"/>
              <a:t>göstermektedir</a:t>
            </a:r>
            <a:r>
              <a:rPr lang="en-US" dirty="0"/>
              <a:t>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C237C5C-4379-80EC-EC3F-3ACD80D02A59}"/>
              </a:ext>
            </a:extLst>
          </p:cNvPr>
          <p:cNvSpPr txBox="1">
            <a:spLocks/>
          </p:cNvSpPr>
          <p:nvPr/>
        </p:nvSpPr>
        <p:spPr>
          <a:xfrm>
            <a:off x="9140971" y="63301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26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63424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40E86F-92AB-EF79-0401-0C740F6BB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850" y="805921"/>
            <a:ext cx="4381500" cy="56869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E178D1-DE19-238F-4F31-E4C2A0B26FC1}"/>
              </a:ext>
            </a:extLst>
          </p:cNvPr>
          <p:cNvSpPr txBox="1"/>
          <p:nvPr/>
        </p:nvSpPr>
        <p:spPr>
          <a:xfrm>
            <a:off x="1752600" y="87277"/>
            <a:ext cx="830580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1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PPO </a:t>
            </a:r>
            <a:r>
              <a:rPr lang="en-US" sz="31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Ajanının</a:t>
            </a:r>
            <a:r>
              <a:rPr lang="en-US" sz="31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1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Otopark</a:t>
            </a:r>
            <a:r>
              <a:rPr lang="en-US" sz="31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1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Yönlendirme</a:t>
            </a:r>
            <a:r>
              <a:rPr lang="en-US" sz="31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1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Simülasyonu</a:t>
            </a:r>
            <a:endParaRPr lang="en-US" sz="31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EDA699-94BA-43F8-FB26-D67073ED6CF9}"/>
              </a:ext>
            </a:extLst>
          </p:cNvPr>
          <p:cNvSpPr txBox="1"/>
          <p:nvPr/>
        </p:nvSpPr>
        <p:spPr>
          <a:xfrm>
            <a:off x="476250" y="822560"/>
            <a:ext cx="6553200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PPO </a:t>
            </a:r>
            <a:r>
              <a:rPr lang="en-US" dirty="0" err="1"/>
              <a:t>ajanının</a:t>
            </a:r>
            <a:r>
              <a:rPr lang="en-US" dirty="0"/>
              <a:t> 15×15 grid </a:t>
            </a:r>
            <a:r>
              <a:rPr lang="en-US" dirty="0" err="1"/>
              <a:t>ortamındaki</a:t>
            </a:r>
            <a:r>
              <a:rPr lang="en-US" dirty="0"/>
              <a:t> </a:t>
            </a:r>
            <a:r>
              <a:rPr lang="en-US" dirty="0" err="1"/>
              <a:t>hareketleri</a:t>
            </a:r>
            <a:r>
              <a:rPr lang="en-US" dirty="0"/>
              <a:t> </a:t>
            </a:r>
            <a:r>
              <a:rPr lang="en-US" dirty="0" err="1"/>
              <a:t>animasyonlu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gösterilmektedir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Ajan, </a:t>
            </a:r>
            <a:r>
              <a:rPr lang="en-US" dirty="0" err="1"/>
              <a:t>bulunduğu</a:t>
            </a:r>
            <a:r>
              <a:rPr lang="en-US" dirty="0"/>
              <a:t> </a:t>
            </a:r>
            <a:r>
              <a:rPr lang="en-US" dirty="0" err="1"/>
              <a:t>konumdan</a:t>
            </a:r>
            <a:r>
              <a:rPr lang="en-US" dirty="0"/>
              <a:t> </a:t>
            </a:r>
            <a:r>
              <a:rPr lang="en-US" dirty="0" err="1"/>
              <a:t>başlayarak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uygun</a:t>
            </a:r>
            <a:r>
              <a:rPr lang="en-US" dirty="0"/>
              <a:t> park </a:t>
            </a:r>
            <a:r>
              <a:rPr lang="en-US" dirty="0" err="1"/>
              <a:t>alanına</a:t>
            </a:r>
            <a:r>
              <a:rPr lang="en-US" dirty="0"/>
              <a:t> </a:t>
            </a:r>
            <a:r>
              <a:rPr lang="en-US" dirty="0" err="1"/>
              <a:t>ulaşmaya</a:t>
            </a:r>
            <a:r>
              <a:rPr lang="en-US" dirty="0"/>
              <a:t> </a:t>
            </a:r>
            <a:r>
              <a:rPr lang="en-US" dirty="0" err="1"/>
              <a:t>çalışmaktadır</a:t>
            </a:r>
            <a:r>
              <a:rPr lang="en-US" dirty="0"/>
              <a:t>.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Karar </a:t>
            </a:r>
            <a:r>
              <a:rPr lang="en-US" dirty="0" err="1"/>
              <a:t>verme</a:t>
            </a:r>
            <a:r>
              <a:rPr lang="en-US" dirty="0"/>
              <a:t> </a:t>
            </a:r>
            <a:r>
              <a:rPr lang="en-US" dirty="0" err="1"/>
              <a:t>sürecinde</a:t>
            </a:r>
            <a:r>
              <a:rPr lang="en-US" dirty="0"/>
              <a:t> </a:t>
            </a:r>
            <a:r>
              <a:rPr lang="en-US" dirty="0" err="1"/>
              <a:t>çevresel</a:t>
            </a:r>
            <a:r>
              <a:rPr lang="en-US" dirty="0"/>
              <a:t> </a:t>
            </a:r>
            <a:r>
              <a:rPr lang="en-US" dirty="0" err="1"/>
              <a:t>durumlar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ödül</a:t>
            </a:r>
            <a:r>
              <a:rPr lang="en-US" dirty="0"/>
              <a:t> </a:t>
            </a:r>
            <a:r>
              <a:rPr lang="en-US" dirty="0" err="1"/>
              <a:t>fonksiyonu</a:t>
            </a:r>
            <a:r>
              <a:rPr lang="en-US" dirty="0"/>
              <a:t> </a:t>
            </a:r>
            <a:r>
              <a:rPr lang="en-US" dirty="0" err="1"/>
              <a:t>dikkate</a:t>
            </a:r>
            <a:r>
              <a:rPr lang="en-US" dirty="0"/>
              <a:t> </a:t>
            </a:r>
            <a:r>
              <a:rPr lang="en-US" dirty="0" err="1"/>
              <a:t>alınmaktadır</a:t>
            </a:r>
            <a:r>
              <a:rPr lang="en-US" dirty="0"/>
              <a:t>.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Kırmızı</a:t>
            </a:r>
            <a:r>
              <a:rPr lang="en-US" dirty="0"/>
              <a:t> </a:t>
            </a:r>
            <a:r>
              <a:rPr lang="en-US" dirty="0" err="1"/>
              <a:t>hücreler</a:t>
            </a:r>
            <a:r>
              <a:rPr lang="en-US" dirty="0"/>
              <a:t> </a:t>
            </a:r>
            <a:r>
              <a:rPr lang="en-US" dirty="0" err="1"/>
              <a:t>yoğun</a:t>
            </a:r>
            <a:r>
              <a:rPr lang="en-US" dirty="0"/>
              <a:t> park </a:t>
            </a:r>
            <a:r>
              <a:rPr lang="en-US" dirty="0" err="1"/>
              <a:t>alanlarını</a:t>
            </a:r>
            <a:r>
              <a:rPr lang="en-US" dirty="0"/>
              <a:t>, </a:t>
            </a:r>
            <a:r>
              <a:rPr lang="en-US" dirty="0" err="1"/>
              <a:t>sarı</a:t>
            </a:r>
            <a:r>
              <a:rPr lang="en-US" dirty="0"/>
              <a:t> </a:t>
            </a:r>
            <a:r>
              <a:rPr lang="en-US" dirty="0" err="1"/>
              <a:t>hücreler</a:t>
            </a:r>
            <a:r>
              <a:rPr lang="en-US" dirty="0"/>
              <a:t> </a:t>
            </a:r>
            <a:r>
              <a:rPr lang="en-US" dirty="0" err="1"/>
              <a:t>hedef</a:t>
            </a:r>
            <a:r>
              <a:rPr lang="en-US" dirty="0"/>
              <a:t> park </a:t>
            </a:r>
            <a:r>
              <a:rPr lang="en-US" dirty="0" err="1"/>
              <a:t>noktalarını</a:t>
            </a:r>
            <a:r>
              <a:rPr lang="en-US" dirty="0"/>
              <a:t> </a:t>
            </a:r>
            <a:r>
              <a:rPr lang="en-US" dirty="0" err="1"/>
              <a:t>temsil</a:t>
            </a:r>
            <a:r>
              <a:rPr lang="en-US" dirty="0"/>
              <a:t> </a:t>
            </a:r>
            <a:r>
              <a:rPr lang="en-US" dirty="0" err="1"/>
              <a:t>etmektedir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Simülasyon</a:t>
            </a:r>
            <a:r>
              <a:rPr lang="en-US" dirty="0"/>
              <a:t> </a:t>
            </a:r>
            <a:r>
              <a:rPr lang="en-US" dirty="0" err="1"/>
              <a:t>boyunca</a:t>
            </a:r>
            <a:r>
              <a:rPr lang="en-US" dirty="0"/>
              <a:t> </a:t>
            </a:r>
            <a:r>
              <a:rPr lang="en-US" dirty="0" err="1"/>
              <a:t>ajanın</a:t>
            </a:r>
            <a:r>
              <a:rPr lang="en-US" dirty="0"/>
              <a:t> </a:t>
            </a:r>
            <a:r>
              <a:rPr lang="en-US" dirty="0" err="1"/>
              <a:t>hareketleri</a:t>
            </a:r>
            <a:r>
              <a:rPr lang="en-US" dirty="0"/>
              <a:t>, </a:t>
            </a:r>
            <a:r>
              <a:rPr lang="en-US" dirty="0" err="1"/>
              <a:t>aldığı</a:t>
            </a:r>
            <a:r>
              <a:rPr lang="en-US" dirty="0"/>
              <a:t> </a:t>
            </a:r>
            <a:r>
              <a:rPr lang="en-US" dirty="0" err="1"/>
              <a:t>ödüller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performans</a:t>
            </a:r>
            <a:r>
              <a:rPr lang="en-US" dirty="0"/>
              <a:t> </a:t>
            </a:r>
            <a:r>
              <a:rPr lang="en-US" dirty="0" err="1"/>
              <a:t>metrikleri</a:t>
            </a:r>
            <a:r>
              <a:rPr lang="en-US" dirty="0"/>
              <a:t> </a:t>
            </a:r>
            <a:r>
              <a:rPr lang="en-US" dirty="0" err="1"/>
              <a:t>izlenebilmektedir</a:t>
            </a:r>
            <a:r>
              <a:rPr lang="en-US" dirty="0"/>
              <a:t>.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Bu </a:t>
            </a:r>
            <a:r>
              <a:rPr lang="en-US" dirty="0" err="1"/>
              <a:t>animasyon</a:t>
            </a:r>
            <a:r>
              <a:rPr lang="en-US" dirty="0"/>
              <a:t>, PPO </a:t>
            </a:r>
            <a:r>
              <a:rPr lang="en-US" dirty="0" err="1"/>
              <a:t>algoritmasının</a:t>
            </a:r>
            <a:r>
              <a:rPr lang="en-US" dirty="0"/>
              <a:t> </a:t>
            </a:r>
            <a:r>
              <a:rPr lang="en-US" dirty="0" err="1"/>
              <a:t>öğrenilen</a:t>
            </a:r>
            <a:r>
              <a:rPr lang="en-US" dirty="0"/>
              <a:t> </a:t>
            </a:r>
            <a:r>
              <a:rPr lang="en-US" dirty="0" err="1"/>
              <a:t>politika</a:t>
            </a:r>
            <a:r>
              <a:rPr lang="en-US" dirty="0"/>
              <a:t> </a:t>
            </a:r>
            <a:r>
              <a:rPr lang="en-US" dirty="0" err="1"/>
              <a:t>doğrultusunda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yönlendirme</a:t>
            </a:r>
            <a:r>
              <a:rPr lang="en-US" dirty="0"/>
              <a:t> </a:t>
            </a:r>
            <a:r>
              <a:rPr lang="en-US" dirty="0" err="1"/>
              <a:t>yaptığını</a:t>
            </a:r>
            <a:r>
              <a:rPr lang="en-US" dirty="0"/>
              <a:t> </a:t>
            </a:r>
            <a:r>
              <a:rPr lang="en-US" dirty="0" err="1"/>
              <a:t>görsel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göstermektedir</a:t>
            </a:r>
            <a:r>
              <a:rPr lang="en-US" dirty="0"/>
              <a:t>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2D9AAD9-72EA-4EB3-F85B-1A8ED1BF6DD9}"/>
              </a:ext>
            </a:extLst>
          </p:cNvPr>
          <p:cNvSpPr txBox="1">
            <a:spLocks/>
          </p:cNvSpPr>
          <p:nvPr/>
        </p:nvSpPr>
        <p:spPr>
          <a:xfrm>
            <a:off x="9201150" y="649287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27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773969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FA4459-2AC7-86C3-9ECE-ED253646B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950" y="874289"/>
            <a:ext cx="4362450" cy="56185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E665E3-26C0-F873-EE13-311CFC6A6195}"/>
              </a:ext>
            </a:extLst>
          </p:cNvPr>
          <p:cNvSpPr txBox="1"/>
          <p:nvPr/>
        </p:nvSpPr>
        <p:spPr>
          <a:xfrm>
            <a:off x="2095500" y="191347"/>
            <a:ext cx="9505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1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DQN </a:t>
            </a:r>
            <a:r>
              <a:rPr lang="en-US" sz="31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Ajanının</a:t>
            </a:r>
            <a:r>
              <a:rPr lang="en-US" sz="31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1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Otopark</a:t>
            </a:r>
            <a:r>
              <a:rPr lang="en-US" sz="31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1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Yönlendirme</a:t>
            </a:r>
            <a:r>
              <a:rPr lang="en-US" sz="31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1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Simülasyonu</a:t>
            </a:r>
            <a:endParaRPr lang="en-US" sz="31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744DC4-025B-62D3-50DA-FF060B500A89}"/>
              </a:ext>
            </a:extLst>
          </p:cNvPr>
          <p:cNvSpPr txBox="1"/>
          <p:nvPr/>
        </p:nvSpPr>
        <p:spPr>
          <a:xfrm>
            <a:off x="400050" y="1159639"/>
            <a:ext cx="6705600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DQN </a:t>
            </a:r>
            <a:r>
              <a:rPr lang="en-US" dirty="0" err="1"/>
              <a:t>ajanının</a:t>
            </a:r>
            <a:r>
              <a:rPr lang="en-US" dirty="0"/>
              <a:t> </a:t>
            </a:r>
            <a:r>
              <a:rPr lang="en-US" b="1" dirty="0"/>
              <a:t>15×15</a:t>
            </a:r>
            <a:r>
              <a:rPr lang="en-US" dirty="0"/>
              <a:t> grid </a:t>
            </a:r>
            <a:r>
              <a:rPr lang="en-US" dirty="0" err="1"/>
              <a:t>ortamındaki</a:t>
            </a:r>
            <a:r>
              <a:rPr lang="en-US" dirty="0"/>
              <a:t> </a:t>
            </a:r>
            <a:r>
              <a:rPr lang="en-US" dirty="0" err="1"/>
              <a:t>hareketleri</a:t>
            </a:r>
            <a:r>
              <a:rPr lang="en-US" dirty="0"/>
              <a:t> </a:t>
            </a:r>
            <a:r>
              <a:rPr lang="en-US" dirty="0" err="1"/>
              <a:t>animasyonlu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gösterilmektedir</a:t>
            </a:r>
            <a:r>
              <a:rPr lang="en-US" dirty="0"/>
              <a:t>.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Ajan, </a:t>
            </a:r>
            <a:r>
              <a:rPr lang="en-US" dirty="0" err="1"/>
              <a:t>başlangıç</a:t>
            </a:r>
            <a:r>
              <a:rPr lang="en-US" dirty="0"/>
              <a:t> </a:t>
            </a:r>
            <a:r>
              <a:rPr lang="en-US" dirty="0" err="1"/>
              <a:t>noktasından</a:t>
            </a:r>
            <a:r>
              <a:rPr lang="en-US" dirty="0"/>
              <a:t> </a:t>
            </a:r>
            <a:r>
              <a:rPr lang="en-US" dirty="0" err="1"/>
              <a:t>uygun</a:t>
            </a:r>
            <a:r>
              <a:rPr lang="en-US" dirty="0"/>
              <a:t> park </a:t>
            </a:r>
            <a:r>
              <a:rPr lang="en-US" dirty="0" err="1"/>
              <a:t>alanına</a:t>
            </a:r>
            <a:r>
              <a:rPr lang="en-US" dirty="0"/>
              <a:t> </a:t>
            </a:r>
            <a:r>
              <a:rPr lang="en-US" dirty="0" err="1"/>
              <a:t>ulaşmak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kararlar</a:t>
            </a:r>
            <a:r>
              <a:rPr lang="en-US" dirty="0"/>
              <a:t> </a:t>
            </a:r>
            <a:r>
              <a:rPr lang="en-US" dirty="0" err="1"/>
              <a:t>almaktadır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Kararlar</a:t>
            </a:r>
            <a:r>
              <a:rPr lang="en-US" dirty="0"/>
              <a:t>, </a:t>
            </a:r>
            <a:r>
              <a:rPr lang="en-US" dirty="0" err="1"/>
              <a:t>öğrenilen</a:t>
            </a:r>
            <a:r>
              <a:rPr lang="en-US" dirty="0"/>
              <a:t> Q-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kullanılarak</a:t>
            </a:r>
            <a:r>
              <a:rPr lang="en-US" dirty="0"/>
              <a:t> </a:t>
            </a:r>
            <a:r>
              <a:rPr lang="en-US" dirty="0" err="1"/>
              <a:t>üretilmektedir</a:t>
            </a:r>
            <a:r>
              <a:rPr lang="en-US" dirty="0"/>
              <a:t>. </a:t>
            </a:r>
            <a:r>
              <a:rPr lang="en-US" dirty="0" err="1"/>
              <a:t>Simülasyon</a:t>
            </a:r>
            <a:r>
              <a:rPr lang="en-US" dirty="0"/>
              <a:t> </a:t>
            </a:r>
            <a:r>
              <a:rPr lang="en-US" dirty="0" err="1"/>
              <a:t>boyunca</a:t>
            </a:r>
            <a:r>
              <a:rPr lang="en-US" dirty="0"/>
              <a:t> </a:t>
            </a:r>
            <a:r>
              <a:rPr lang="en-US" dirty="0" err="1"/>
              <a:t>ajanın</a:t>
            </a:r>
            <a:r>
              <a:rPr lang="en-US" dirty="0"/>
              <a:t> </a:t>
            </a:r>
            <a:r>
              <a:rPr lang="en-US" dirty="0" err="1"/>
              <a:t>çevre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etkileşimi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izlediği</a:t>
            </a:r>
            <a:r>
              <a:rPr lang="en-US" dirty="0"/>
              <a:t> </a:t>
            </a:r>
            <a:r>
              <a:rPr lang="en-US" dirty="0" err="1"/>
              <a:t>rota</a:t>
            </a:r>
            <a:r>
              <a:rPr lang="en-US" dirty="0"/>
              <a:t> </a:t>
            </a:r>
            <a:r>
              <a:rPr lang="en-US" dirty="0" err="1"/>
              <a:t>gözlemlenebilmektedir</a:t>
            </a:r>
            <a:r>
              <a:rPr lang="en-US" dirty="0"/>
              <a:t>.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PPO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karşılaştırıldığında</a:t>
            </a:r>
            <a:r>
              <a:rPr lang="en-US" dirty="0"/>
              <a:t> DQN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kararsız</a:t>
            </a:r>
            <a:r>
              <a:rPr lang="en-US" dirty="0"/>
              <a:t> </a:t>
            </a:r>
            <a:r>
              <a:rPr lang="en-US" dirty="0" err="1"/>
              <a:t>hareketler</a:t>
            </a:r>
            <a:r>
              <a:rPr lang="en-US" dirty="0"/>
              <a:t> </a:t>
            </a:r>
            <a:r>
              <a:rPr lang="en-US" dirty="0" err="1"/>
              <a:t>sergileyebilmekte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uzun</a:t>
            </a:r>
            <a:r>
              <a:rPr lang="en-US" dirty="0"/>
              <a:t> </a:t>
            </a:r>
            <a:r>
              <a:rPr lang="en-US" dirty="0" err="1"/>
              <a:t>rotalar</a:t>
            </a:r>
            <a:r>
              <a:rPr lang="en-US" dirty="0"/>
              <a:t> </a:t>
            </a:r>
            <a:r>
              <a:rPr lang="en-US" dirty="0" err="1"/>
              <a:t>oluşturabilmektedir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 </a:t>
            </a:r>
            <a:r>
              <a:rPr lang="en-US" dirty="0" err="1"/>
              <a:t>animasyon</a:t>
            </a:r>
            <a:r>
              <a:rPr lang="en-US" dirty="0"/>
              <a:t>, DQN </a:t>
            </a:r>
            <a:r>
              <a:rPr lang="en-US" dirty="0" err="1"/>
              <a:t>algoritmasının</a:t>
            </a:r>
            <a:r>
              <a:rPr lang="en-US" dirty="0"/>
              <a:t> </a:t>
            </a:r>
            <a:r>
              <a:rPr lang="en-US" dirty="0" err="1"/>
              <a:t>yönlendirme</a:t>
            </a:r>
            <a:r>
              <a:rPr lang="en-US" dirty="0"/>
              <a:t> </a:t>
            </a:r>
            <a:r>
              <a:rPr lang="en-US" dirty="0" err="1"/>
              <a:t>performansını</a:t>
            </a:r>
            <a:r>
              <a:rPr lang="en-US" dirty="0"/>
              <a:t> </a:t>
            </a:r>
            <a:r>
              <a:rPr lang="en-US" dirty="0" err="1"/>
              <a:t>görsel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değerlendirmeyi</a:t>
            </a:r>
            <a:r>
              <a:rPr lang="en-US" dirty="0"/>
              <a:t> </a:t>
            </a:r>
            <a:r>
              <a:rPr lang="en-US" dirty="0" err="1"/>
              <a:t>sağlamaktadır</a:t>
            </a:r>
            <a:r>
              <a:rPr lang="en-US" dirty="0"/>
              <a:t>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0B353E1-EE27-2DFD-84EB-3DEB7867950A}"/>
              </a:ext>
            </a:extLst>
          </p:cNvPr>
          <p:cNvSpPr txBox="1">
            <a:spLocks/>
          </p:cNvSpPr>
          <p:nvPr/>
        </p:nvSpPr>
        <p:spPr>
          <a:xfrm>
            <a:off x="9220200" y="649287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28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065662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F42095-659D-0C97-FA3F-D34702B8E74D}"/>
              </a:ext>
            </a:extLst>
          </p:cNvPr>
          <p:cNvSpPr txBox="1"/>
          <p:nvPr/>
        </p:nvSpPr>
        <p:spPr>
          <a:xfrm>
            <a:off x="1409699" y="164008"/>
            <a:ext cx="97610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PPO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ve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DQN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Eğitim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Performanslarının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Karşılaştırılması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B53C33-7B68-5359-3221-353D64943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334" y="820385"/>
            <a:ext cx="7089331" cy="33093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E2F571-1F54-4A3F-2595-C807687A67D8}"/>
              </a:ext>
            </a:extLst>
          </p:cNvPr>
          <p:cNvSpPr txBox="1"/>
          <p:nvPr/>
        </p:nvSpPr>
        <p:spPr>
          <a:xfrm>
            <a:off x="704850" y="4201337"/>
            <a:ext cx="1133475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PPO </a:t>
            </a:r>
            <a:r>
              <a:rPr lang="en-US" dirty="0" err="1"/>
              <a:t>algoritmasının</a:t>
            </a:r>
            <a:r>
              <a:rPr lang="en-US" dirty="0"/>
              <a:t> </a:t>
            </a:r>
            <a:r>
              <a:rPr lang="en-US" dirty="0" err="1"/>
              <a:t>bölüm</a:t>
            </a:r>
            <a:r>
              <a:rPr lang="en-US" dirty="0"/>
              <a:t> </a:t>
            </a:r>
            <a:r>
              <a:rPr lang="en-US" dirty="0" err="1"/>
              <a:t>ödülleri</a:t>
            </a:r>
            <a:r>
              <a:rPr lang="en-US" dirty="0"/>
              <a:t> </a:t>
            </a:r>
            <a:r>
              <a:rPr lang="en-US" dirty="0" err="1"/>
              <a:t>eğitim</a:t>
            </a:r>
            <a:r>
              <a:rPr lang="en-US" dirty="0"/>
              <a:t> </a:t>
            </a:r>
            <a:r>
              <a:rPr lang="en-US" dirty="0" err="1"/>
              <a:t>süreci</a:t>
            </a:r>
            <a:r>
              <a:rPr lang="en-US" dirty="0"/>
              <a:t> </a:t>
            </a:r>
            <a:r>
              <a:rPr lang="en-US" dirty="0" err="1"/>
              <a:t>boyunca</a:t>
            </a:r>
            <a:r>
              <a:rPr lang="en-US" dirty="0"/>
              <a:t> </a:t>
            </a:r>
            <a:r>
              <a:rPr lang="en-US" dirty="0" err="1"/>
              <a:t>düzenli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artmış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kararlı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seviyeye</a:t>
            </a:r>
            <a:r>
              <a:rPr lang="en-US" dirty="0"/>
              <a:t> </a:t>
            </a:r>
            <a:r>
              <a:rPr lang="en-US" dirty="0" err="1"/>
              <a:t>ulaşmıştır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PPO'nun</a:t>
            </a:r>
            <a:r>
              <a:rPr lang="en-US" dirty="0"/>
              <a:t> </a:t>
            </a:r>
            <a:r>
              <a:rPr lang="en-US" dirty="0" err="1"/>
              <a:t>hareketli</a:t>
            </a:r>
            <a:r>
              <a:rPr lang="en-US" dirty="0"/>
              <a:t> </a:t>
            </a:r>
            <a:r>
              <a:rPr lang="en-US" dirty="0" err="1"/>
              <a:t>ortalama</a:t>
            </a:r>
            <a:r>
              <a:rPr lang="en-US" dirty="0"/>
              <a:t> </a:t>
            </a:r>
            <a:r>
              <a:rPr lang="en-US" dirty="0" err="1"/>
              <a:t>ödülü</a:t>
            </a:r>
            <a:r>
              <a:rPr lang="en-US" dirty="0"/>
              <a:t> </a:t>
            </a:r>
            <a:r>
              <a:rPr lang="en-US" dirty="0" err="1"/>
              <a:t>zamanla</a:t>
            </a:r>
            <a:r>
              <a:rPr lang="en-US" dirty="0"/>
              <a:t> </a:t>
            </a:r>
            <a:r>
              <a:rPr lang="en-US" dirty="0" err="1"/>
              <a:t>yükselerek</a:t>
            </a:r>
            <a:r>
              <a:rPr lang="en-US" dirty="0"/>
              <a:t> </a:t>
            </a:r>
            <a:r>
              <a:rPr lang="en-US" dirty="0" err="1"/>
              <a:t>öğrenmenin</a:t>
            </a:r>
            <a:r>
              <a:rPr lang="en-US" dirty="0"/>
              <a:t> </a:t>
            </a:r>
            <a:r>
              <a:rPr lang="en-US" dirty="0" err="1"/>
              <a:t>başarılı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gerçekleştiğini</a:t>
            </a:r>
            <a:r>
              <a:rPr lang="en-US" dirty="0"/>
              <a:t> </a:t>
            </a:r>
            <a:r>
              <a:rPr lang="en-US" dirty="0" err="1"/>
              <a:t>göstermektedir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DQN </a:t>
            </a:r>
            <a:r>
              <a:rPr lang="en-US" dirty="0" err="1"/>
              <a:t>algoritması</a:t>
            </a:r>
            <a:r>
              <a:rPr lang="en-US" dirty="0"/>
              <a:t> </a:t>
            </a:r>
            <a:r>
              <a:rPr lang="en-US" dirty="0" err="1"/>
              <a:t>başlangıçta</a:t>
            </a:r>
            <a:r>
              <a:rPr lang="en-US" dirty="0"/>
              <a:t> </a:t>
            </a:r>
            <a:r>
              <a:rPr lang="en-US" dirty="0" err="1"/>
              <a:t>öğrenme</a:t>
            </a:r>
            <a:r>
              <a:rPr lang="en-US" dirty="0"/>
              <a:t> </a:t>
            </a:r>
            <a:r>
              <a:rPr lang="en-US" dirty="0" err="1"/>
              <a:t>gösterse</a:t>
            </a:r>
            <a:r>
              <a:rPr lang="en-US" dirty="0"/>
              <a:t> de </a:t>
            </a:r>
            <a:r>
              <a:rPr lang="en-US" dirty="0" err="1"/>
              <a:t>ilerleyen</a:t>
            </a:r>
            <a:r>
              <a:rPr lang="en-US" dirty="0"/>
              <a:t> </a:t>
            </a:r>
            <a:r>
              <a:rPr lang="en-US" dirty="0" err="1"/>
              <a:t>bölümlerde</a:t>
            </a:r>
            <a:r>
              <a:rPr lang="en-US" dirty="0"/>
              <a:t> </a:t>
            </a:r>
            <a:r>
              <a:rPr lang="en-US" dirty="0" err="1"/>
              <a:t>performans</a:t>
            </a:r>
            <a:r>
              <a:rPr lang="en-US" dirty="0"/>
              <a:t> </a:t>
            </a:r>
            <a:r>
              <a:rPr lang="en-US" dirty="0" err="1"/>
              <a:t>kaybı</a:t>
            </a:r>
            <a:r>
              <a:rPr lang="en-US" dirty="0"/>
              <a:t> </a:t>
            </a:r>
            <a:r>
              <a:rPr lang="en-US" dirty="0" err="1"/>
              <a:t>yaşamıştır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PPO'nun</a:t>
            </a:r>
            <a:r>
              <a:rPr lang="en-US" dirty="0"/>
              <a:t> </a:t>
            </a:r>
            <a:r>
              <a:rPr lang="en-US" dirty="0" err="1"/>
              <a:t>başarı</a:t>
            </a:r>
            <a:r>
              <a:rPr lang="en-US" dirty="0"/>
              <a:t> </a:t>
            </a:r>
            <a:r>
              <a:rPr lang="en-US" dirty="0" err="1"/>
              <a:t>oranı</a:t>
            </a:r>
            <a:r>
              <a:rPr lang="en-US" dirty="0"/>
              <a:t> </a:t>
            </a:r>
            <a:r>
              <a:rPr lang="en-US" dirty="0" err="1"/>
              <a:t>eğitim</a:t>
            </a:r>
            <a:r>
              <a:rPr lang="en-US" dirty="0"/>
              <a:t> </a:t>
            </a:r>
            <a:r>
              <a:rPr lang="en-US" dirty="0" err="1"/>
              <a:t>sonunda</a:t>
            </a:r>
            <a:r>
              <a:rPr lang="en-US" dirty="0"/>
              <a:t> </a:t>
            </a:r>
            <a:r>
              <a:rPr lang="en-US" dirty="0" err="1"/>
              <a:t>yaklaşık</a:t>
            </a:r>
            <a:r>
              <a:rPr lang="en-US" dirty="0"/>
              <a:t> %95–100 </a:t>
            </a:r>
            <a:r>
              <a:rPr lang="en-US" dirty="0" err="1"/>
              <a:t>seviyelerine</a:t>
            </a:r>
            <a:r>
              <a:rPr lang="en-US" dirty="0"/>
              <a:t> </a:t>
            </a:r>
            <a:r>
              <a:rPr lang="en-US" dirty="0" err="1"/>
              <a:t>ulaşmıştır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DQN'in</a:t>
            </a:r>
            <a:r>
              <a:rPr lang="en-US" dirty="0"/>
              <a:t> </a:t>
            </a:r>
            <a:r>
              <a:rPr lang="en-US" dirty="0" err="1"/>
              <a:t>başarı</a:t>
            </a:r>
            <a:r>
              <a:rPr lang="en-US" dirty="0"/>
              <a:t> </a:t>
            </a:r>
            <a:r>
              <a:rPr lang="en-US" dirty="0" err="1"/>
              <a:t>oranı</a:t>
            </a:r>
            <a:r>
              <a:rPr lang="en-US" dirty="0"/>
              <a:t> </a:t>
            </a:r>
            <a:r>
              <a:rPr lang="en-US" dirty="0" err="1"/>
              <a:t>zamanla</a:t>
            </a:r>
            <a:r>
              <a:rPr lang="en-US" dirty="0"/>
              <a:t> </a:t>
            </a:r>
            <a:r>
              <a:rPr lang="en-US" dirty="0" err="1"/>
              <a:t>düşmüş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kararsız</a:t>
            </a:r>
            <a:r>
              <a:rPr lang="en-US" dirty="0"/>
              <a:t> </a:t>
            </a:r>
            <a:r>
              <a:rPr lang="en-US" dirty="0" err="1"/>
              <a:t>öğrenme</a:t>
            </a:r>
            <a:r>
              <a:rPr lang="en-US" dirty="0"/>
              <a:t> </a:t>
            </a:r>
            <a:r>
              <a:rPr lang="en-US" dirty="0" err="1"/>
              <a:t>davranışı</a:t>
            </a:r>
            <a:r>
              <a:rPr lang="en-US" dirty="0"/>
              <a:t> </a:t>
            </a:r>
            <a:r>
              <a:rPr lang="en-US" dirty="0" err="1"/>
              <a:t>sergilemiştir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PPO, </a:t>
            </a:r>
            <a:r>
              <a:rPr lang="en-US" dirty="0" err="1"/>
              <a:t>ödül</a:t>
            </a:r>
            <a:r>
              <a:rPr lang="en-US" dirty="0"/>
              <a:t> </a:t>
            </a:r>
            <a:r>
              <a:rPr lang="en-US" dirty="0" err="1"/>
              <a:t>değeri</a:t>
            </a:r>
            <a:r>
              <a:rPr lang="en-US" dirty="0"/>
              <a:t>, </a:t>
            </a:r>
            <a:r>
              <a:rPr lang="en-US" dirty="0" err="1"/>
              <a:t>başarı</a:t>
            </a:r>
            <a:r>
              <a:rPr lang="en-US" dirty="0"/>
              <a:t> </a:t>
            </a:r>
            <a:r>
              <a:rPr lang="en-US" dirty="0" err="1"/>
              <a:t>oranı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öğrenme</a:t>
            </a:r>
            <a:r>
              <a:rPr lang="en-US" dirty="0"/>
              <a:t> </a:t>
            </a:r>
            <a:r>
              <a:rPr lang="en-US" dirty="0" err="1"/>
              <a:t>kararlılığı</a:t>
            </a:r>
            <a:r>
              <a:rPr lang="en-US" dirty="0"/>
              <a:t> </a:t>
            </a:r>
            <a:r>
              <a:rPr lang="en-US" dirty="0" err="1"/>
              <a:t>açısından</a:t>
            </a:r>
            <a:r>
              <a:rPr lang="en-US" dirty="0"/>
              <a:t> </a:t>
            </a:r>
            <a:r>
              <a:rPr lang="en-US" dirty="0" err="1"/>
              <a:t>DQN'den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başarılı</a:t>
            </a:r>
            <a:r>
              <a:rPr lang="en-US" dirty="0"/>
              <a:t> </a:t>
            </a:r>
            <a:r>
              <a:rPr lang="en-US" dirty="0" err="1"/>
              <a:t>sonuçlar</a:t>
            </a:r>
            <a:r>
              <a:rPr lang="en-US" dirty="0"/>
              <a:t>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etmiştir</a:t>
            </a:r>
            <a:r>
              <a:rPr lang="en-US" dirty="0"/>
              <a:t>. 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2DDDCBA-C8C5-E40D-546E-206DF6C6A0C6}"/>
              </a:ext>
            </a:extLst>
          </p:cNvPr>
          <p:cNvSpPr txBox="1">
            <a:spLocks/>
          </p:cNvSpPr>
          <p:nvPr/>
        </p:nvSpPr>
        <p:spPr>
          <a:xfrm>
            <a:off x="9140971" y="63301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29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78737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B9D8E6-4812-AC6A-A91A-26ECFCA6562E}"/>
              </a:ext>
            </a:extLst>
          </p:cNvPr>
          <p:cNvSpPr txBox="1"/>
          <p:nvPr/>
        </p:nvSpPr>
        <p:spPr>
          <a:xfrm>
            <a:off x="1257300" y="196334"/>
            <a:ext cx="102489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B</a:t>
            </a:r>
            <a:r>
              <a:rPr lang="tr-TR" sz="3200" b="1" i="0" dirty="0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ASELINE :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Greedy Shortest Path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Algoritması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Simülasyonu</a:t>
            </a:r>
            <a:r>
              <a:rPr lang="tr-TR" sz="3200" b="1" i="0" dirty="0">
                <a:solidFill>
                  <a:schemeClr val="accent4">
                    <a:lumMod val="50000"/>
                  </a:schemeClr>
                </a:solidFill>
                <a:effectLst/>
                <a:latin typeface="+mj-lt"/>
              </a:rPr>
              <a:t> 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CB5E74-70C6-3EA1-1397-0180B8CF8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868309"/>
            <a:ext cx="4313500" cy="56267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04EE93-62D6-75C8-AEC2-38E28D888EA2}"/>
              </a:ext>
            </a:extLst>
          </p:cNvPr>
          <p:cNvSpPr txBox="1"/>
          <p:nvPr/>
        </p:nvSpPr>
        <p:spPr>
          <a:xfrm>
            <a:off x="495300" y="1298139"/>
            <a:ext cx="7219950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Greedy Shortest Path </a:t>
            </a:r>
            <a:r>
              <a:rPr lang="en-US" dirty="0" err="1"/>
              <a:t>algoritması</a:t>
            </a:r>
            <a:r>
              <a:rPr lang="en-US" dirty="0"/>
              <a:t>, her </a:t>
            </a:r>
            <a:r>
              <a:rPr lang="en-US" dirty="0" err="1"/>
              <a:t>adımda</a:t>
            </a:r>
            <a:r>
              <a:rPr lang="en-US" dirty="0"/>
              <a:t> </a:t>
            </a:r>
            <a:r>
              <a:rPr lang="en-US" dirty="0" err="1"/>
              <a:t>hedefe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yakın</a:t>
            </a:r>
            <a:r>
              <a:rPr lang="en-US" dirty="0"/>
              <a:t> </a:t>
            </a:r>
            <a:r>
              <a:rPr lang="en-US" dirty="0" err="1"/>
              <a:t>hücreyi</a:t>
            </a:r>
            <a:r>
              <a:rPr lang="en-US" dirty="0"/>
              <a:t> </a:t>
            </a:r>
            <a:r>
              <a:rPr lang="en-US" dirty="0" err="1"/>
              <a:t>seçerek</a:t>
            </a:r>
            <a:r>
              <a:rPr lang="en-US" dirty="0"/>
              <a:t> </a:t>
            </a:r>
            <a:r>
              <a:rPr lang="en-US" dirty="0" err="1"/>
              <a:t>ilerlemektedir</a:t>
            </a:r>
            <a:r>
              <a:rPr lang="en-US" dirty="0"/>
              <a:t>.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Karar </a:t>
            </a:r>
            <a:r>
              <a:rPr lang="en-US" dirty="0" err="1"/>
              <a:t>verme</a:t>
            </a:r>
            <a:r>
              <a:rPr lang="en-US" dirty="0"/>
              <a:t> </a:t>
            </a:r>
            <a:r>
              <a:rPr lang="en-US" dirty="0" err="1"/>
              <a:t>sürecinde</a:t>
            </a:r>
            <a:r>
              <a:rPr lang="en-US" dirty="0"/>
              <a:t> </a:t>
            </a:r>
            <a:r>
              <a:rPr lang="en-US" dirty="0" err="1"/>
              <a:t>öğrenme</a:t>
            </a:r>
            <a:r>
              <a:rPr lang="en-US" dirty="0"/>
              <a:t> </a:t>
            </a:r>
            <a:r>
              <a:rPr lang="en-US" dirty="0" err="1"/>
              <a:t>mekanizması</a:t>
            </a:r>
            <a:r>
              <a:rPr lang="en-US" dirty="0"/>
              <a:t> </a:t>
            </a:r>
            <a:r>
              <a:rPr lang="en-US" dirty="0" err="1"/>
              <a:t>bulunmamaktadır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mevcut</a:t>
            </a:r>
            <a:r>
              <a:rPr lang="en-US" dirty="0"/>
              <a:t> </a:t>
            </a:r>
            <a:r>
              <a:rPr lang="en-US" dirty="0" err="1"/>
              <a:t>konuma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kısa</a:t>
            </a:r>
            <a:r>
              <a:rPr lang="en-US" dirty="0"/>
              <a:t> </a:t>
            </a:r>
            <a:r>
              <a:rPr lang="en-US" dirty="0" err="1"/>
              <a:t>yönü</a:t>
            </a:r>
            <a:r>
              <a:rPr lang="en-US" dirty="0"/>
              <a:t> </a:t>
            </a:r>
            <a:r>
              <a:rPr lang="en-US" dirty="0" err="1"/>
              <a:t>tercih</a:t>
            </a:r>
            <a:r>
              <a:rPr lang="en-US" dirty="0"/>
              <a:t> </a:t>
            </a:r>
            <a:r>
              <a:rPr lang="en-US" dirty="0" err="1"/>
              <a:t>etmektedir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 </a:t>
            </a:r>
            <a:r>
              <a:rPr lang="en-US" dirty="0" err="1"/>
              <a:t>yaklaşım</a:t>
            </a:r>
            <a:r>
              <a:rPr lang="en-US" dirty="0"/>
              <a:t> </a:t>
            </a:r>
            <a:r>
              <a:rPr lang="en-US" dirty="0" err="1"/>
              <a:t>sayesinde</a:t>
            </a:r>
            <a:r>
              <a:rPr lang="en-US" dirty="0"/>
              <a:t> </a:t>
            </a:r>
            <a:r>
              <a:rPr lang="en-US" dirty="0" err="1"/>
              <a:t>hedefe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kısa</a:t>
            </a:r>
            <a:r>
              <a:rPr lang="en-US" dirty="0"/>
              <a:t> </a:t>
            </a:r>
            <a:r>
              <a:rPr lang="en-US" dirty="0" err="1"/>
              <a:t>sürede</a:t>
            </a:r>
            <a:r>
              <a:rPr lang="en-US" dirty="0"/>
              <a:t> </a:t>
            </a:r>
            <a:r>
              <a:rPr lang="en-US" dirty="0" err="1"/>
              <a:t>ulaşabilmektedir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Performansı</a:t>
            </a:r>
            <a:r>
              <a:rPr lang="en-US" dirty="0"/>
              <a:t> </a:t>
            </a:r>
            <a:r>
              <a:rPr lang="en-US" dirty="0" err="1"/>
              <a:t>referans</a:t>
            </a:r>
            <a:r>
              <a:rPr lang="en-US" dirty="0"/>
              <a:t> (baseline)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kullanılarak</a:t>
            </a:r>
            <a:r>
              <a:rPr lang="en-US" dirty="0"/>
              <a:t> PPO </a:t>
            </a:r>
            <a:r>
              <a:rPr lang="en-US" dirty="0" err="1"/>
              <a:t>ve</a:t>
            </a:r>
            <a:r>
              <a:rPr lang="en-US" dirty="0"/>
              <a:t> DQN </a:t>
            </a:r>
            <a:r>
              <a:rPr lang="en-US" dirty="0" err="1"/>
              <a:t>algoritmaları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karşılaştırılmıştır</a:t>
            </a:r>
            <a:r>
              <a:rPr lang="en-US" dirty="0"/>
              <a:t>.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Sonuçlar</a:t>
            </a:r>
            <a:r>
              <a:rPr lang="en-US" dirty="0"/>
              <a:t>, Greedy </a:t>
            </a:r>
            <a:r>
              <a:rPr lang="en-US" dirty="0" err="1"/>
              <a:t>yaklaşımının</a:t>
            </a:r>
            <a:r>
              <a:rPr lang="en-US" dirty="0"/>
              <a:t> </a:t>
            </a:r>
            <a:r>
              <a:rPr lang="en-US" dirty="0" err="1"/>
              <a:t>basit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hızlı</a:t>
            </a:r>
            <a:r>
              <a:rPr lang="en-US" dirty="0"/>
              <a:t> </a:t>
            </a:r>
            <a:r>
              <a:rPr lang="en-US" dirty="0" err="1"/>
              <a:t>olmasına</a:t>
            </a:r>
            <a:r>
              <a:rPr lang="en-US" dirty="0"/>
              <a:t> </a:t>
            </a:r>
            <a:r>
              <a:rPr lang="en-US" dirty="0" err="1"/>
              <a:t>rağmen</a:t>
            </a:r>
            <a:r>
              <a:rPr lang="en-US" dirty="0"/>
              <a:t> </a:t>
            </a:r>
            <a:r>
              <a:rPr lang="en-US" dirty="0" err="1"/>
              <a:t>çevresel</a:t>
            </a:r>
            <a:r>
              <a:rPr lang="en-US" dirty="0"/>
              <a:t> </a:t>
            </a:r>
            <a:r>
              <a:rPr lang="en-US" dirty="0" err="1"/>
              <a:t>değişimlere</a:t>
            </a:r>
            <a:r>
              <a:rPr lang="en-US" dirty="0"/>
              <a:t> </a:t>
            </a:r>
            <a:r>
              <a:rPr lang="en-US" dirty="0" err="1"/>
              <a:t>uyum</a:t>
            </a:r>
            <a:r>
              <a:rPr lang="en-US" dirty="0"/>
              <a:t> </a:t>
            </a:r>
            <a:r>
              <a:rPr lang="en-US" dirty="0" err="1"/>
              <a:t>sağlayamadığını</a:t>
            </a:r>
            <a:r>
              <a:rPr lang="en-US" dirty="0"/>
              <a:t> </a:t>
            </a:r>
            <a:r>
              <a:rPr lang="en-US" dirty="0" err="1"/>
              <a:t>göstermektedir</a:t>
            </a:r>
            <a:r>
              <a:rPr lang="en-US" dirty="0"/>
              <a:t>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E6266FD-3313-C558-92B8-80E31B7251E4}"/>
              </a:ext>
            </a:extLst>
          </p:cNvPr>
          <p:cNvSpPr txBox="1">
            <a:spLocks/>
          </p:cNvSpPr>
          <p:nvPr/>
        </p:nvSpPr>
        <p:spPr>
          <a:xfrm>
            <a:off x="9159825" y="6495068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30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91287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249FB7-3A16-00F0-DFD3-92E90ADA3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057" y="924518"/>
            <a:ext cx="4307486" cy="55683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732336-B651-9063-972F-D3CB8E91F90F}"/>
              </a:ext>
            </a:extLst>
          </p:cNvPr>
          <p:cNvSpPr txBox="1"/>
          <p:nvPr/>
        </p:nvSpPr>
        <p:spPr>
          <a:xfrm>
            <a:off x="3733800" y="32015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Random Ajan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Simülasyonu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0C9357-D3AE-1ADD-A199-08BDD8923F26}"/>
              </a:ext>
            </a:extLst>
          </p:cNvPr>
          <p:cNvSpPr txBox="1"/>
          <p:nvPr/>
        </p:nvSpPr>
        <p:spPr>
          <a:xfrm>
            <a:off x="628650" y="1384300"/>
            <a:ext cx="6896100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Random </a:t>
            </a:r>
            <a:r>
              <a:rPr lang="en-US" dirty="0" err="1"/>
              <a:t>ajan</a:t>
            </a:r>
            <a:r>
              <a:rPr lang="en-US" dirty="0"/>
              <a:t>, </a:t>
            </a:r>
            <a:r>
              <a:rPr lang="en-US" dirty="0" err="1"/>
              <a:t>hareketlerini</a:t>
            </a:r>
            <a:r>
              <a:rPr lang="en-US" dirty="0"/>
              <a:t> </a:t>
            </a:r>
            <a:r>
              <a:rPr lang="en-US" dirty="0" err="1"/>
              <a:t>tamamen</a:t>
            </a:r>
            <a:r>
              <a:rPr lang="en-US" dirty="0"/>
              <a:t> </a:t>
            </a:r>
            <a:r>
              <a:rPr lang="en-US" dirty="0" err="1"/>
              <a:t>rastgele</a:t>
            </a:r>
            <a:r>
              <a:rPr lang="en-US" dirty="0"/>
              <a:t> </a:t>
            </a:r>
            <a:r>
              <a:rPr lang="en-US" dirty="0" err="1"/>
              <a:t>seçmektedir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Karar </a:t>
            </a:r>
            <a:r>
              <a:rPr lang="en-US" dirty="0" err="1"/>
              <a:t>verme</a:t>
            </a:r>
            <a:r>
              <a:rPr lang="en-US" dirty="0"/>
              <a:t> </a:t>
            </a:r>
            <a:r>
              <a:rPr lang="en-US" dirty="0" err="1"/>
              <a:t>sürecinde</a:t>
            </a:r>
            <a:r>
              <a:rPr lang="en-US" dirty="0"/>
              <a:t> </a:t>
            </a:r>
            <a:r>
              <a:rPr lang="en-US" dirty="0" err="1"/>
              <a:t>herhangi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öğrenme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planlama</a:t>
            </a:r>
            <a:r>
              <a:rPr lang="en-US" dirty="0"/>
              <a:t> </a:t>
            </a:r>
            <a:r>
              <a:rPr lang="en-US" dirty="0" err="1"/>
              <a:t>mekanizması</a:t>
            </a:r>
            <a:r>
              <a:rPr lang="en-US" dirty="0"/>
              <a:t> </a:t>
            </a:r>
            <a:r>
              <a:rPr lang="en-US" dirty="0" err="1"/>
              <a:t>bulunmamaktadır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Hedefe</a:t>
            </a:r>
            <a:r>
              <a:rPr lang="en-US" dirty="0"/>
              <a:t> </a:t>
            </a:r>
            <a:r>
              <a:rPr lang="en-US" dirty="0" err="1"/>
              <a:t>ulaşma</a:t>
            </a:r>
            <a:r>
              <a:rPr lang="en-US" dirty="0"/>
              <a:t> </a:t>
            </a:r>
            <a:r>
              <a:rPr lang="en-US" dirty="0" err="1"/>
              <a:t>başarısı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ölçüde</a:t>
            </a:r>
            <a:r>
              <a:rPr lang="en-US" dirty="0"/>
              <a:t> </a:t>
            </a:r>
            <a:r>
              <a:rPr lang="en-US" dirty="0" err="1"/>
              <a:t>şansa</a:t>
            </a:r>
            <a:r>
              <a:rPr lang="en-US" dirty="0"/>
              <a:t> </a:t>
            </a:r>
            <a:r>
              <a:rPr lang="en-US" dirty="0" err="1"/>
              <a:t>bağlıdır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Rastgele</a:t>
            </a:r>
            <a:r>
              <a:rPr lang="en-US" dirty="0"/>
              <a:t> </a:t>
            </a:r>
            <a:r>
              <a:rPr lang="en-US" dirty="0" err="1"/>
              <a:t>hareketler</a:t>
            </a:r>
            <a:r>
              <a:rPr lang="en-US" dirty="0"/>
              <a:t> </a:t>
            </a:r>
            <a:r>
              <a:rPr lang="en-US" dirty="0" err="1"/>
              <a:t>nedeniyle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uzun</a:t>
            </a:r>
            <a:r>
              <a:rPr lang="en-US" dirty="0"/>
              <a:t> </a:t>
            </a:r>
            <a:r>
              <a:rPr lang="en-US" dirty="0" err="1"/>
              <a:t>yollar</a:t>
            </a:r>
            <a:r>
              <a:rPr lang="en-US" dirty="0"/>
              <a:t> </a:t>
            </a:r>
            <a:r>
              <a:rPr lang="en-US" dirty="0" err="1"/>
              <a:t>izleyebilmekte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gereksiz</a:t>
            </a:r>
            <a:r>
              <a:rPr lang="en-US" dirty="0"/>
              <a:t> </a:t>
            </a:r>
            <a:r>
              <a:rPr lang="en-US" dirty="0" err="1"/>
              <a:t>dolaşmalar</a:t>
            </a:r>
            <a:r>
              <a:rPr lang="en-US" dirty="0"/>
              <a:t> </a:t>
            </a:r>
            <a:r>
              <a:rPr lang="en-US" dirty="0" err="1"/>
              <a:t>yapabilmektedir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 </a:t>
            </a:r>
            <a:r>
              <a:rPr lang="en-US" dirty="0" err="1"/>
              <a:t>yöntem</a:t>
            </a:r>
            <a:r>
              <a:rPr lang="en-US" dirty="0"/>
              <a:t>, </a:t>
            </a:r>
            <a:r>
              <a:rPr lang="en-US" dirty="0" err="1"/>
              <a:t>sistemdeki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referans</a:t>
            </a:r>
            <a:r>
              <a:rPr lang="en-US" dirty="0"/>
              <a:t> (baseline) </a:t>
            </a:r>
            <a:r>
              <a:rPr lang="en-US" dirty="0" err="1"/>
              <a:t>yaklaşım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kullanılmıştır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PPO </a:t>
            </a:r>
            <a:r>
              <a:rPr lang="en-US" dirty="0" err="1"/>
              <a:t>ve</a:t>
            </a:r>
            <a:r>
              <a:rPr lang="en-US" dirty="0"/>
              <a:t> DQN </a:t>
            </a:r>
            <a:r>
              <a:rPr lang="en-US" dirty="0" err="1"/>
              <a:t>algoritmalarının</a:t>
            </a:r>
            <a:r>
              <a:rPr lang="en-US" dirty="0"/>
              <a:t> </a:t>
            </a:r>
            <a:r>
              <a:rPr lang="en-US" dirty="0" err="1"/>
              <a:t>performansları</a:t>
            </a:r>
            <a:r>
              <a:rPr lang="en-US" dirty="0"/>
              <a:t> Random </a:t>
            </a:r>
            <a:r>
              <a:rPr lang="en-US" dirty="0" err="1"/>
              <a:t>ajan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karşılaştırılarak</a:t>
            </a:r>
            <a:r>
              <a:rPr lang="en-US" dirty="0"/>
              <a:t> </a:t>
            </a:r>
            <a:r>
              <a:rPr lang="en-US" dirty="0" err="1"/>
              <a:t>öğrenmenin</a:t>
            </a:r>
            <a:r>
              <a:rPr lang="en-US" dirty="0"/>
              <a:t> </a:t>
            </a:r>
            <a:r>
              <a:rPr lang="en-US" dirty="0" err="1"/>
              <a:t>katkısı</a:t>
            </a:r>
            <a:r>
              <a:rPr lang="en-US" dirty="0"/>
              <a:t> </a:t>
            </a:r>
            <a:r>
              <a:rPr lang="en-US" dirty="0" err="1"/>
              <a:t>değerlendirilmiştir</a:t>
            </a:r>
            <a:r>
              <a:rPr lang="en-US" dirty="0"/>
              <a:t>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43DC407-8907-E33A-2785-AB45DA03CEE1}"/>
              </a:ext>
            </a:extLst>
          </p:cNvPr>
          <p:cNvSpPr txBox="1">
            <a:spLocks/>
          </p:cNvSpPr>
          <p:nvPr/>
        </p:nvSpPr>
        <p:spPr>
          <a:xfrm>
            <a:off x="9159824" y="649287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31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872603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D82717B-899F-3093-8B13-65ED86B7E8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609" b="8567"/>
          <a:stretch>
            <a:fillRect/>
          </a:stretch>
        </p:blipFill>
        <p:spPr>
          <a:xfrm>
            <a:off x="1622819" y="1267167"/>
            <a:ext cx="9132704" cy="2266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598DBB-B936-831F-AB81-F28A72048AC4}"/>
              </a:ext>
            </a:extLst>
          </p:cNvPr>
          <p:cNvSpPr txBox="1"/>
          <p:nvPr/>
        </p:nvSpPr>
        <p:spPr>
          <a:xfrm>
            <a:off x="3714750" y="488721"/>
            <a:ext cx="102489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LSTM HİPERPARAMETRELERİ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0B3D61-1922-455D-45A2-608F9761344E}"/>
              </a:ext>
            </a:extLst>
          </p:cNvPr>
          <p:cNvSpPr txBox="1"/>
          <p:nvPr/>
        </p:nvSpPr>
        <p:spPr>
          <a:xfrm>
            <a:off x="1172082" y="3727788"/>
            <a:ext cx="9463087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LSTM </a:t>
            </a:r>
            <a:r>
              <a:rPr lang="en-US" dirty="0" err="1"/>
              <a:t>modeli</a:t>
            </a:r>
            <a:r>
              <a:rPr lang="en-US" dirty="0"/>
              <a:t>, </a:t>
            </a:r>
            <a:r>
              <a:rPr lang="en-US" dirty="0" err="1"/>
              <a:t>geçmiş</a:t>
            </a:r>
            <a:r>
              <a:rPr lang="en-US" dirty="0"/>
              <a:t> </a:t>
            </a:r>
            <a:r>
              <a:rPr lang="en-US" b="1" dirty="0"/>
              <a:t>12 zaman </a:t>
            </a:r>
            <a:r>
              <a:rPr lang="en-US" b="1" dirty="0" err="1"/>
              <a:t>adımını</a:t>
            </a:r>
            <a:r>
              <a:rPr lang="en-US" dirty="0"/>
              <a:t> </a:t>
            </a:r>
            <a:r>
              <a:rPr lang="en-US" dirty="0" err="1"/>
              <a:t>kullanarak</a:t>
            </a:r>
            <a:r>
              <a:rPr lang="en-US" dirty="0"/>
              <a:t> </a:t>
            </a:r>
            <a:r>
              <a:rPr lang="en-US" dirty="0" err="1"/>
              <a:t>gelecekteki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oranını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edecek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yapılandırılmıştır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Model, </a:t>
            </a:r>
            <a:r>
              <a:rPr lang="en-US" dirty="0" err="1"/>
              <a:t>zamansal</a:t>
            </a:r>
            <a:r>
              <a:rPr lang="en-US" dirty="0"/>
              <a:t> </a:t>
            </a:r>
            <a:r>
              <a:rPr lang="en-US" dirty="0" err="1"/>
              <a:t>örüntüleri</a:t>
            </a:r>
            <a:r>
              <a:rPr lang="en-US" dirty="0"/>
              <a:t> </a:t>
            </a:r>
            <a:r>
              <a:rPr lang="en-US" dirty="0" err="1"/>
              <a:t>öğrenebilmek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b="1" dirty="0"/>
              <a:t>2 </a:t>
            </a:r>
            <a:r>
              <a:rPr lang="en-US" b="1" dirty="0" err="1"/>
              <a:t>katman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64 </a:t>
            </a:r>
            <a:r>
              <a:rPr lang="en-US" b="1" dirty="0" err="1"/>
              <a:t>gizli</a:t>
            </a:r>
            <a:r>
              <a:rPr lang="en-US" b="1" dirty="0"/>
              <a:t> </a:t>
            </a:r>
            <a:r>
              <a:rPr lang="en-US" b="1" dirty="0" err="1"/>
              <a:t>birim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tasarlanmıştır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Eğitim</a:t>
            </a:r>
            <a:r>
              <a:rPr lang="en-US" dirty="0"/>
              <a:t> </a:t>
            </a:r>
            <a:r>
              <a:rPr lang="en-US" dirty="0" err="1"/>
              <a:t>sürecinde</a:t>
            </a:r>
            <a:r>
              <a:rPr lang="en-US" dirty="0"/>
              <a:t> </a:t>
            </a:r>
            <a:r>
              <a:rPr lang="en-US" b="1" dirty="0"/>
              <a:t>32 batch </a:t>
            </a:r>
            <a:r>
              <a:rPr lang="en-US" b="1" dirty="0" err="1"/>
              <a:t>boyutu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b="1" dirty="0"/>
              <a:t>80 epoch</a:t>
            </a:r>
            <a:r>
              <a:rPr lang="en-US" dirty="0"/>
              <a:t> </a:t>
            </a:r>
            <a:r>
              <a:rPr lang="en-US" dirty="0" err="1"/>
              <a:t>kullanılmıştır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Aşırı</a:t>
            </a:r>
            <a:r>
              <a:rPr lang="en-US" dirty="0"/>
              <a:t> </a:t>
            </a:r>
            <a:r>
              <a:rPr lang="en-US" dirty="0" err="1"/>
              <a:t>öğrenmeyi</a:t>
            </a:r>
            <a:r>
              <a:rPr lang="en-US" dirty="0"/>
              <a:t> </a:t>
            </a:r>
            <a:r>
              <a:rPr lang="en-US" dirty="0" err="1"/>
              <a:t>azaltmak</a:t>
            </a:r>
            <a:r>
              <a:rPr lang="en-US" dirty="0"/>
              <a:t> </a:t>
            </a:r>
            <a:r>
              <a:rPr lang="en-US" dirty="0" err="1"/>
              <a:t>amacıyla</a:t>
            </a:r>
            <a:r>
              <a:rPr lang="en-US" dirty="0"/>
              <a:t> </a:t>
            </a:r>
            <a:r>
              <a:rPr lang="en-US" b="1" dirty="0"/>
              <a:t>0.2 Dropout</a:t>
            </a:r>
            <a:r>
              <a:rPr lang="en-US" dirty="0"/>
              <a:t> </a:t>
            </a:r>
            <a:r>
              <a:rPr lang="en-US" dirty="0" err="1"/>
              <a:t>uygulanmıştır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Parametre</a:t>
            </a:r>
            <a:r>
              <a:rPr lang="en-US" dirty="0"/>
              <a:t> </a:t>
            </a:r>
            <a:r>
              <a:rPr lang="en-US" dirty="0" err="1"/>
              <a:t>güncellemeleri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b="1" dirty="0"/>
              <a:t>Adam </a:t>
            </a:r>
            <a:r>
              <a:rPr lang="en-US" b="1" dirty="0" err="1"/>
              <a:t>optimizasyon</a:t>
            </a:r>
            <a:r>
              <a:rPr lang="en-US" b="1" dirty="0"/>
              <a:t> </a:t>
            </a:r>
            <a:r>
              <a:rPr lang="en-US" b="1" dirty="0" err="1"/>
              <a:t>algoritması</a:t>
            </a:r>
            <a:r>
              <a:rPr lang="en-US" dirty="0"/>
              <a:t> </a:t>
            </a:r>
            <a:r>
              <a:rPr lang="en-US" dirty="0" err="1"/>
              <a:t>tercih</a:t>
            </a:r>
            <a:r>
              <a:rPr lang="en-US" dirty="0"/>
              <a:t> </a:t>
            </a:r>
            <a:r>
              <a:rPr lang="en-US" dirty="0" err="1"/>
              <a:t>edilmiştir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Kayıp</a:t>
            </a:r>
            <a:r>
              <a:rPr lang="en-US" dirty="0"/>
              <a:t> </a:t>
            </a:r>
            <a:r>
              <a:rPr lang="en-US" dirty="0" err="1"/>
              <a:t>fonksiyonu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b="1" dirty="0"/>
              <a:t>L1 Loss (MAE)</a:t>
            </a:r>
            <a:r>
              <a:rPr lang="en-US" dirty="0"/>
              <a:t> </a:t>
            </a:r>
            <a:r>
              <a:rPr lang="en-US" dirty="0" err="1"/>
              <a:t>kullanılmıştır</a:t>
            </a:r>
            <a:r>
              <a:rPr lang="en-US" dirty="0"/>
              <a:t>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3F7B948-5BC5-074C-6517-04FEE7C341C0}"/>
              </a:ext>
            </a:extLst>
          </p:cNvPr>
          <p:cNvSpPr txBox="1">
            <a:spLocks/>
          </p:cNvSpPr>
          <p:nvPr/>
        </p:nvSpPr>
        <p:spPr>
          <a:xfrm>
            <a:off x="9140971" y="63301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32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402695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5C7BB0-1007-115E-AC1C-A56D3F6740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520"/>
          <a:stretch>
            <a:fillRect/>
          </a:stretch>
        </p:blipFill>
        <p:spPr>
          <a:xfrm>
            <a:off x="2549928" y="1100406"/>
            <a:ext cx="7393188" cy="25428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B62186-0AEA-2DF8-E3BC-3EEC9ACE2208}"/>
              </a:ext>
            </a:extLst>
          </p:cNvPr>
          <p:cNvSpPr txBox="1"/>
          <p:nvPr/>
        </p:nvSpPr>
        <p:spPr>
          <a:xfrm>
            <a:off x="2965319" y="444042"/>
            <a:ext cx="102489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PPO </a:t>
            </a:r>
            <a:r>
              <a:rPr lang="tr-TR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ÖDÜL FONKSİYONU BİLEŞENLERİ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8C939C-7425-2D5A-20BC-0B1DD0C4F64A}"/>
              </a:ext>
            </a:extLst>
          </p:cNvPr>
          <p:cNvSpPr txBox="1"/>
          <p:nvPr/>
        </p:nvSpPr>
        <p:spPr>
          <a:xfrm>
            <a:off x="1030319" y="3714797"/>
            <a:ext cx="12725400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PPO </a:t>
            </a:r>
            <a:r>
              <a:rPr lang="en-US" dirty="0" err="1"/>
              <a:t>ajanının</a:t>
            </a:r>
            <a:r>
              <a:rPr lang="en-US" dirty="0"/>
              <a:t> </a:t>
            </a:r>
            <a:r>
              <a:rPr lang="en-US" dirty="0" err="1"/>
              <a:t>davranışları</a:t>
            </a:r>
            <a:r>
              <a:rPr lang="en-US" dirty="0"/>
              <a:t>, </a:t>
            </a:r>
            <a:r>
              <a:rPr lang="en-US" dirty="0" err="1"/>
              <a:t>özel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tasarlanan</a:t>
            </a:r>
            <a:r>
              <a:rPr lang="en-US" dirty="0"/>
              <a:t> </a:t>
            </a:r>
            <a:r>
              <a:rPr lang="en-US" dirty="0" err="1"/>
              <a:t>ödül</a:t>
            </a:r>
            <a:r>
              <a:rPr lang="en-US" dirty="0"/>
              <a:t> </a:t>
            </a:r>
            <a:r>
              <a:rPr lang="en-US" dirty="0" err="1"/>
              <a:t>fonksiyonu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yönlendirilmiştir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Hedefe</a:t>
            </a:r>
            <a:r>
              <a:rPr lang="en-US" dirty="0"/>
              <a:t> </a:t>
            </a:r>
            <a:r>
              <a:rPr lang="en-US" dirty="0" err="1"/>
              <a:t>yaklaşan</a:t>
            </a:r>
            <a:r>
              <a:rPr lang="en-US" dirty="0"/>
              <a:t> </a:t>
            </a:r>
            <a:r>
              <a:rPr lang="en-US" dirty="0" err="1"/>
              <a:t>hareketler</a:t>
            </a:r>
            <a:r>
              <a:rPr lang="en-US" dirty="0"/>
              <a:t> </a:t>
            </a:r>
            <a:r>
              <a:rPr lang="en-US" dirty="0" err="1"/>
              <a:t>pozitif</a:t>
            </a:r>
            <a:r>
              <a:rPr lang="en-US" dirty="0"/>
              <a:t> </a:t>
            </a:r>
            <a:r>
              <a:rPr lang="en-US" dirty="0" err="1"/>
              <a:t>ödüllendirilerek</a:t>
            </a:r>
            <a:r>
              <a:rPr lang="en-US" dirty="0"/>
              <a:t> </a:t>
            </a:r>
            <a:r>
              <a:rPr lang="en-US" dirty="0" err="1"/>
              <a:t>ajanın</a:t>
            </a:r>
            <a:r>
              <a:rPr lang="en-US" dirty="0"/>
              <a:t> </a:t>
            </a:r>
            <a:r>
              <a:rPr lang="en-US" dirty="0" err="1"/>
              <a:t>doğru</a:t>
            </a:r>
            <a:r>
              <a:rPr lang="en-US" dirty="0"/>
              <a:t> </a:t>
            </a:r>
            <a:r>
              <a:rPr lang="en-US" dirty="0" err="1"/>
              <a:t>yönde</a:t>
            </a:r>
            <a:r>
              <a:rPr lang="en-US" dirty="0"/>
              <a:t> </a:t>
            </a:r>
            <a:r>
              <a:rPr lang="en-US" dirty="0" err="1"/>
              <a:t>ilerlemesi</a:t>
            </a:r>
            <a:r>
              <a:rPr lang="en-US" dirty="0"/>
              <a:t> </a:t>
            </a:r>
            <a:r>
              <a:rPr lang="en-US" dirty="0" err="1"/>
              <a:t>teşvik</a:t>
            </a:r>
            <a:r>
              <a:rPr lang="en-US" dirty="0"/>
              <a:t> </a:t>
            </a:r>
            <a:r>
              <a:rPr lang="en-US" dirty="0" err="1"/>
              <a:t>edilmiştir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Hedef</a:t>
            </a:r>
            <a:r>
              <a:rPr lang="en-US" dirty="0"/>
              <a:t> park </a:t>
            </a:r>
            <a:r>
              <a:rPr lang="en-US" dirty="0" err="1"/>
              <a:t>alanına</a:t>
            </a:r>
            <a:r>
              <a:rPr lang="en-US" dirty="0"/>
              <a:t> </a:t>
            </a:r>
            <a:r>
              <a:rPr lang="en-US" dirty="0" err="1"/>
              <a:t>ulaşılması</a:t>
            </a:r>
            <a:r>
              <a:rPr lang="en-US" dirty="0"/>
              <a:t> </a:t>
            </a:r>
            <a:r>
              <a:rPr lang="en-US" dirty="0" err="1"/>
              <a:t>durumunda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ödül</a:t>
            </a:r>
            <a:r>
              <a:rPr lang="en-US" dirty="0"/>
              <a:t> </a:t>
            </a:r>
            <a:r>
              <a:rPr lang="en-US" dirty="0" err="1"/>
              <a:t>verilmiştir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Gereksiz</a:t>
            </a:r>
            <a:r>
              <a:rPr lang="en-US" dirty="0"/>
              <a:t> </a:t>
            </a:r>
            <a:r>
              <a:rPr lang="en-US" dirty="0" err="1"/>
              <a:t>hareketler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uzun</a:t>
            </a:r>
            <a:r>
              <a:rPr lang="en-US" dirty="0"/>
              <a:t> </a:t>
            </a:r>
            <a:r>
              <a:rPr lang="en-US" dirty="0" err="1"/>
              <a:t>rotalar</a:t>
            </a:r>
            <a:r>
              <a:rPr lang="en-US" dirty="0"/>
              <a:t> </a:t>
            </a:r>
            <a:r>
              <a:rPr lang="en-US" dirty="0" err="1"/>
              <a:t>adım</a:t>
            </a:r>
            <a:r>
              <a:rPr lang="en-US" dirty="0"/>
              <a:t> </a:t>
            </a:r>
            <a:r>
              <a:rPr lang="en-US" dirty="0" err="1"/>
              <a:t>maliyeti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cezalandırılmıştır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Döngüsel</a:t>
            </a:r>
            <a:r>
              <a:rPr lang="en-US" dirty="0"/>
              <a:t> </a:t>
            </a:r>
            <a:r>
              <a:rPr lang="en-US" dirty="0" err="1"/>
              <a:t>hareketler</a:t>
            </a:r>
            <a:r>
              <a:rPr lang="en-US" dirty="0"/>
              <a:t> (loop) </a:t>
            </a:r>
            <a:r>
              <a:rPr lang="en-US" dirty="0" err="1"/>
              <a:t>ve</a:t>
            </a:r>
            <a:r>
              <a:rPr lang="en-US" dirty="0"/>
              <a:t> zaman </a:t>
            </a:r>
            <a:r>
              <a:rPr lang="en-US" dirty="0" err="1"/>
              <a:t>aşımı</a:t>
            </a:r>
            <a:r>
              <a:rPr lang="en-US" dirty="0"/>
              <a:t> </a:t>
            </a:r>
            <a:r>
              <a:rPr lang="en-US" dirty="0" err="1"/>
              <a:t>durumları</a:t>
            </a:r>
            <a:r>
              <a:rPr lang="en-US" dirty="0"/>
              <a:t> ek </a:t>
            </a:r>
            <a:r>
              <a:rPr lang="en-US" dirty="0" err="1"/>
              <a:t>cezalar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engellenmiştir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Yoğun</a:t>
            </a:r>
            <a:r>
              <a:rPr lang="en-US" dirty="0"/>
              <a:t> </a:t>
            </a:r>
            <a:r>
              <a:rPr lang="en-US" dirty="0" err="1"/>
              <a:t>otoparklara</a:t>
            </a:r>
            <a:r>
              <a:rPr lang="en-US" dirty="0"/>
              <a:t> </a:t>
            </a:r>
            <a:r>
              <a:rPr lang="en-US" dirty="0" err="1"/>
              <a:t>yönelme</a:t>
            </a:r>
            <a:r>
              <a:rPr lang="en-US" dirty="0"/>
              <a:t> </a:t>
            </a:r>
            <a:r>
              <a:rPr lang="en-US" dirty="0" err="1"/>
              <a:t>cezalandırılarak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verimli</a:t>
            </a:r>
            <a:r>
              <a:rPr lang="en-US" dirty="0"/>
              <a:t> park </a:t>
            </a:r>
            <a:r>
              <a:rPr lang="en-US" dirty="0" err="1"/>
              <a:t>alanlarının</a:t>
            </a:r>
            <a:r>
              <a:rPr lang="en-US" dirty="0"/>
              <a:t> </a:t>
            </a:r>
            <a:r>
              <a:rPr lang="en-US" dirty="0" err="1"/>
              <a:t>seçilmesi</a:t>
            </a:r>
            <a:r>
              <a:rPr lang="en-US" dirty="0"/>
              <a:t> </a:t>
            </a:r>
            <a:r>
              <a:rPr lang="en-US" dirty="0" err="1"/>
              <a:t>sağlanmıştır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BFS </a:t>
            </a:r>
            <a:r>
              <a:rPr lang="en-US" dirty="0" err="1"/>
              <a:t>tabanlı</a:t>
            </a:r>
            <a:r>
              <a:rPr lang="en-US" dirty="0"/>
              <a:t> </a:t>
            </a:r>
            <a:r>
              <a:rPr lang="en-US" dirty="0" err="1"/>
              <a:t>verimlilik</a:t>
            </a:r>
            <a:r>
              <a:rPr lang="en-US" dirty="0"/>
              <a:t> </a:t>
            </a:r>
            <a:r>
              <a:rPr lang="en-US" dirty="0" err="1"/>
              <a:t>ödülü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kısa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etkili</a:t>
            </a:r>
            <a:r>
              <a:rPr lang="en-US" dirty="0"/>
              <a:t> </a:t>
            </a:r>
            <a:r>
              <a:rPr lang="en-US" dirty="0" err="1"/>
              <a:t>rotalar</a:t>
            </a:r>
            <a:r>
              <a:rPr lang="en-US" dirty="0"/>
              <a:t> </a:t>
            </a:r>
            <a:r>
              <a:rPr lang="en-US" dirty="0" err="1"/>
              <a:t>desteklenmiştir</a:t>
            </a:r>
            <a:r>
              <a:rPr lang="en-US" dirty="0"/>
              <a:t>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6B02112-D003-26D1-A916-FB06FACFD53A}"/>
              </a:ext>
            </a:extLst>
          </p:cNvPr>
          <p:cNvSpPr txBox="1">
            <a:spLocks/>
          </p:cNvSpPr>
          <p:nvPr/>
        </p:nvSpPr>
        <p:spPr>
          <a:xfrm>
            <a:off x="9140971" y="63301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33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26442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88DEEE-1D13-B658-6EF4-26F84B2996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64"/>
          <a:stretch>
            <a:fillRect/>
          </a:stretch>
        </p:blipFill>
        <p:spPr>
          <a:xfrm>
            <a:off x="2662662" y="1013943"/>
            <a:ext cx="7126378" cy="28051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C76A5A-4470-00BD-0864-53E5CE708153}"/>
              </a:ext>
            </a:extLst>
          </p:cNvPr>
          <p:cNvSpPr txBox="1"/>
          <p:nvPr/>
        </p:nvSpPr>
        <p:spPr>
          <a:xfrm>
            <a:off x="2587248" y="282072"/>
            <a:ext cx="102489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RL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Ajanlarının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Performans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Karşılaştırması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9175-A382-719F-DEBF-ED34583AFA66}"/>
              </a:ext>
            </a:extLst>
          </p:cNvPr>
          <p:cNvSpPr txBox="1"/>
          <p:nvPr/>
        </p:nvSpPr>
        <p:spPr>
          <a:xfrm>
            <a:off x="831318" y="3966160"/>
            <a:ext cx="11856204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PPO </a:t>
            </a:r>
            <a:r>
              <a:rPr lang="en-US" dirty="0" err="1"/>
              <a:t>ve</a:t>
            </a:r>
            <a:r>
              <a:rPr lang="en-US" dirty="0"/>
              <a:t> DQN </a:t>
            </a:r>
            <a:r>
              <a:rPr lang="en-US" dirty="0" err="1"/>
              <a:t>algoritmaları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ortamda</a:t>
            </a:r>
            <a:r>
              <a:rPr lang="en-US" dirty="0"/>
              <a:t> test </a:t>
            </a:r>
            <a:r>
              <a:rPr lang="en-US" dirty="0" err="1"/>
              <a:t>edilmiştir</a:t>
            </a:r>
            <a:r>
              <a:rPr lang="en-US" dirty="0"/>
              <a:t>.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PPO </a:t>
            </a:r>
            <a:r>
              <a:rPr lang="en-US" dirty="0" err="1"/>
              <a:t>algoritması</a:t>
            </a:r>
            <a:r>
              <a:rPr lang="en-US" dirty="0"/>
              <a:t> </a:t>
            </a:r>
            <a:r>
              <a:rPr lang="en-US" b="1" dirty="0"/>
              <a:t>%92.5 </a:t>
            </a:r>
            <a:r>
              <a:rPr lang="en-US" b="1" dirty="0" err="1"/>
              <a:t>başarı</a:t>
            </a:r>
            <a:r>
              <a:rPr lang="en-US" b="1" dirty="0"/>
              <a:t> </a:t>
            </a:r>
            <a:r>
              <a:rPr lang="en-US" b="1" dirty="0" err="1"/>
              <a:t>oranı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hedefe</a:t>
            </a:r>
            <a:r>
              <a:rPr lang="en-US" dirty="0"/>
              <a:t> </a:t>
            </a:r>
            <a:r>
              <a:rPr lang="en-US" dirty="0" err="1"/>
              <a:t>ulaşmada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performans</a:t>
            </a:r>
            <a:r>
              <a:rPr lang="en-US" dirty="0"/>
              <a:t> </a:t>
            </a:r>
            <a:r>
              <a:rPr lang="en-US" dirty="0" err="1"/>
              <a:t>göstermiştir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PPO, </a:t>
            </a:r>
            <a:r>
              <a:rPr lang="en-US" dirty="0" err="1"/>
              <a:t>DQN'e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adım</a:t>
            </a:r>
            <a:r>
              <a:rPr lang="en-US" dirty="0"/>
              <a:t> </a:t>
            </a:r>
            <a:r>
              <a:rPr lang="en-US" dirty="0" err="1"/>
              <a:t>kullanmış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çarpışma</a:t>
            </a:r>
            <a:r>
              <a:rPr lang="en-US" dirty="0"/>
              <a:t> </a:t>
            </a:r>
            <a:r>
              <a:rPr lang="en-US" dirty="0" err="1"/>
              <a:t>oluşturmamıştır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DQN </a:t>
            </a:r>
            <a:r>
              <a:rPr lang="en-US" dirty="0" err="1"/>
              <a:t>algoritması</a:t>
            </a:r>
            <a:r>
              <a:rPr lang="en-US" dirty="0"/>
              <a:t> </a:t>
            </a:r>
            <a:r>
              <a:rPr lang="en-US" b="1" dirty="0"/>
              <a:t>%27.5 </a:t>
            </a:r>
            <a:r>
              <a:rPr lang="en-US" b="1" dirty="0" err="1"/>
              <a:t>başarı</a:t>
            </a:r>
            <a:r>
              <a:rPr lang="en-US" b="1" dirty="0"/>
              <a:t> </a:t>
            </a:r>
            <a:r>
              <a:rPr lang="en-US" b="1" dirty="0" err="1"/>
              <a:t>oranı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kararsız</a:t>
            </a:r>
            <a:r>
              <a:rPr lang="en-US" dirty="0"/>
              <a:t> </a:t>
            </a:r>
            <a:r>
              <a:rPr lang="en-US" dirty="0" err="1"/>
              <a:t>performans</a:t>
            </a:r>
            <a:r>
              <a:rPr lang="en-US" dirty="0"/>
              <a:t> </a:t>
            </a:r>
            <a:r>
              <a:rPr lang="en-US" dirty="0" err="1"/>
              <a:t>sergilemiştir</a:t>
            </a:r>
            <a:r>
              <a:rPr lang="en-US" dirty="0"/>
              <a:t>.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Greedy/BFS </a:t>
            </a:r>
            <a:r>
              <a:rPr lang="en-US" dirty="0" err="1"/>
              <a:t>yöntemleri</a:t>
            </a:r>
            <a:r>
              <a:rPr lang="en-US" dirty="0"/>
              <a:t> </a:t>
            </a:r>
            <a:r>
              <a:rPr lang="en-US" b="1" dirty="0"/>
              <a:t>%100 </a:t>
            </a:r>
            <a:r>
              <a:rPr lang="en-US" dirty="0" err="1"/>
              <a:t>başarı</a:t>
            </a:r>
            <a:r>
              <a:rPr lang="en-US" dirty="0"/>
              <a:t> </a:t>
            </a:r>
            <a:r>
              <a:rPr lang="en-US" dirty="0" err="1"/>
              <a:t>sağlamasına</a:t>
            </a:r>
            <a:r>
              <a:rPr lang="en-US" dirty="0"/>
              <a:t> </a:t>
            </a:r>
            <a:r>
              <a:rPr lang="en-US" dirty="0" err="1"/>
              <a:t>rağmen</a:t>
            </a:r>
            <a:r>
              <a:rPr lang="en-US" dirty="0"/>
              <a:t> </a:t>
            </a:r>
            <a:r>
              <a:rPr lang="en-US" dirty="0" err="1"/>
              <a:t>öğrenme</a:t>
            </a:r>
            <a:r>
              <a:rPr lang="en-US" dirty="0"/>
              <a:t> </a:t>
            </a:r>
            <a:r>
              <a:rPr lang="en-US" dirty="0" err="1"/>
              <a:t>yapmayan</a:t>
            </a:r>
            <a:r>
              <a:rPr lang="en-US" dirty="0"/>
              <a:t> </a:t>
            </a:r>
            <a:r>
              <a:rPr lang="en-US" dirty="0" err="1"/>
              <a:t>referans</a:t>
            </a:r>
            <a:r>
              <a:rPr lang="en-US" dirty="0"/>
              <a:t> (baseline) </a:t>
            </a:r>
            <a:r>
              <a:rPr lang="en-US" dirty="0" err="1"/>
              <a:t>yöntemlerdir</a:t>
            </a:r>
            <a:r>
              <a:rPr lang="en-US" dirty="0"/>
              <a:t>. </a:t>
            </a:r>
            <a:endParaRPr lang="tr-T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Öğrenen</a:t>
            </a:r>
            <a:r>
              <a:rPr lang="en-US" dirty="0"/>
              <a:t> </a:t>
            </a:r>
            <a:r>
              <a:rPr lang="en-US" dirty="0" err="1"/>
              <a:t>ajanlar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başarılı</a:t>
            </a:r>
            <a:r>
              <a:rPr lang="en-US" dirty="0"/>
              <a:t> </a:t>
            </a:r>
            <a:r>
              <a:rPr lang="en-US" dirty="0" err="1"/>
              <a:t>yöntem</a:t>
            </a:r>
            <a:r>
              <a:rPr lang="en-US" dirty="0"/>
              <a:t> PPO </a:t>
            </a:r>
            <a:r>
              <a:rPr lang="en-US" dirty="0" err="1"/>
              <a:t>olmuştur</a:t>
            </a:r>
            <a:r>
              <a:rPr lang="en-US" dirty="0"/>
              <a:t>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6B6B07C-10FE-B086-1076-6E02A496E227}"/>
              </a:ext>
            </a:extLst>
          </p:cNvPr>
          <p:cNvSpPr txBox="1">
            <a:spLocks/>
          </p:cNvSpPr>
          <p:nvPr/>
        </p:nvSpPr>
        <p:spPr>
          <a:xfrm>
            <a:off x="9140971" y="63301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34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538020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90D07E-5A17-536F-9B0D-9850ABB3FC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244" b="12908"/>
          <a:stretch>
            <a:fillRect/>
          </a:stretch>
        </p:blipFill>
        <p:spPr>
          <a:xfrm>
            <a:off x="1849372" y="1333686"/>
            <a:ext cx="8493251" cy="17180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9921E4-7F6B-B3BA-3D63-3258ADA09FF9}"/>
              </a:ext>
            </a:extLst>
          </p:cNvPr>
          <p:cNvSpPr txBox="1"/>
          <p:nvPr/>
        </p:nvSpPr>
        <p:spPr>
          <a:xfrm>
            <a:off x="3256568" y="458514"/>
            <a:ext cx="60985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LSTM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Tahmin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Modeli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Performansı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BD0362-7E84-EAFA-4118-D9402375F29B}"/>
              </a:ext>
            </a:extLst>
          </p:cNvPr>
          <p:cNvSpPr txBox="1"/>
          <p:nvPr/>
        </p:nvSpPr>
        <p:spPr>
          <a:xfrm>
            <a:off x="729052" y="3342143"/>
            <a:ext cx="11153614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/>
              <a:t> </a:t>
            </a:r>
            <a:r>
              <a:rPr lang="en-US" dirty="0"/>
              <a:t>LSTM </a:t>
            </a:r>
            <a:r>
              <a:rPr lang="en-US" dirty="0" err="1"/>
              <a:t>modeli</a:t>
            </a:r>
            <a:r>
              <a:rPr lang="en-US" dirty="0"/>
              <a:t> </a:t>
            </a:r>
            <a:r>
              <a:rPr lang="en-US" dirty="0" err="1"/>
              <a:t>otopark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oranlarını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etmek</a:t>
            </a:r>
            <a:r>
              <a:rPr lang="en-US" dirty="0"/>
              <a:t> </a:t>
            </a:r>
            <a:r>
              <a:rPr lang="en-US" dirty="0" err="1"/>
              <a:t>amacıyla</a:t>
            </a:r>
            <a:r>
              <a:rPr lang="en-US" dirty="0"/>
              <a:t> </a:t>
            </a:r>
            <a:r>
              <a:rPr lang="en-US" dirty="0" err="1"/>
              <a:t>eğitilmiştir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/>
              <a:t> </a:t>
            </a:r>
            <a:r>
              <a:rPr lang="en-US" dirty="0"/>
              <a:t>Model </a:t>
            </a:r>
            <a:r>
              <a:rPr lang="en-US" b="1" dirty="0"/>
              <a:t>0.1047 MAE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b="1" dirty="0"/>
              <a:t>0.1319 RMSE</a:t>
            </a:r>
            <a:r>
              <a:rPr lang="en-US" dirty="0"/>
              <a:t>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etmiştir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/>
              <a:t> </a:t>
            </a:r>
            <a:r>
              <a:rPr lang="en-US" dirty="0" err="1"/>
              <a:t>Sonuçlar</a:t>
            </a:r>
            <a:r>
              <a:rPr lang="en-US" dirty="0"/>
              <a:t>, </a:t>
            </a:r>
            <a:r>
              <a:rPr lang="en-US" dirty="0" err="1"/>
              <a:t>modelin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değerlerini</a:t>
            </a:r>
            <a:r>
              <a:rPr lang="en-US" dirty="0"/>
              <a:t> </a:t>
            </a:r>
            <a:r>
              <a:rPr lang="en-US" dirty="0" err="1"/>
              <a:t>makul</a:t>
            </a:r>
            <a:r>
              <a:rPr lang="en-US" dirty="0"/>
              <a:t> </a:t>
            </a:r>
            <a:r>
              <a:rPr lang="en-US" dirty="0" err="1"/>
              <a:t>hata</a:t>
            </a:r>
            <a:r>
              <a:rPr lang="en-US" dirty="0"/>
              <a:t> </a:t>
            </a:r>
            <a:r>
              <a:rPr lang="en-US" dirty="0" err="1"/>
              <a:t>seviyesinde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edebildiğini</a:t>
            </a:r>
            <a:r>
              <a:rPr lang="en-US" dirty="0"/>
              <a:t> </a:t>
            </a:r>
            <a:r>
              <a:rPr lang="en-US" dirty="0" err="1"/>
              <a:t>göstermektedir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/>
              <a:t> </a:t>
            </a:r>
            <a:r>
              <a:rPr lang="en-US" dirty="0"/>
              <a:t>Random Forest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XGBoost</a:t>
            </a:r>
            <a:r>
              <a:rPr lang="en-US" dirty="0"/>
              <a:t> </a:t>
            </a:r>
            <a:r>
              <a:rPr lang="en-US" dirty="0" err="1"/>
              <a:t>modelleri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düşük</a:t>
            </a:r>
            <a:r>
              <a:rPr lang="en-US" dirty="0"/>
              <a:t> </a:t>
            </a:r>
            <a:r>
              <a:rPr lang="en-US" dirty="0" err="1"/>
              <a:t>hata</a:t>
            </a:r>
            <a:r>
              <a:rPr lang="en-US" dirty="0"/>
              <a:t>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üretmiş</a:t>
            </a:r>
            <a:r>
              <a:rPr lang="en-US" dirty="0"/>
              <a:t> </a:t>
            </a:r>
            <a:r>
              <a:rPr lang="en-US" dirty="0" err="1"/>
              <a:t>olsa</a:t>
            </a:r>
            <a:r>
              <a:rPr lang="en-US" dirty="0"/>
              <a:t> da LSTM zaman </a:t>
            </a:r>
            <a:r>
              <a:rPr lang="en-US" dirty="0" err="1"/>
              <a:t>serilerindeki</a:t>
            </a:r>
            <a:r>
              <a:rPr lang="en-US" dirty="0"/>
              <a:t> </a:t>
            </a:r>
            <a:r>
              <a:rPr lang="en-US" dirty="0" err="1"/>
              <a:t>zamansal</a:t>
            </a:r>
            <a:r>
              <a:rPr lang="en-US" dirty="0"/>
              <a:t> </a:t>
            </a:r>
            <a:r>
              <a:rPr lang="en-US" dirty="0" err="1"/>
              <a:t>bağımlılıkları</a:t>
            </a:r>
            <a:r>
              <a:rPr lang="en-US" dirty="0"/>
              <a:t> </a:t>
            </a:r>
            <a:r>
              <a:rPr lang="en-US" dirty="0" err="1"/>
              <a:t>modelleyebilme</a:t>
            </a:r>
            <a:r>
              <a:rPr lang="en-US" dirty="0"/>
              <a:t> </a:t>
            </a:r>
            <a:r>
              <a:rPr lang="en-US" dirty="0" err="1"/>
              <a:t>avantajına</a:t>
            </a:r>
            <a:r>
              <a:rPr lang="en-US" dirty="0"/>
              <a:t> </a:t>
            </a:r>
            <a:r>
              <a:rPr lang="en-US" dirty="0" err="1"/>
              <a:t>sahiptir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/>
              <a:t> </a:t>
            </a:r>
            <a:r>
              <a:rPr lang="en-US" dirty="0"/>
              <a:t>LSTM </a:t>
            </a:r>
            <a:r>
              <a:rPr lang="en-US" dirty="0" err="1"/>
              <a:t>modeli</a:t>
            </a:r>
            <a:r>
              <a:rPr lang="en-US" dirty="0"/>
              <a:t>, PPO </a:t>
            </a:r>
            <a:r>
              <a:rPr lang="en-US" dirty="0" err="1"/>
              <a:t>ajanına</a:t>
            </a:r>
            <a:r>
              <a:rPr lang="en-US" dirty="0"/>
              <a:t> </a:t>
            </a:r>
            <a:r>
              <a:rPr lang="en-US" dirty="0" err="1"/>
              <a:t>geleceğe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</a:t>
            </a:r>
            <a:r>
              <a:rPr lang="en-US" dirty="0" err="1"/>
              <a:t>doluluk</a:t>
            </a:r>
            <a:r>
              <a:rPr lang="en-US" dirty="0"/>
              <a:t> </a:t>
            </a:r>
            <a:r>
              <a:rPr lang="en-US" dirty="0" err="1"/>
              <a:t>bilgisi</a:t>
            </a:r>
            <a:r>
              <a:rPr lang="en-US" dirty="0"/>
              <a:t> </a:t>
            </a:r>
            <a:r>
              <a:rPr lang="en-US" dirty="0" err="1"/>
              <a:t>sağlamak</a:t>
            </a:r>
            <a:r>
              <a:rPr lang="en-US" dirty="0"/>
              <a:t> </a:t>
            </a:r>
            <a:r>
              <a:rPr lang="en-US" dirty="0" err="1"/>
              <a:t>amacıyla</a:t>
            </a:r>
            <a:r>
              <a:rPr lang="en-US" dirty="0"/>
              <a:t> </a:t>
            </a:r>
            <a:r>
              <a:rPr lang="en-US" dirty="0" err="1"/>
              <a:t>hibrit</a:t>
            </a:r>
            <a:r>
              <a:rPr lang="en-US" dirty="0"/>
              <a:t>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kullanılmıştır</a:t>
            </a:r>
            <a:r>
              <a:rPr lang="en-US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8FD3D12-29DE-9A0C-657C-C053DD74B40B}"/>
              </a:ext>
            </a:extLst>
          </p:cNvPr>
          <p:cNvSpPr txBox="1">
            <a:spLocks/>
          </p:cNvSpPr>
          <p:nvPr/>
        </p:nvSpPr>
        <p:spPr>
          <a:xfrm>
            <a:off x="9140971" y="63301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35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957626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CCCACC-3FE4-A083-C0EC-36E7D9417854}"/>
              </a:ext>
            </a:extLst>
          </p:cNvPr>
          <p:cNvSpPr txBox="1"/>
          <p:nvPr/>
        </p:nvSpPr>
        <p:spPr>
          <a:xfrm>
            <a:off x="1976433" y="295299"/>
            <a:ext cx="120576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        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SWOT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Analizi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ve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Gelecek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  <a:latin typeface="+mj-lt"/>
              </a:rPr>
              <a:t>Çalışmalar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3A2586-8A45-6C75-48D6-CEDF9C780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807" y="1068966"/>
            <a:ext cx="6226075" cy="27538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EA53FA-6302-E1D0-F14C-BDA6E234EB05}"/>
              </a:ext>
            </a:extLst>
          </p:cNvPr>
          <p:cNvSpPr txBox="1"/>
          <p:nvPr/>
        </p:nvSpPr>
        <p:spPr>
          <a:xfrm>
            <a:off x="781271" y="4020338"/>
            <a:ext cx="10859146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/>
              <a:t> </a:t>
            </a:r>
            <a:r>
              <a:rPr lang="en-US" dirty="0" err="1"/>
              <a:t>Sistem</a:t>
            </a:r>
            <a:r>
              <a:rPr lang="en-US" dirty="0"/>
              <a:t>; AVM, </a:t>
            </a:r>
            <a:r>
              <a:rPr lang="en-US" dirty="0" err="1"/>
              <a:t>hastane</a:t>
            </a:r>
            <a:r>
              <a:rPr lang="en-US" dirty="0"/>
              <a:t>, </a:t>
            </a:r>
            <a:r>
              <a:rPr lang="en-US" dirty="0" err="1"/>
              <a:t>kampüs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akıllı</a:t>
            </a:r>
            <a:r>
              <a:rPr lang="en-US" dirty="0"/>
              <a:t> </a:t>
            </a:r>
            <a:r>
              <a:rPr lang="en-US" dirty="0" err="1"/>
              <a:t>şehir</a:t>
            </a:r>
            <a:r>
              <a:rPr lang="en-US" dirty="0"/>
              <a:t> </a:t>
            </a:r>
            <a:r>
              <a:rPr lang="en-US" dirty="0" err="1"/>
              <a:t>uygulamalarında</a:t>
            </a:r>
            <a:r>
              <a:rPr lang="en-US" dirty="0"/>
              <a:t> </a:t>
            </a:r>
            <a:r>
              <a:rPr lang="en-US" dirty="0" err="1"/>
              <a:t>kullanılabilir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/>
              <a:t> </a:t>
            </a:r>
            <a:r>
              <a:rPr lang="en-US" dirty="0" err="1"/>
              <a:t>FastAPI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mobil</a:t>
            </a:r>
            <a:r>
              <a:rPr lang="en-US" dirty="0"/>
              <a:t> </a:t>
            </a:r>
            <a:r>
              <a:rPr lang="en-US" dirty="0" err="1"/>
              <a:t>navigasyon</a:t>
            </a:r>
            <a:r>
              <a:rPr lang="en-US" dirty="0"/>
              <a:t> </a:t>
            </a:r>
            <a:r>
              <a:rPr lang="en-US" dirty="0" err="1"/>
              <a:t>sistemlerine</a:t>
            </a:r>
            <a:r>
              <a:rPr lang="en-US" dirty="0"/>
              <a:t> </a:t>
            </a:r>
            <a:r>
              <a:rPr lang="en-US" dirty="0" err="1"/>
              <a:t>entegre</a:t>
            </a:r>
            <a:r>
              <a:rPr lang="en-US" dirty="0"/>
              <a:t> </a:t>
            </a:r>
            <a:r>
              <a:rPr lang="en-US" dirty="0" err="1"/>
              <a:t>edilebilir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/>
              <a:t> </a:t>
            </a:r>
            <a:r>
              <a:rPr lang="en-US" dirty="0" err="1"/>
              <a:t>Gelecekte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zamanlı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, Transformer </a:t>
            </a:r>
            <a:r>
              <a:rPr lang="en-US" dirty="0" err="1"/>
              <a:t>modelleri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Multi-Agent RL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geliştirilebilir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/>
              <a:t> </a:t>
            </a:r>
            <a:r>
              <a:rPr lang="en-US" dirty="0"/>
              <a:t>IoT, Federated Learning </a:t>
            </a:r>
            <a:r>
              <a:rPr lang="en-US" dirty="0" err="1"/>
              <a:t>ve</a:t>
            </a:r>
            <a:r>
              <a:rPr lang="en-US" dirty="0"/>
              <a:t> SUMO/CARLA </a:t>
            </a:r>
            <a:r>
              <a:rPr lang="en-US" dirty="0" err="1"/>
              <a:t>entegrasyonları</a:t>
            </a:r>
            <a:r>
              <a:rPr lang="en-US" dirty="0"/>
              <a:t> </a:t>
            </a:r>
            <a:r>
              <a:rPr lang="en-US" dirty="0" err="1"/>
              <a:t>planlanmaktadır</a:t>
            </a:r>
            <a:r>
              <a:rPr lang="en-US" dirty="0"/>
              <a:t>. </a:t>
            </a:r>
            <a:endParaRPr lang="tr-TR" dirty="0"/>
          </a:p>
          <a:p>
            <a:pPr>
              <a:lnSpc>
                <a:spcPct val="150000"/>
              </a:lnSpc>
            </a:pPr>
            <a:endParaRPr lang="tr-TR" dirty="0"/>
          </a:p>
          <a:p>
            <a:pPr>
              <a:lnSpc>
                <a:spcPct val="150000"/>
              </a:lnSpc>
            </a:pPr>
            <a:r>
              <a:rPr lang="en-US" b="1" dirty="0" err="1"/>
              <a:t>Sistem</a:t>
            </a:r>
            <a:r>
              <a:rPr lang="en-US" b="1" dirty="0"/>
              <a:t>, </a:t>
            </a:r>
            <a:r>
              <a:rPr lang="en-US" b="1" dirty="0" err="1"/>
              <a:t>gerçek</a:t>
            </a:r>
            <a:r>
              <a:rPr lang="en-US" b="1" dirty="0"/>
              <a:t> </a:t>
            </a:r>
            <a:r>
              <a:rPr lang="en-US" b="1" dirty="0" err="1"/>
              <a:t>şehir</a:t>
            </a:r>
            <a:r>
              <a:rPr lang="en-US" b="1" dirty="0"/>
              <a:t> </a:t>
            </a:r>
            <a:r>
              <a:rPr lang="en-US" b="1" dirty="0" err="1"/>
              <a:t>ortamlarında</a:t>
            </a:r>
            <a:r>
              <a:rPr lang="en-US" b="1" dirty="0"/>
              <a:t> </a:t>
            </a:r>
            <a:r>
              <a:rPr lang="en-US" b="1" dirty="0" err="1"/>
              <a:t>uygulanabilecek</a:t>
            </a:r>
            <a:r>
              <a:rPr lang="en-US" b="1" dirty="0"/>
              <a:t> </a:t>
            </a:r>
            <a:r>
              <a:rPr lang="en-US" b="1" dirty="0" err="1"/>
              <a:t>ölçeklenebilir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akıllı</a:t>
            </a:r>
            <a:r>
              <a:rPr lang="en-US" b="1" dirty="0"/>
              <a:t> </a:t>
            </a:r>
            <a:r>
              <a:rPr lang="en-US" b="1" dirty="0" err="1"/>
              <a:t>otopark</a:t>
            </a:r>
            <a:r>
              <a:rPr lang="en-US" b="1" dirty="0"/>
              <a:t> </a:t>
            </a:r>
            <a:r>
              <a:rPr lang="en-US" b="1" dirty="0" err="1"/>
              <a:t>çözümü</a:t>
            </a:r>
            <a:r>
              <a:rPr lang="en-US" b="1" dirty="0"/>
              <a:t> </a:t>
            </a:r>
            <a:r>
              <a:rPr lang="en-US" b="1" dirty="0" err="1"/>
              <a:t>sunmaktadır</a:t>
            </a:r>
            <a:r>
              <a:rPr lang="en-US" b="1" dirty="0"/>
              <a:t>.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DED01BC-0539-885D-8DC0-AF02BD3530EB}"/>
              </a:ext>
            </a:extLst>
          </p:cNvPr>
          <p:cNvSpPr txBox="1">
            <a:spLocks/>
          </p:cNvSpPr>
          <p:nvPr/>
        </p:nvSpPr>
        <p:spPr>
          <a:xfrm>
            <a:off x="9140971" y="63301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36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990810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7FF851-056C-47BC-771E-A0938D26D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6C9690-CE56-04FB-93B6-2767F8E1F077}"/>
              </a:ext>
            </a:extLst>
          </p:cNvPr>
          <p:cNvSpPr txBox="1"/>
          <p:nvPr/>
        </p:nvSpPr>
        <p:spPr>
          <a:xfrm>
            <a:off x="4169126" y="267307"/>
            <a:ext cx="120576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sz="40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KAYNAKLAR</a:t>
            </a:r>
            <a:endParaRPr lang="en-US" sz="40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88B2DA-118E-46BD-1D2C-7A6995C8514B}"/>
              </a:ext>
            </a:extLst>
          </p:cNvPr>
          <p:cNvSpPr txBox="1"/>
          <p:nvPr/>
        </p:nvSpPr>
        <p:spPr>
          <a:xfrm>
            <a:off x="883909" y="1301764"/>
            <a:ext cx="1085914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600" dirty="0"/>
              <a:t>[1] </a:t>
            </a:r>
            <a:r>
              <a:rPr lang="tr-TR" sz="1600" dirty="0" err="1"/>
              <a:t>Parking</a:t>
            </a:r>
            <a:r>
              <a:rPr lang="tr-TR" sz="1600" dirty="0"/>
              <a:t> Birmingham </a:t>
            </a:r>
            <a:r>
              <a:rPr lang="tr-TR" sz="1600" dirty="0" err="1"/>
              <a:t>Dataset</a:t>
            </a:r>
            <a:r>
              <a:rPr lang="tr-TR" sz="1600" dirty="0"/>
              <a:t>, </a:t>
            </a:r>
            <a:r>
              <a:rPr lang="tr-TR" sz="1600" dirty="0" err="1"/>
              <a:t>Kaggle</a:t>
            </a:r>
            <a:r>
              <a:rPr lang="tr-TR" sz="1600" dirty="0"/>
              <a:t> / Open Birmingham Data. </a:t>
            </a:r>
            <a:r>
              <a:rPr lang="tr-TR" sz="1600" dirty="0" err="1"/>
              <a:t>Available</a:t>
            </a:r>
            <a:r>
              <a:rPr lang="tr-TR" sz="1600" dirty="0"/>
              <a:t>: </a:t>
            </a:r>
            <a:endParaRPr lang="en-TR" sz="1600" dirty="0"/>
          </a:p>
          <a:p>
            <a:r>
              <a:rPr lang="tr-TR" sz="1600" u="sng" dirty="0">
                <a:hlinkClick r:id="rId2"/>
              </a:rPr>
              <a:t>https://www.kaggle.com/datasets/mhmdkardosha/parking-birmingham</a:t>
            </a:r>
            <a:r>
              <a:rPr lang="tr-TR" sz="1600" dirty="0"/>
              <a:t> </a:t>
            </a:r>
            <a:endParaRPr lang="en-TR" sz="1600" dirty="0"/>
          </a:p>
          <a:p>
            <a:r>
              <a:rPr lang="tr-TR" sz="1600" dirty="0"/>
              <a:t>[Erişim tarihi: 27-Mayıs-2026].</a:t>
            </a:r>
          </a:p>
          <a:p>
            <a:endParaRPr lang="en-TR" sz="1600" dirty="0"/>
          </a:p>
          <a:p>
            <a:r>
              <a:rPr lang="tr-TR" sz="1600" dirty="0"/>
              <a:t>[2] M. B. </a:t>
            </a:r>
            <a:r>
              <a:rPr lang="tr-TR" sz="1600" dirty="0" err="1"/>
              <a:t>Menne</a:t>
            </a:r>
            <a:r>
              <a:rPr lang="tr-TR" sz="1600" dirty="0"/>
              <a:t> et al., “Smart </a:t>
            </a:r>
            <a:r>
              <a:rPr lang="tr-TR" sz="1600" dirty="0" err="1"/>
              <a:t>Parking</a:t>
            </a:r>
            <a:r>
              <a:rPr lang="tr-TR" sz="1600" dirty="0"/>
              <a:t> </a:t>
            </a:r>
            <a:r>
              <a:rPr lang="tr-TR" sz="1600" dirty="0" err="1"/>
              <a:t>Systems</a:t>
            </a:r>
            <a:r>
              <a:rPr lang="tr-TR" sz="1600" dirty="0"/>
              <a:t>: </a:t>
            </a:r>
            <a:r>
              <a:rPr lang="tr-TR" sz="1600" dirty="0" err="1"/>
              <a:t>Review</a:t>
            </a:r>
            <a:r>
              <a:rPr lang="tr-TR" sz="1600" dirty="0"/>
              <a:t> </a:t>
            </a:r>
            <a:r>
              <a:rPr lang="tr-TR" sz="1600" dirty="0" err="1"/>
              <a:t>and</a:t>
            </a:r>
            <a:r>
              <a:rPr lang="tr-TR" sz="1600" dirty="0"/>
              <a:t> </a:t>
            </a:r>
            <a:r>
              <a:rPr lang="tr-TR" sz="1600" dirty="0" err="1"/>
              <a:t>Future</a:t>
            </a:r>
            <a:r>
              <a:rPr lang="tr-TR" sz="1600" dirty="0"/>
              <a:t> </a:t>
            </a:r>
            <a:r>
              <a:rPr lang="tr-TR" sz="1600" dirty="0" err="1"/>
              <a:t>Directions</a:t>
            </a:r>
            <a:r>
              <a:rPr lang="tr-TR" sz="1600" dirty="0"/>
              <a:t>,” </a:t>
            </a:r>
            <a:endParaRPr lang="en-TR" sz="1600" dirty="0"/>
          </a:p>
          <a:p>
            <a:r>
              <a:rPr lang="tr-TR" sz="1600" dirty="0"/>
              <a:t>IEEE Access, </a:t>
            </a:r>
            <a:r>
              <a:rPr lang="tr-TR" sz="1600" dirty="0" err="1"/>
              <a:t>vol</a:t>
            </a:r>
            <a:r>
              <a:rPr lang="tr-TR" sz="1600" dirty="0"/>
              <a:t>. 9, </a:t>
            </a:r>
            <a:r>
              <a:rPr lang="tr-TR" sz="1600" dirty="0" err="1"/>
              <a:t>pp</a:t>
            </a:r>
            <a:r>
              <a:rPr lang="tr-TR" sz="1600" dirty="0"/>
              <a:t>. 78956–78973, 2021.</a:t>
            </a:r>
            <a:endParaRPr lang="en-TR" sz="16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tr-TR" sz="1600" dirty="0"/>
              <a:t>[3] </a:t>
            </a:r>
            <a:r>
              <a:rPr lang="tr-TR" sz="1600" dirty="0" err="1"/>
              <a:t>University</a:t>
            </a:r>
            <a:r>
              <a:rPr lang="tr-TR" sz="1600" dirty="0"/>
              <a:t> of </a:t>
            </a:r>
            <a:r>
              <a:rPr lang="tr-TR" sz="1600" dirty="0" err="1"/>
              <a:t>Bath</a:t>
            </a:r>
            <a:r>
              <a:rPr lang="tr-TR" sz="1600" dirty="0"/>
              <a:t>, “</a:t>
            </a:r>
            <a:r>
              <a:rPr lang="tr-TR" sz="1600" dirty="0" err="1"/>
              <a:t>Referencing</a:t>
            </a:r>
            <a:r>
              <a:rPr lang="tr-TR" sz="1600" dirty="0"/>
              <a:t> </a:t>
            </a:r>
            <a:r>
              <a:rPr lang="tr-TR" sz="1600" dirty="0" err="1"/>
              <a:t>guide</a:t>
            </a:r>
            <a:r>
              <a:rPr lang="tr-TR" sz="1600" dirty="0"/>
              <a:t>: IEEE.” </a:t>
            </a:r>
            <a:r>
              <a:rPr lang="tr-TR" sz="1600" dirty="0" err="1"/>
              <a:t>Available</a:t>
            </a:r>
            <a:r>
              <a:rPr lang="tr-TR" sz="1600" dirty="0"/>
              <a:t>: </a:t>
            </a:r>
            <a:endParaRPr lang="en-TR" sz="1600" dirty="0"/>
          </a:p>
          <a:p>
            <a:r>
              <a:rPr lang="tr-TR" sz="1600" u="sng" dirty="0">
                <a:hlinkClick r:id="rId3"/>
              </a:rPr>
              <a:t>https://library.bath.ac.uk/referencing/ieee</a:t>
            </a:r>
            <a:r>
              <a:rPr lang="tr-TR" sz="1600" dirty="0"/>
              <a:t> </a:t>
            </a:r>
            <a:endParaRPr lang="en-TR" sz="1600" dirty="0"/>
          </a:p>
          <a:p>
            <a:r>
              <a:rPr lang="tr-TR" sz="1600" dirty="0"/>
              <a:t>[Erişim tarihi: 27-Mayıs-2026].</a:t>
            </a:r>
            <a:endParaRPr lang="en-TR" sz="16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tr-TR" sz="1600" dirty="0"/>
              <a:t>[4] </a:t>
            </a:r>
            <a:r>
              <a:rPr lang="tr-TR" sz="1600" dirty="0" err="1"/>
              <a:t>Streamlit</a:t>
            </a:r>
            <a:r>
              <a:rPr lang="tr-TR" sz="1600" dirty="0"/>
              <a:t> </a:t>
            </a:r>
            <a:r>
              <a:rPr lang="tr-TR" sz="1600" dirty="0" err="1"/>
              <a:t>Inc</a:t>
            </a:r>
            <a:r>
              <a:rPr lang="tr-TR" sz="1600" dirty="0"/>
              <a:t>., “</a:t>
            </a:r>
            <a:r>
              <a:rPr lang="tr-TR" sz="1600" dirty="0" err="1"/>
              <a:t>Streamlit</a:t>
            </a:r>
            <a:r>
              <a:rPr lang="tr-TR" sz="1600" dirty="0"/>
              <a:t> </a:t>
            </a:r>
            <a:r>
              <a:rPr lang="tr-TR" sz="1600" dirty="0" err="1"/>
              <a:t>Documentation</a:t>
            </a:r>
            <a:r>
              <a:rPr lang="tr-TR" sz="1600" dirty="0"/>
              <a:t>.” </a:t>
            </a:r>
            <a:r>
              <a:rPr lang="tr-TR" sz="1600" dirty="0" err="1"/>
              <a:t>Available</a:t>
            </a:r>
            <a:r>
              <a:rPr lang="tr-TR" sz="1600" dirty="0"/>
              <a:t>: </a:t>
            </a:r>
            <a:endParaRPr lang="en-TR" sz="1600" dirty="0"/>
          </a:p>
          <a:p>
            <a:r>
              <a:rPr lang="tr-TR" sz="1600" u="sng" dirty="0">
                <a:hlinkClick r:id="rId4"/>
              </a:rPr>
              <a:t>https://docs.streamlit.io/</a:t>
            </a:r>
            <a:r>
              <a:rPr lang="tr-TR" sz="1600" dirty="0"/>
              <a:t> </a:t>
            </a:r>
            <a:endParaRPr lang="en-TR" sz="1600" dirty="0"/>
          </a:p>
          <a:p>
            <a:r>
              <a:rPr lang="tr-TR" sz="1600" dirty="0"/>
              <a:t>[Erişim tarihi: 27-Mayıs-2026].</a:t>
            </a:r>
            <a:endParaRPr lang="en-TR" sz="16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tr-TR" sz="1600" dirty="0"/>
              <a:t>[5] J. </a:t>
            </a:r>
            <a:r>
              <a:rPr lang="tr-TR" sz="1600" dirty="0" err="1"/>
              <a:t>Schulman</a:t>
            </a:r>
            <a:r>
              <a:rPr lang="tr-TR" sz="1600" dirty="0"/>
              <a:t> et al., “</a:t>
            </a:r>
            <a:r>
              <a:rPr lang="tr-TR" sz="1600" dirty="0" err="1"/>
              <a:t>Proximal</a:t>
            </a:r>
            <a:r>
              <a:rPr lang="tr-TR" sz="1600" dirty="0"/>
              <a:t> </a:t>
            </a:r>
            <a:r>
              <a:rPr lang="tr-TR" sz="1600" dirty="0" err="1"/>
              <a:t>Policy</a:t>
            </a:r>
            <a:r>
              <a:rPr lang="tr-TR" sz="1600" dirty="0"/>
              <a:t> </a:t>
            </a:r>
            <a:r>
              <a:rPr lang="tr-TR" sz="1600" dirty="0" err="1"/>
              <a:t>Optimization</a:t>
            </a:r>
            <a:r>
              <a:rPr lang="tr-TR" sz="1600" dirty="0"/>
              <a:t> </a:t>
            </a:r>
            <a:r>
              <a:rPr lang="tr-TR" sz="1600" dirty="0" err="1"/>
              <a:t>Algorithms</a:t>
            </a:r>
            <a:r>
              <a:rPr lang="tr-TR" sz="1600" dirty="0"/>
              <a:t>,” </a:t>
            </a:r>
            <a:r>
              <a:rPr lang="tr-TR" sz="1600" dirty="0" err="1"/>
              <a:t>arXiv</a:t>
            </a:r>
            <a:r>
              <a:rPr lang="tr-TR" sz="1600" dirty="0"/>
              <a:t> </a:t>
            </a:r>
            <a:r>
              <a:rPr lang="tr-TR" sz="1600" dirty="0" err="1"/>
              <a:t>preprint</a:t>
            </a:r>
            <a:r>
              <a:rPr lang="tr-TR" sz="1600" dirty="0"/>
              <a:t> </a:t>
            </a:r>
            <a:endParaRPr lang="en-TR" sz="1600" dirty="0"/>
          </a:p>
          <a:p>
            <a:r>
              <a:rPr lang="tr-TR" sz="1600" dirty="0"/>
              <a:t>arXiv:1707.06347, 2017. </a:t>
            </a:r>
            <a:r>
              <a:rPr lang="tr-TR" sz="1600" dirty="0" err="1"/>
              <a:t>Available</a:t>
            </a:r>
            <a:r>
              <a:rPr lang="tr-TR" sz="1600" dirty="0"/>
              <a:t>: </a:t>
            </a:r>
            <a:endParaRPr lang="en-TR" sz="1600" dirty="0"/>
          </a:p>
          <a:p>
            <a:r>
              <a:rPr lang="tr-TR" sz="1600" u="sng" dirty="0">
                <a:hlinkClick r:id="rId5"/>
              </a:rPr>
              <a:t>https://arxiv.org/abs/1707.06347 [Erişim tarihi: 27-Mayıs-2026].</a:t>
            </a:r>
            <a:endParaRPr lang="en-TR" sz="1600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6001ED2-E07E-3690-8162-0C07FDF41524}"/>
              </a:ext>
            </a:extLst>
          </p:cNvPr>
          <p:cNvSpPr txBox="1">
            <a:spLocks/>
          </p:cNvSpPr>
          <p:nvPr/>
        </p:nvSpPr>
        <p:spPr>
          <a:xfrm>
            <a:off x="9140971" y="63301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en-US" sz="1200" smtClean="0"/>
              <a:pPr algn="r"/>
              <a:t>37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337226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D404B8-DCD7-B847-5DAC-71D30974D8FF}"/>
              </a:ext>
            </a:extLst>
          </p:cNvPr>
          <p:cNvSpPr txBox="1"/>
          <p:nvPr/>
        </p:nvSpPr>
        <p:spPr>
          <a:xfrm>
            <a:off x="1518403" y="2373824"/>
            <a:ext cx="11019726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tr-TR" sz="40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DİNLEDİĞİNİZ İÇİN TEŞEKKÜR EDERİZ </a:t>
            </a:r>
            <a:r>
              <a:rPr lang="tr-TR" sz="4000" b="1" dirty="0">
                <a:solidFill>
                  <a:schemeClr val="accent4">
                    <a:lumMod val="50000"/>
                  </a:schemeClr>
                </a:solidFill>
                <a:latin typeface="+mj-lt"/>
                <a:sym typeface="Wingdings" panose="05000000000000000000" pitchFamily="2" charset="2"/>
              </a:rPr>
              <a:t></a:t>
            </a:r>
            <a:endParaRPr sz="4000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040EA4-AD05-9DF7-0A3C-D491CE315F7C}"/>
              </a:ext>
            </a:extLst>
          </p:cNvPr>
          <p:cNvSpPr txBox="1"/>
          <p:nvPr/>
        </p:nvSpPr>
        <p:spPr>
          <a:xfrm>
            <a:off x="0" y="3754490"/>
            <a:ext cx="125381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GİTHUB REPO: </a:t>
            </a:r>
            <a:r>
              <a:rPr lang="en-US" sz="2800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https://github.com/Yapay-Sinir-Aglari-Proje/Akilli_Park 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2028846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w Cen MT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304</TotalTime>
  <Words>2849</Words>
  <Application>Microsoft Office PowerPoint</Application>
  <PresentationFormat>Widescreen</PresentationFormat>
  <Paragraphs>324</Paragraphs>
  <Slides>38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Arial Nova</vt:lpstr>
      <vt:lpstr>Calibri</vt:lpstr>
      <vt:lpstr>Cambria Math</vt:lpstr>
      <vt:lpstr>Segoe UI</vt:lpstr>
      <vt:lpstr>Tw Cen MT</vt:lpstr>
      <vt:lpstr>Wingdings 3</vt:lpstr>
      <vt:lpstr>Integral</vt:lpstr>
      <vt:lpstr>Akıllı Park Projesi  </vt:lpstr>
      <vt:lpstr>PROBLEM TANIMI </vt:lpstr>
      <vt:lpstr>           Parking Birmingham Veri Seti   Kronolojik Doluluk Zaman Serisi Analizi</vt:lpstr>
      <vt:lpstr>Hibrit Yapay Zekâ Mimarisi</vt:lpstr>
      <vt:lpstr>EDA: Saatlik Ortalama Otopark Doluluk Oranı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Train / Validation / Test Veri Bölme Stratejisi</vt:lpstr>
      <vt:lpstr>   ÖN İŞLEME:Otopark Lotları ve Saatlere Göre Doluluk Isı Haritası</vt:lpstr>
      <vt:lpstr>PowerPoint Presentation</vt:lpstr>
      <vt:lpstr>Korelasyon Analizi</vt:lpstr>
      <vt:lpstr>Doluluk Oranı Dağılımı ve Aykırı Değer Analizi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irem su Erdemir</dc:creator>
  <cp:lastModifiedBy>irem su Erdemir</cp:lastModifiedBy>
  <cp:revision>53</cp:revision>
  <dcterms:created xsi:type="dcterms:W3CDTF">2026-06-01T12:09:49Z</dcterms:created>
  <dcterms:modified xsi:type="dcterms:W3CDTF">2026-06-02T14:14:10Z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