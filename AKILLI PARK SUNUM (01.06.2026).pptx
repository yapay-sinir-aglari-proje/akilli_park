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5"/>
  </p:notesMasterIdLst>
  <p:handoutMasterIdLst>
    <p:handoutMasterId r:id="rId36"/>
  </p:handoutMasterIdLst>
  <p:sldIdLst>
    <p:sldId id="342" r:id="rId5"/>
    <p:sldId id="359" r:id="rId6"/>
    <p:sldId id="373" r:id="rId7"/>
    <p:sldId id="374" r:id="rId8"/>
    <p:sldId id="375" r:id="rId9"/>
    <p:sldId id="365" r:id="rId10"/>
    <p:sldId id="376" r:id="rId11"/>
    <p:sldId id="377" r:id="rId12"/>
    <p:sldId id="378" r:id="rId13"/>
    <p:sldId id="379" r:id="rId14"/>
    <p:sldId id="380" r:id="rId15"/>
    <p:sldId id="381" r:id="rId16"/>
    <p:sldId id="372" r:id="rId17"/>
    <p:sldId id="383" r:id="rId18"/>
    <p:sldId id="384" r:id="rId19"/>
    <p:sldId id="385" r:id="rId20"/>
    <p:sldId id="386" r:id="rId21"/>
    <p:sldId id="387" r:id="rId22"/>
    <p:sldId id="388" r:id="rId23"/>
    <p:sldId id="389" r:id="rId24"/>
    <p:sldId id="390" r:id="rId25"/>
    <p:sldId id="391" r:id="rId26"/>
    <p:sldId id="392" r:id="rId27"/>
    <p:sldId id="393" r:id="rId28"/>
    <p:sldId id="394" r:id="rId29"/>
    <p:sldId id="395" r:id="rId30"/>
    <p:sldId id="396" r:id="rId31"/>
    <p:sldId id="397" r:id="rId32"/>
    <p:sldId id="398" r:id="rId33"/>
    <p:sldId id="39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15" autoAdjust="0"/>
    <p:restoredTop sz="95388" autoAdjust="0"/>
  </p:normalViewPr>
  <p:slideViewPr>
    <p:cSldViewPr snapToGrid="0" snapToObjects="1" showGuides="1">
      <p:cViewPr varScale="1">
        <p:scale>
          <a:sx n="64" d="100"/>
          <a:sy n="64" d="100"/>
        </p:scale>
        <p:origin x="654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125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99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5100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90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6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apay-Sinir-Aglari-Proje/Akilli_Park" TargetMode="Externa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Akıllı Park Projesi </a:t>
            </a:r>
            <a:b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616858" y="2964189"/>
            <a:ext cx="12191997" cy="929622"/>
          </a:xfrm>
        </p:spPr>
        <p:txBody>
          <a:bodyPr/>
          <a:lstStyle/>
          <a:p>
            <a:r>
              <a:rPr lang="tr-T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BLM4502 YAPAY SİNİR AĞLARINA GİRİŞ</a:t>
            </a:r>
          </a:p>
          <a:p>
            <a:pPr>
              <a:lnSpc>
                <a:spcPct val="100000"/>
              </a:lnSpc>
            </a:pPr>
            <a:r>
              <a:rPr lang="tr-T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Danışman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Dr. </a:t>
            </a:r>
            <a:r>
              <a:rPr lang="tr-T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Ö</a:t>
            </a:r>
            <a:r>
              <a:rPr lang="en-US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ğr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Üyesi Turgut DOĞAN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7763A2A-5356-1D82-2591-B616081AAE80}"/>
              </a:ext>
            </a:extLst>
          </p:cNvPr>
          <p:cNvSpPr txBox="1">
            <a:spLocks/>
          </p:cNvSpPr>
          <p:nvPr/>
        </p:nvSpPr>
        <p:spPr>
          <a:xfrm>
            <a:off x="5323799" y="4645473"/>
            <a:ext cx="7105841" cy="21976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 cap="all" spc="600" baseline="0">
                <a:solidFill>
                  <a:schemeClr val="accent3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400"/>
              </a:spcAft>
            </a:pPr>
            <a:r>
              <a:rPr lang="en-US" sz="1600" b="1" dirty="0">
                <a:solidFill>
                  <a:srgbClr val="FFFFFF"/>
                </a:solidFill>
                <a:latin typeface="Segoe UI"/>
              </a:rPr>
              <a:t>1221602028 — İrem Su ERDEMİR</a:t>
            </a:r>
          </a:p>
          <a:p>
            <a:pPr algn="l">
              <a:spcAft>
                <a:spcPts val="400"/>
              </a:spcAft>
            </a:pPr>
            <a:r>
              <a:rPr lang="en-US" sz="1600" b="1" dirty="0">
                <a:solidFill>
                  <a:srgbClr val="FFFFFF"/>
                </a:solidFill>
                <a:latin typeface="Segoe UI"/>
              </a:rPr>
              <a:t>1221602043 — Hatice Pınar YILMAZ</a:t>
            </a:r>
            <a:endParaRPr lang="tr-TR" sz="1600" b="1" dirty="0">
              <a:solidFill>
                <a:srgbClr val="FFFFFF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lang="en-US" sz="1600" b="1" dirty="0">
                <a:solidFill>
                  <a:srgbClr val="FFFFFF"/>
                </a:solidFill>
                <a:latin typeface="Segoe UI"/>
              </a:rPr>
              <a:t>1221602098 — Beyza YILMAZ</a:t>
            </a:r>
          </a:p>
          <a:p>
            <a:pPr algn="l">
              <a:spcAft>
                <a:spcPts val="400"/>
              </a:spcAft>
            </a:pPr>
            <a:r>
              <a:rPr lang="en-US" sz="1600" b="1" dirty="0">
                <a:solidFill>
                  <a:srgbClr val="FFFFFF"/>
                </a:solidFill>
                <a:latin typeface="Segoe UI"/>
              </a:rPr>
              <a:t>1221602641 — Yusuf GÜDE</a:t>
            </a:r>
          </a:p>
          <a:p>
            <a:pPr algn="l">
              <a:spcAft>
                <a:spcPts val="400"/>
              </a:spcAft>
            </a:pPr>
            <a:r>
              <a:rPr lang="en-US" sz="1600" b="1" dirty="0">
                <a:solidFill>
                  <a:srgbClr val="FFFFFF"/>
                </a:solidFill>
                <a:latin typeface="Segoe UI"/>
              </a:rPr>
              <a:t>1221602804 — Ulaş Ekrem EMİLİ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64" y="-128821"/>
            <a:ext cx="6924831" cy="1057807"/>
          </a:xfrm>
        </p:spPr>
        <p:txBody>
          <a:bodyPr/>
          <a:lstStyle/>
          <a:p>
            <a:r>
              <a:rPr lang="en-US" b="1" dirty="0"/>
              <a:t>PROBLEM TANIMI</a:t>
            </a:r>
            <a:r>
              <a:rPr lang="tr-TR" b="1" dirty="0"/>
              <a:t> 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FF5B32-8FD0-046B-1045-DD532AC5E4D6}"/>
              </a:ext>
            </a:extLst>
          </p:cNvPr>
          <p:cNvSpPr txBox="1"/>
          <p:nvPr/>
        </p:nvSpPr>
        <p:spPr>
          <a:xfrm>
            <a:off x="415665" y="1168122"/>
            <a:ext cx="6093500" cy="2343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Artan </a:t>
            </a:r>
            <a:r>
              <a:rPr lang="en-US" sz="2000" dirty="0" err="1">
                <a:solidFill>
                  <a:schemeClr val="bg1"/>
                </a:solidFill>
              </a:rPr>
              <a:t>araç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sayısı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Otopark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bulma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zorluğu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Trafik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yoğunluğu</a:t>
            </a:r>
            <a:endParaRPr lang="tr-TR" sz="20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Yakıt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kaybı</a:t>
            </a:r>
            <a:endParaRPr lang="tr-TR" sz="20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Karbon </a:t>
            </a:r>
            <a:r>
              <a:rPr lang="en-US" sz="2000" dirty="0" err="1">
                <a:solidFill>
                  <a:schemeClr val="bg1"/>
                </a:solidFill>
              </a:rPr>
              <a:t>salınımı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C1A1E9-8CC9-65E1-2C27-7B18B1A3D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5999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249DE12-B5D1-7B12-46B3-0D109A178096}"/>
              </a:ext>
            </a:extLst>
          </p:cNvPr>
          <p:cNvSpPr txBox="1"/>
          <p:nvPr/>
        </p:nvSpPr>
        <p:spPr>
          <a:xfrm>
            <a:off x="298553" y="4476636"/>
            <a:ext cx="6153462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Doluluk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tahmini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yapmak</a:t>
            </a:r>
            <a:endParaRPr lang="tr-TR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uygun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park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alanını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bulmak</a:t>
            </a:r>
            <a:endParaRPr lang="tr-TR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Sürücü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yönlendirmek</a:t>
            </a:r>
            <a:endParaRPr lang="tr-TR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Trafik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yoğunluğunu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azaltmak</a:t>
            </a:r>
            <a:endParaRPr lang="en-US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itle 6">
            <a:extLst>
              <a:ext uri="{FF2B5EF4-FFF2-40B4-BE49-F238E27FC236}">
                <a16:creationId xmlns:a16="http://schemas.microsoft.com/office/drawing/2014/main" id="{94B0D27B-A3E7-E741-AE85-59C17A4FDBA4}"/>
              </a:ext>
            </a:extLst>
          </p:cNvPr>
          <p:cNvSpPr txBox="1">
            <a:spLocks/>
          </p:cNvSpPr>
          <p:nvPr/>
        </p:nvSpPr>
        <p:spPr>
          <a:xfrm>
            <a:off x="415665" y="3364589"/>
            <a:ext cx="6924831" cy="105780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spc="300" baseline="0">
                <a:solidFill>
                  <a:schemeClr val="accent3">
                    <a:lumMod val="75000"/>
                  </a:schemeClr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r>
              <a:rPr lang="en-US" b="1" dirty="0"/>
              <a:t>PRO</a:t>
            </a:r>
            <a:r>
              <a:rPr lang="tr-TR" b="1" dirty="0" err="1"/>
              <a:t>jenin</a:t>
            </a:r>
            <a:r>
              <a:rPr lang="tr-TR" b="1" dirty="0"/>
              <a:t>  AMACI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F7C5-CBA2-9823-0CBA-5BD773998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55" y="724412"/>
            <a:ext cx="9824089" cy="959129"/>
          </a:xfrm>
        </p:spPr>
        <p:txBody>
          <a:bodyPr/>
          <a:lstStyle/>
          <a:p>
            <a:pPr algn="l"/>
            <a:r>
              <a:rPr lang="tr-TR" b="1" dirty="0">
                <a:solidFill>
                  <a:schemeClr val="accent3">
                    <a:lumMod val="75000"/>
                  </a:schemeClr>
                </a:solidFill>
              </a:rPr>
              <a:t>              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Parking Birmingham Veri Seti</a:t>
            </a:r>
            <a:br>
              <a:rPr lang="tr-T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tr-T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Kronolojik</a:t>
            </a: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Doluluk</a:t>
            </a: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Zaman </a:t>
            </a:r>
            <a:r>
              <a:rPr lang="en-US" sz="2000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Serisi</a:t>
            </a: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Analizi</a:t>
            </a:r>
            <a:endParaRPr lang="en-US" sz="2400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966468-63FB-65CB-8E35-D84E950F7403}"/>
              </a:ext>
            </a:extLst>
          </p:cNvPr>
          <p:cNvSpPr txBox="1"/>
          <p:nvPr/>
        </p:nvSpPr>
        <p:spPr>
          <a:xfrm>
            <a:off x="1183955" y="2266408"/>
            <a:ext cx="3576731" cy="2631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Gerçek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şehir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otopark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verileri</a:t>
            </a:r>
            <a:endParaRPr lang="en-US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Saatlik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günlük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periyodik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desenler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içerir</a:t>
            </a:r>
            <a:endParaRPr lang="en-US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LSTM </a:t>
            </a:r>
            <a:r>
              <a:rPr lang="en-US" sz="16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modeli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için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zaman </a:t>
            </a:r>
            <a:r>
              <a:rPr lang="en-US" sz="16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serisi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verisi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sağlar</a:t>
            </a:r>
            <a:endParaRPr lang="en-US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Gelecekteki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doluluk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tahmini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için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temel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oluşturur</a:t>
            </a:r>
            <a:endParaRPr lang="en-US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3AE2BE-9C59-2A9B-A7BD-E09B252AA2BD}"/>
              </a:ext>
            </a:extLst>
          </p:cNvPr>
          <p:cNvSpPr txBox="1"/>
          <p:nvPr/>
        </p:nvSpPr>
        <p:spPr>
          <a:xfrm>
            <a:off x="1183955" y="5205792"/>
            <a:ext cx="10369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Doluluk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oranları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belirgin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periyodik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davranış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göstermektedir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nedenle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zaman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serisi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tahmini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uygulanabilir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4B7344-4434-A89E-08E5-458E0D4ABA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206" y="2334615"/>
            <a:ext cx="6870337" cy="2288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EFE388-CD0B-9671-4D4E-D6D8004C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564" y="-68181"/>
            <a:ext cx="6953718" cy="846183"/>
          </a:xfrm>
        </p:spPr>
        <p:txBody>
          <a:bodyPr/>
          <a:lstStyle/>
          <a:p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Hibrit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Yapay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Zekâ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Mimarisi</a:t>
            </a:r>
            <a:endParaRPr lang="en-US" sz="32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6EA54-3083-FB0D-9011-2353791B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9C8A0B1-E02C-3E99-834E-807728D3BA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0457" y="1255695"/>
            <a:ext cx="7499657" cy="434661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8A2825-5F20-23F9-7D83-391A48E28225}"/>
              </a:ext>
            </a:extLst>
          </p:cNvPr>
          <p:cNvSpPr txBox="1"/>
          <p:nvPr/>
        </p:nvSpPr>
        <p:spPr>
          <a:xfrm>
            <a:off x="221343" y="794797"/>
            <a:ext cx="9590314" cy="531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LSTM 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Katmanı</a:t>
            </a:r>
            <a:r>
              <a:rPr lang="tr-TR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 zaman 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adımlı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pencere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Gelecek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doluluk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tahmini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Aggregate occupancy prediction</a:t>
            </a:r>
            <a:endParaRPr lang="tr-TR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PPO 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Katmanı</a:t>
            </a:r>
            <a:r>
              <a:rPr lang="tr-TR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15×15 Grid 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ortamı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düşük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yoğunluklu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lotu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bulur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Yönlendirme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kararı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üretir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tr-TR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Sunum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Katmanı</a:t>
            </a:r>
            <a:r>
              <a:rPr lang="tr-TR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Dashboard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FastAPI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Servisi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 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Arayüzü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BB87D0-7E76-D565-84F8-C96F7B44FBC2}"/>
              </a:ext>
            </a:extLst>
          </p:cNvPr>
          <p:cNvSpPr txBox="1"/>
          <p:nvPr/>
        </p:nvSpPr>
        <p:spPr>
          <a:xfrm>
            <a:off x="221343" y="6252040"/>
            <a:ext cx="1371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LSTM </a:t>
            </a:r>
            <a:r>
              <a:rPr lang="en-US" sz="1600" b="1" dirty="0" err="1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tahminleri</a:t>
            </a:r>
            <a:r>
              <a:rPr lang="en-US" sz="16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PPO </a:t>
            </a:r>
            <a:r>
              <a:rPr lang="en-US" sz="1600" b="1" dirty="0" err="1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ajanının</a:t>
            </a:r>
            <a:r>
              <a:rPr lang="en-US" sz="16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gözlem</a:t>
            </a:r>
            <a:r>
              <a:rPr lang="en-US" sz="16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uzayına</a:t>
            </a:r>
            <a:r>
              <a:rPr lang="en-US" sz="16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entegre</a:t>
            </a:r>
            <a:r>
              <a:rPr lang="en-US" sz="16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edilerek</a:t>
            </a:r>
            <a:r>
              <a:rPr lang="en-US" sz="16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sistemin</a:t>
            </a:r>
            <a:r>
              <a:rPr lang="en-US" sz="16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geleceği</a:t>
            </a:r>
            <a:r>
              <a:rPr lang="en-US" sz="16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öngörebilen</a:t>
            </a:r>
            <a:r>
              <a:rPr lang="en-US" sz="16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proaktif</a:t>
            </a:r>
            <a:r>
              <a:rPr lang="en-US" sz="16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kararlar</a:t>
            </a:r>
            <a:r>
              <a:rPr lang="en-US" sz="16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vermesi</a:t>
            </a:r>
            <a:r>
              <a:rPr lang="en-US" sz="16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sağlanmıştır</a:t>
            </a:r>
            <a:r>
              <a:rPr lang="en-US" sz="16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530" y="-561475"/>
            <a:ext cx="10472491" cy="1656304"/>
          </a:xfrm>
        </p:spPr>
        <p:txBody>
          <a:bodyPr/>
          <a:lstStyle/>
          <a:p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EDA: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Saatlik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Ortalama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Otopark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Doluluk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Oranı</a:t>
            </a:r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/>
          <a:lstStyle/>
          <a:p>
            <a:endParaRPr lang="tr-TR" dirty="0"/>
          </a:p>
          <a:p>
            <a:endParaRPr lang="tr-T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1B0D54-C177-B9FC-B2F4-ACF25140AD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539" y="1252969"/>
            <a:ext cx="8235071" cy="32295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D2665B-34E8-E5C8-F75A-EC127F38A811}"/>
              </a:ext>
            </a:extLst>
          </p:cNvPr>
          <p:cNvSpPr txBox="1"/>
          <p:nvPr/>
        </p:nvSpPr>
        <p:spPr>
          <a:xfrm>
            <a:off x="807638" y="4549962"/>
            <a:ext cx="10806710" cy="2118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Otopark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oranları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gün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içerisinde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belirgin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değişimler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göstermektedir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Sabah </a:t>
            </a:r>
            <a:r>
              <a:rPr lang="en-US" dirty="0" err="1">
                <a:solidFill>
                  <a:schemeClr val="bg1"/>
                </a:solidFill>
              </a:rPr>
              <a:t>saatlerinden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itibaren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düzenli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olarak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artmaktadır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En </a:t>
            </a:r>
            <a:r>
              <a:rPr lang="en-US" dirty="0" err="1">
                <a:solidFill>
                  <a:schemeClr val="bg1"/>
                </a:solidFill>
              </a:rPr>
              <a:t>yüksek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oranları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13:00–14:00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saatleri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arasında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gözlemlenmiştir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Öğleden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sonra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oranlarında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kademeli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bir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düşüş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başlamaktadır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Bu </a:t>
            </a:r>
            <a:r>
              <a:rPr lang="en-US" dirty="0" err="1">
                <a:solidFill>
                  <a:schemeClr val="bg1"/>
                </a:solidFill>
              </a:rPr>
              <a:t>periyodik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yapı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b="1" dirty="0">
                <a:solidFill>
                  <a:schemeClr val="bg1"/>
                </a:solidFill>
              </a:rPr>
              <a:t>LSTM </a:t>
            </a:r>
            <a:r>
              <a:rPr lang="en-US" b="1" dirty="0" err="1">
                <a:solidFill>
                  <a:schemeClr val="bg1"/>
                </a:solidFill>
              </a:rPr>
              <a:t>tabanlı</a:t>
            </a:r>
            <a:r>
              <a:rPr lang="en-US" b="1" dirty="0">
                <a:solidFill>
                  <a:schemeClr val="bg1"/>
                </a:solidFill>
              </a:rPr>
              <a:t> zaman </a:t>
            </a:r>
            <a:r>
              <a:rPr lang="en-US" b="1" dirty="0" err="1">
                <a:solidFill>
                  <a:schemeClr val="bg1"/>
                </a:solidFill>
              </a:rPr>
              <a:t>serisi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tahmini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için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uygun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bir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örüntü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oluşturmaktadır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BC7165D-B362-F913-A579-343B914EAE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067" y="1070500"/>
            <a:ext cx="8140383" cy="345076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EDFC828-6062-0A15-8977-7FB9210FFFB4}"/>
              </a:ext>
            </a:extLst>
          </p:cNvPr>
          <p:cNvSpPr txBox="1"/>
          <p:nvPr/>
        </p:nvSpPr>
        <p:spPr>
          <a:xfrm>
            <a:off x="3518216" y="442436"/>
            <a:ext cx="64830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Doluluk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Oranı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Dağılım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Analizi</a:t>
            </a:r>
            <a:endParaRPr lang="en-US" sz="3200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2E03EB-8536-C5F9-0554-537EE6C34168}"/>
              </a:ext>
            </a:extLst>
          </p:cNvPr>
          <p:cNvSpPr txBox="1"/>
          <p:nvPr/>
        </p:nvSpPr>
        <p:spPr>
          <a:xfrm>
            <a:off x="770331" y="4564553"/>
            <a:ext cx="10121584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setindeki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otopark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doluluk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oranlarının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dağılımı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incelenmiştir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Kayıtların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büyük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bölümü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%20 </a:t>
            </a:r>
            <a:r>
              <a:rPr lang="en-US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ile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%80 </a:t>
            </a:r>
            <a:r>
              <a:rPr lang="en-US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doluluk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aralığında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yoğunlaşmaktadır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tr-TR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Çok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düşük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çok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yüksek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doluluk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değerleri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daha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az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sıklıkla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görülmektedir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tr-TR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Dağılımın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geniş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bir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aralığa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yayılması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setinin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farklı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yoğunluk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senaryolarını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içerdiğini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göstermektedir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tr-TR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çeşitlilik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tahmin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yönlendirme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modellerinin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farklı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trafik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koşullarını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öğrenmesini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sağlamaktadır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0661F1-B64C-A162-C0C2-91B397648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071" y="1275508"/>
            <a:ext cx="8370958" cy="32829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AA92E36-9B49-BD17-93E2-321A4792FDCA}"/>
              </a:ext>
            </a:extLst>
          </p:cNvPr>
          <p:cNvSpPr txBox="1"/>
          <p:nvPr/>
        </p:nvSpPr>
        <p:spPr>
          <a:xfrm>
            <a:off x="2476499" y="365562"/>
            <a:ext cx="76771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Günlük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Ortalama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Otopark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Doluluk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Analizi</a:t>
            </a:r>
            <a:endParaRPr lang="en-US" sz="32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659EBA-C16E-4961-0093-0EB9A36EF499}"/>
              </a:ext>
            </a:extLst>
          </p:cNvPr>
          <p:cNvSpPr txBox="1"/>
          <p:nvPr/>
        </p:nvSpPr>
        <p:spPr>
          <a:xfrm>
            <a:off x="617095" y="4604877"/>
            <a:ext cx="1188720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Otopark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oranları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hafta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içi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günlerde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daha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yüksek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seviyelerde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seyretmektedir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En </a:t>
            </a:r>
            <a:r>
              <a:rPr lang="en-US" dirty="0" err="1">
                <a:solidFill>
                  <a:schemeClr val="bg1"/>
                </a:solidFill>
              </a:rPr>
              <a:t>yüksek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ortalama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Perşembe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günü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gözlemlenmiştir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Hafta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sonuna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doğru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oranlarında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düşüş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başlamaktadır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Cumartesi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ve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özellikle</a:t>
            </a:r>
            <a:r>
              <a:rPr lang="en-US" b="1" dirty="0">
                <a:solidFill>
                  <a:schemeClr val="bg1"/>
                </a:solidFill>
              </a:rPr>
              <a:t> Pazar </a:t>
            </a:r>
            <a:r>
              <a:rPr lang="en-US" b="1" dirty="0" err="1">
                <a:solidFill>
                  <a:schemeClr val="bg1"/>
                </a:solidFill>
              </a:rPr>
              <a:t>günleri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kullanım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yoğunluğu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belirgin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şekilde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azalmaktadır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Sonuçlar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otopark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kullanımının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iş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eğitim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kaynaklı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hafta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içi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hareketlilikten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etkilendiğini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göstermektedir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-236291"/>
            <a:ext cx="10500989" cy="1327464"/>
          </a:xfrm>
        </p:spPr>
        <p:txBody>
          <a:bodyPr/>
          <a:lstStyle/>
          <a:p>
            <a:r>
              <a:rPr lang="fr-FR" b="1" dirty="0"/>
              <a:t>Train / Validation / Test Veri </a:t>
            </a:r>
            <a:r>
              <a:rPr lang="fr-FR" b="1" dirty="0" err="1"/>
              <a:t>Bölme</a:t>
            </a:r>
            <a:r>
              <a:rPr lang="fr-FR" b="1" dirty="0"/>
              <a:t> </a:t>
            </a:r>
            <a:r>
              <a:rPr lang="fr-FR" b="1" dirty="0" err="1"/>
              <a:t>Stratejisi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E64674-571A-7BDF-CFDC-06B03ACE09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489" y="1381477"/>
            <a:ext cx="9287581" cy="302469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C5E9700-CD9C-96CE-C497-87BB2A8F45A7}"/>
              </a:ext>
            </a:extLst>
          </p:cNvPr>
          <p:cNvSpPr txBox="1"/>
          <p:nvPr/>
        </p:nvSpPr>
        <p:spPr>
          <a:xfrm>
            <a:off x="741680" y="4697394"/>
            <a:ext cx="992505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Veri </a:t>
            </a:r>
            <a:r>
              <a:rPr lang="en-US" dirty="0" err="1">
                <a:solidFill>
                  <a:schemeClr val="bg1"/>
                </a:solidFill>
              </a:rPr>
              <a:t>seti</a:t>
            </a:r>
            <a:r>
              <a:rPr lang="en-US" dirty="0">
                <a:solidFill>
                  <a:schemeClr val="bg1"/>
                </a:solidFill>
              </a:rPr>
              <a:t> zaman </a:t>
            </a:r>
            <a:r>
              <a:rPr lang="en-US" dirty="0" err="1">
                <a:solidFill>
                  <a:schemeClr val="bg1"/>
                </a:solidFill>
              </a:rPr>
              <a:t>sırası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korunarak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%70 </a:t>
            </a:r>
            <a:r>
              <a:rPr lang="en-US" b="1" dirty="0" err="1">
                <a:solidFill>
                  <a:schemeClr val="bg1"/>
                </a:solidFill>
              </a:rPr>
              <a:t>Eğitim</a:t>
            </a:r>
            <a:r>
              <a:rPr lang="en-US" b="1" dirty="0">
                <a:solidFill>
                  <a:schemeClr val="bg1"/>
                </a:solidFill>
              </a:rPr>
              <a:t>, %15 </a:t>
            </a:r>
            <a:r>
              <a:rPr lang="en-US" b="1" dirty="0" err="1">
                <a:solidFill>
                  <a:schemeClr val="bg1"/>
                </a:solidFill>
              </a:rPr>
              <a:t>Doğrulama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ve</a:t>
            </a:r>
            <a:r>
              <a:rPr lang="en-US" b="1" dirty="0">
                <a:solidFill>
                  <a:schemeClr val="bg1"/>
                </a:solidFill>
              </a:rPr>
              <a:t> %15 Test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kümelerine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ayrılmıştır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Bölme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işlemi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kronolojik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olarak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gerçekleştirilmiş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böylece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sızıntısı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önlenmiştir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Model </a:t>
            </a:r>
            <a:r>
              <a:rPr lang="en-US" dirty="0" err="1">
                <a:solidFill>
                  <a:schemeClr val="bg1"/>
                </a:solidFill>
              </a:rPr>
              <a:t>yalnızca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geçmiş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verilerle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eğitilmiş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gelecekteki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veriler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üzerinde</a:t>
            </a:r>
            <a:r>
              <a:rPr lang="en-US" dirty="0">
                <a:solidFill>
                  <a:schemeClr val="bg1"/>
                </a:solidFill>
              </a:rPr>
              <a:t> test </a:t>
            </a:r>
            <a:r>
              <a:rPr lang="en-US" dirty="0" err="1">
                <a:solidFill>
                  <a:schemeClr val="bg1"/>
                </a:solidFill>
              </a:rPr>
              <a:t>edilmiştir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Bu </a:t>
            </a:r>
            <a:r>
              <a:rPr lang="en-US" dirty="0" err="1">
                <a:solidFill>
                  <a:schemeClr val="bg1"/>
                </a:solidFill>
              </a:rPr>
              <a:t>yaklaşım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gerçek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hayattaki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tahmin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senaryolarını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daha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doğru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şekilde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yansıtmaktadır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DB868-BEE2-49F7-9AC5-A3B14388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B7923F9-CB46-3E44-2CBB-D9193ACE7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" y="-455816"/>
            <a:ext cx="12612370" cy="1327464"/>
          </a:xfrm>
        </p:spPr>
        <p:txBody>
          <a:bodyPr/>
          <a:lstStyle/>
          <a:p>
            <a:r>
              <a:rPr lang="tr-TR" sz="3100" b="1" dirty="0"/>
              <a:t>ÖN İŞLEME:</a:t>
            </a:r>
            <a:r>
              <a:rPr lang="en-US" sz="3100" b="1" dirty="0" err="1"/>
              <a:t>Otopark</a:t>
            </a:r>
            <a:r>
              <a:rPr lang="en-US" sz="3100" b="1" dirty="0"/>
              <a:t> </a:t>
            </a:r>
            <a:r>
              <a:rPr lang="en-US" sz="3100" b="1" dirty="0" err="1"/>
              <a:t>Lotları</a:t>
            </a:r>
            <a:r>
              <a:rPr lang="en-US" sz="3100" b="1" dirty="0"/>
              <a:t> </a:t>
            </a:r>
            <a:r>
              <a:rPr lang="en-US" sz="3100" b="1" dirty="0" err="1"/>
              <a:t>ve</a:t>
            </a:r>
            <a:r>
              <a:rPr lang="en-US" sz="3100" b="1" dirty="0"/>
              <a:t> </a:t>
            </a:r>
            <a:r>
              <a:rPr lang="en-US" sz="3100" b="1" dirty="0" err="1"/>
              <a:t>Saatlere</a:t>
            </a:r>
            <a:r>
              <a:rPr lang="en-US" sz="3100" b="1" dirty="0"/>
              <a:t> </a:t>
            </a:r>
            <a:r>
              <a:rPr lang="en-US" sz="3100" b="1" dirty="0" err="1"/>
              <a:t>Göre</a:t>
            </a:r>
            <a:r>
              <a:rPr lang="en-US" sz="3100" b="1" dirty="0"/>
              <a:t> </a:t>
            </a:r>
            <a:r>
              <a:rPr lang="en-US" sz="3100" b="1" dirty="0" err="1"/>
              <a:t>Doluluk</a:t>
            </a:r>
            <a:r>
              <a:rPr lang="en-US" sz="3100" b="1" dirty="0"/>
              <a:t> </a:t>
            </a:r>
            <a:r>
              <a:rPr lang="en-US" sz="3100" b="1" dirty="0" err="1"/>
              <a:t>Isı</a:t>
            </a:r>
            <a:r>
              <a:rPr lang="en-US" sz="3100" b="1" dirty="0"/>
              <a:t> </a:t>
            </a:r>
            <a:r>
              <a:rPr lang="en-US" sz="3100" b="1" dirty="0" err="1"/>
              <a:t>Haritası</a:t>
            </a:r>
            <a:endParaRPr lang="en-US" sz="31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C5072E-A499-5062-8F73-04CAE5A2A0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391" y="910409"/>
            <a:ext cx="6978580" cy="35345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FDCDAD7-58AE-D872-8679-632832285299}"/>
              </a:ext>
            </a:extLst>
          </p:cNvPr>
          <p:cNvSpPr txBox="1"/>
          <p:nvPr/>
        </p:nvSpPr>
        <p:spPr>
          <a:xfrm>
            <a:off x="307829" y="4483725"/>
            <a:ext cx="1215390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Isı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haritası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farklı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otoparkların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gün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içerisindeki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değişimini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göstermektedir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Koyu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kırmızı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bölgeler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yüksek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oranlarını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açık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renkler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düşük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oranlarını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temsil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etmektedir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Birçok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otoparkta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10:00–15:00 </a:t>
            </a:r>
            <a:r>
              <a:rPr lang="en-US" b="1" dirty="0" err="1">
                <a:solidFill>
                  <a:schemeClr val="bg1"/>
                </a:solidFill>
              </a:rPr>
              <a:t>saatleri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arasında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yoğunluk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artışı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gözlemlenmektedir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Bazı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otoparkların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gün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boyunca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sürekli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yüksek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dolulukta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çalıştığı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görülmektedir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Sonuçlar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oranlarının</a:t>
            </a:r>
            <a:r>
              <a:rPr lang="en-US" dirty="0">
                <a:solidFill>
                  <a:schemeClr val="bg1"/>
                </a:solidFill>
              </a:rPr>
              <a:t> hem </a:t>
            </a:r>
            <a:r>
              <a:rPr lang="en-US" dirty="0" err="1">
                <a:solidFill>
                  <a:schemeClr val="bg1"/>
                </a:solidFill>
              </a:rPr>
              <a:t>zamana</a:t>
            </a:r>
            <a:r>
              <a:rPr lang="en-US" dirty="0">
                <a:solidFill>
                  <a:schemeClr val="bg1"/>
                </a:solidFill>
              </a:rPr>
              <a:t> hem de </a:t>
            </a:r>
            <a:r>
              <a:rPr lang="en-US" dirty="0" err="1">
                <a:solidFill>
                  <a:schemeClr val="bg1"/>
                </a:solidFill>
              </a:rPr>
              <a:t>otopark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konumuna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bağlı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olarak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değiştiğini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göstermektedir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10315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79DFA6C-0DAC-6AB2-8952-5BF1A7481E14}"/>
              </a:ext>
            </a:extLst>
          </p:cNvPr>
          <p:cNvSpPr txBox="1"/>
          <p:nvPr/>
        </p:nvSpPr>
        <p:spPr>
          <a:xfrm>
            <a:off x="2057400" y="414198"/>
            <a:ext cx="88582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Hafta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İçi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ve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Hafta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Sonu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Saatlik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Doluluk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Analizi</a:t>
            </a:r>
            <a:endParaRPr lang="en-US" sz="32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8D6098A-BE40-7B82-98AF-1A794558D2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334" y="1203552"/>
            <a:ext cx="8500531" cy="340550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27ECEBA-F601-84D6-97D8-129D3B92BF73}"/>
              </a:ext>
            </a:extLst>
          </p:cNvPr>
          <p:cNvSpPr txBox="1"/>
          <p:nvPr/>
        </p:nvSpPr>
        <p:spPr>
          <a:xfrm>
            <a:off x="700165" y="4609057"/>
            <a:ext cx="1219200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Isı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haritası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gün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bazında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ortalama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otopark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oranlarını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göstermektedir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Hafta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içi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günlerde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oranları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daha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yüksek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seviyelerde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seyretmektedir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Özellikle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11:00–14:00 </a:t>
            </a:r>
            <a:r>
              <a:rPr lang="en-US" b="1" dirty="0" err="1">
                <a:solidFill>
                  <a:schemeClr val="bg1"/>
                </a:solidFill>
              </a:rPr>
              <a:t>saatleri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arasında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yoğunluk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zirveye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ulaşmaktadır</a:t>
            </a:r>
            <a:r>
              <a:rPr lang="en-US" b="1" dirty="0">
                <a:solidFill>
                  <a:schemeClr val="bg1"/>
                </a:solidFill>
              </a:rPr>
              <a:t>.</a:t>
            </a:r>
            <a:r>
              <a:rPr lang="en-US" dirty="0">
                <a:solidFill>
                  <a:schemeClr val="bg1"/>
                </a:solidFill>
              </a:rPr>
              <a:t>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Hafta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sonlarında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oranları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belirgin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şekilde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azalmaktadır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Sonuçlar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otopark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kullanımının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zamana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haftanın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gününe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bağlı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olarak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değiştiğini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göstermektedir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007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7124" y="-400664"/>
            <a:ext cx="10515601" cy="1327464"/>
          </a:xfrm>
        </p:spPr>
        <p:txBody>
          <a:bodyPr/>
          <a:lstStyle/>
          <a:p>
            <a:r>
              <a:rPr lang="en-US" b="1" dirty="0" err="1"/>
              <a:t>Korelasyon</a:t>
            </a:r>
            <a:r>
              <a:rPr lang="en-US" b="1" dirty="0"/>
              <a:t> </a:t>
            </a:r>
            <a:r>
              <a:rPr lang="en-US" b="1" dirty="0" err="1"/>
              <a:t>Analizi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98B36E-F918-2664-C095-3A5119FD5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230" y="1197610"/>
            <a:ext cx="8656784" cy="29933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3B2C1A7-9333-0F6A-CCE1-436494C52314}"/>
              </a:ext>
            </a:extLst>
          </p:cNvPr>
          <p:cNvSpPr txBox="1"/>
          <p:nvPr/>
        </p:nvSpPr>
        <p:spPr>
          <a:xfrm>
            <a:off x="713688" y="4464459"/>
            <a:ext cx="1130427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Veri </a:t>
            </a:r>
            <a:r>
              <a:rPr lang="en-US" dirty="0" err="1">
                <a:solidFill>
                  <a:schemeClr val="bg1"/>
                </a:solidFill>
              </a:rPr>
              <a:t>setindeki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değişkenler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arasındaki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ilişkiler</a:t>
            </a:r>
            <a:r>
              <a:rPr lang="en-US" dirty="0">
                <a:solidFill>
                  <a:schemeClr val="bg1"/>
                </a:solidFill>
              </a:rPr>
              <a:t> Pearson </a:t>
            </a:r>
            <a:r>
              <a:rPr lang="en-US" dirty="0" err="1">
                <a:solidFill>
                  <a:schemeClr val="bg1"/>
                </a:solidFill>
              </a:rPr>
              <a:t>korelasyon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katsayısı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incelenmiştir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Occupancy (</a:t>
            </a:r>
            <a:r>
              <a:rPr lang="en-US" b="1" dirty="0" err="1">
                <a:solidFill>
                  <a:schemeClr val="bg1"/>
                </a:solidFill>
              </a:rPr>
              <a:t>dolu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araç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sayısı</a:t>
            </a:r>
            <a:r>
              <a:rPr lang="en-US" b="1" dirty="0">
                <a:solidFill>
                  <a:schemeClr val="bg1"/>
                </a:solidFill>
              </a:rPr>
              <a:t>)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doluluk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oranı</a:t>
            </a:r>
            <a:r>
              <a:rPr lang="en-US" b="1" dirty="0">
                <a:solidFill>
                  <a:schemeClr val="bg1"/>
                </a:solidFill>
              </a:rPr>
              <a:t> (</a:t>
            </a:r>
            <a:r>
              <a:rPr lang="en-US" b="1" dirty="0" err="1">
                <a:solidFill>
                  <a:schemeClr val="bg1"/>
                </a:solidFill>
              </a:rPr>
              <a:t>occupancy_rate</a:t>
            </a:r>
            <a:r>
              <a:rPr lang="en-US" b="1" dirty="0">
                <a:solidFill>
                  <a:schemeClr val="bg1"/>
                </a:solidFill>
              </a:rPr>
              <a:t>)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arasında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pozitif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ilişki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bulunmaktadır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en-US" b="1" dirty="0">
                <a:solidFill>
                  <a:schemeClr val="bg1"/>
                </a:solidFill>
              </a:rPr>
              <a:t>r = 0.353</a:t>
            </a:r>
            <a:r>
              <a:rPr lang="en-US" dirty="0">
                <a:solidFill>
                  <a:schemeClr val="bg1"/>
                </a:solidFill>
              </a:rPr>
              <a:t>).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Capacity (</a:t>
            </a:r>
            <a:r>
              <a:rPr lang="en-US" b="1" dirty="0" err="1">
                <a:solidFill>
                  <a:schemeClr val="bg1"/>
                </a:solidFill>
              </a:rPr>
              <a:t>kapasite</a:t>
            </a:r>
            <a:r>
              <a:rPr lang="en-US" b="1" dirty="0">
                <a:solidFill>
                  <a:schemeClr val="bg1"/>
                </a:solidFill>
              </a:rPr>
              <a:t>)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arasında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zayıf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negatif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ilişki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gözlemlenmiştir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en-US" b="1" dirty="0">
                <a:solidFill>
                  <a:schemeClr val="bg1"/>
                </a:solidFill>
              </a:rPr>
              <a:t>r = -0.139</a:t>
            </a:r>
            <a:r>
              <a:rPr lang="en-US" dirty="0">
                <a:solidFill>
                  <a:schemeClr val="bg1"/>
                </a:solidFill>
              </a:rPr>
              <a:t>).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En </a:t>
            </a:r>
            <a:r>
              <a:rPr lang="en-US" dirty="0" err="1">
                <a:solidFill>
                  <a:schemeClr val="bg1"/>
                </a:solidFill>
              </a:rPr>
              <a:t>güçlü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ilişki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b="1" dirty="0">
                <a:solidFill>
                  <a:schemeClr val="bg1"/>
                </a:solidFill>
              </a:rPr>
              <a:t>Capacity </a:t>
            </a:r>
            <a:r>
              <a:rPr lang="en-US" b="1" dirty="0" err="1">
                <a:solidFill>
                  <a:schemeClr val="bg1"/>
                </a:solidFill>
              </a:rPr>
              <a:t>ve</a:t>
            </a:r>
            <a:r>
              <a:rPr lang="en-US" b="1" dirty="0">
                <a:solidFill>
                  <a:schemeClr val="bg1"/>
                </a:solidFill>
              </a:rPr>
              <a:t> Occupancy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değişkenleri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arasında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görülmektedir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en-US" b="1" dirty="0">
                <a:solidFill>
                  <a:schemeClr val="bg1"/>
                </a:solidFill>
              </a:rPr>
              <a:t>r = 0.778</a:t>
            </a:r>
            <a:r>
              <a:rPr lang="en-US" dirty="0">
                <a:solidFill>
                  <a:schemeClr val="bg1"/>
                </a:solidFill>
              </a:rPr>
              <a:t>).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Sonuçlar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otopark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doluluğunun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yalnızca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kapasiteye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değil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kullanım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yoğunluğuna</a:t>
            </a:r>
            <a:r>
              <a:rPr lang="en-US" dirty="0">
                <a:solidFill>
                  <a:schemeClr val="bg1"/>
                </a:solidFill>
              </a:rPr>
              <a:t> da </a:t>
            </a:r>
            <a:r>
              <a:rPr lang="en-US" dirty="0" err="1">
                <a:solidFill>
                  <a:schemeClr val="bg1"/>
                </a:solidFill>
              </a:rPr>
              <a:t>bağlı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olduğunu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göstermektedir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695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F125C3-99F8-5ABF-1328-0370F1121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399" y="-303748"/>
            <a:ext cx="10515601" cy="1140849"/>
          </a:xfrm>
        </p:spPr>
        <p:txBody>
          <a:bodyPr/>
          <a:lstStyle/>
          <a:p>
            <a:r>
              <a:rPr lang="en-US" b="1" dirty="0" err="1"/>
              <a:t>Doluluk</a:t>
            </a:r>
            <a:r>
              <a:rPr lang="en-US" b="1" dirty="0"/>
              <a:t> </a:t>
            </a:r>
            <a:r>
              <a:rPr lang="en-US" b="1" dirty="0" err="1"/>
              <a:t>Oranı</a:t>
            </a:r>
            <a:r>
              <a:rPr lang="en-US" b="1" dirty="0"/>
              <a:t> </a:t>
            </a:r>
            <a:r>
              <a:rPr lang="en-US" b="1" dirty="0" err="1"/>
              <a:t>Dağılımı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Aykırı</a:t>
            </a:r>
            <a:r>
              <a:rPr lang="en-US" b="1" dirty="0"/>
              <a:t> Değer </a:t>
            </a:r>
            <a:r>
              <a:rPr lang="en-US" b="1" dirty="0" err="1"/>
              <a:t>Analizi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A189C-8A41-5C63-2470-06541519C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5694CB-3781-82F6-1FA8-8A3E7756C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366" y="943452"/>
            <a:ext cx="7513784" cy="35536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AED23F-80D9-B793-6856-5E6F4BE9ED64}"/>
              </a:ext>
            </a:extLst>
          </p:cNvPr>
          <p:cNvSpPr txBox="1"/>
          <p:nvPr/>
        </p:nvSpPr>
        <p:spPr>
          <a:xfrm>
            <a:off x="615658" y="4497126"/>
            <a:ext cx="11576342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Boxplot </a:t>
            </a:r>
            <a:r>
              <a:rPr lang="en-US" dirty="0" err="1">
                <a:solidFill>
                  <a:schemeClr val="bg1"/>
                </a:solidFill>
              </a:rPr>
              <a:t>grafiği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oranlarının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dağılımını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olası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aykırı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değerleri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göstermektedir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Veri </a:t>
            </a:r>
            <a:r>
              <a:rPr lang="en-US" dirty="0" err="1">
                <a:solidFill>
                  <a:schemeClr val="bg1"/>
                </a:solidFill>
              </a:rPr>
              <a:t>setindeki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medyan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yaklaşık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%47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seviyesindedir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Kayıtların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büyük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bölümü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%25 – %70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aralığında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yoğunlaşmaktadır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oranları</a:t>
            </a:r>
            <a:r>
              <a:rPr lang="en-US" dirty="0">
                <a:solidFill>
                  <a:schemeClr val="bg1"/>
                </a:solidFill>
              </a:rPr>
              <a:t> 0 </a:t>
            </a:r>
            <a:r>
              <a:rPr lang="en-US" dirty="0" err="1">
                <a:solidFill>
                  <a:schemeClr val="bg1"/>
                </a:solidFill>
              </a:rPr>
              <a:t>ile</a:t>
            </a:r>
            <a:r>
              <a:rPr lang="en-US" dirty="0">
                <a:solidFill>
                  <a:schemeClr val="bg1"/>
                </a:solidFill>
              </a:rPr>
              <a:t> 1 </a:t>
            </a:r>
            <a:r>
              <a:rPr lang="en-US" dirty="0" err="1">
                <a:solidFill>
                  <a:schemeClr val="bg1"/>
                </a:solidFill>
              </a:rPr>
              <a:t>arasında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geniş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bir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dağılım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göstermektedir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Belirgin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aykırı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değer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gözlenmemesi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veri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setinin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tutarlı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model </a:t>
            </a:r>
            <a:r>
              <a:rPr lang="en-US" dirty="0" err="1">
                <a:solidFill>
                  <a:schemeClr val="bg1"/>
                </a:solidFill>
              </a:rPr>
              <a:t>eğitimi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için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uygun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olduğunu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göstermektedir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4068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1B7872E-10E4-BEB2-DA1F-C97285873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9414" y="968702"/>
            <a:ext cx="6693171" cy="36645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9D20CCA-3542-411E-C9DC-2E8F0EF4F1C9}"/>
              </a:ext>
            </a:extLst>
          </p:cNvPr>
          <p:cNvSpPr txBox="1"/>
          <p:nvPr/>
        </p:nvSpPr>
        <p:spPr>
          <a:xfrm>
            <a:off x="2405859" y="272534"/>
            <a:ext cx="94107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dirty="0">
                <a:solidFill>
                  <a:schemeClr val="accent3">
                    <a:lumMod val="75000"/>
                  </a:schemeClr>
                </a:solidFill>
              </a:rPr>
              <a:t>Kayan Ortalama ile Doluluk Eğilimi Analizi</a:t>
            </a:r>
            <a:endParaRPr lang="en-US" sz="32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179D0D-0E5C-74F3-D05E-EB37F4C0BCB3}"/>
              </a:ext>
            </a:extLst>
          </p:cNvPr>
          <p:cNvSpPr txBox="1"/>
          <p:nvPr/>
        </p:nvSpPr>
        <p:spPr>
          <a:xfrm>
            <a:off x="500297" y="4640930"/>
            <a:ext cx="1087755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Ham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verileri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yüksek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frekanslı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dalgalanmalar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içermektedir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20 </a:t>
            </a:r>
            <a:r>
              <a:rPr lang="en-US" dirty="0" err="1">
                <a:solidFill>
                  <a:schemeClr val="bg1"/>
                </a:solidFill>
              </a:rPr>
              <a:t>periyotluk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kayan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ortalama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uygulanarak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genel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eğilim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daha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görünür</a:t>
            </a:r>
            <a:r>
              <a:rPr lang="en-US" dirty="0">
                <a:solidFill>
                  <a:schemeClr val="bg1"/>
                </a:solidFill>
              </a:rPr>
              <a:t> hale </a:t>
            </a:r>
            <a:r>
              <a:rPr lang="en-US" dirty="0" err="1">
                <a:solidFill>
                  <a:schemeClr val="bg1"/>
                </a:solidFill>
              </a:rPr>
              <a:t>getirilmiştir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Kayan </a:t>
            </a:r>
            <a:r>
              <a:rPr lang="en-US" dirty="0" err="1">
                <a:solidFill>
                  <a:schemeClr val="bg1"/>
                </a:solidFill>
              </a:rPr>
              <a:t>ortalama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kısa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süreli</a:t>
            </a:r>
            <a:r>
              <a:rPr lang="en-US" dirty="0">
                <a:solidFill>
                  <a:schemeClr val="bg1"/>
                </a:solidFill>
              </a:rPr>
              <a:t> ani </a:t>
            </a:r>
            <a:r>
              <a:rPr lang="en-US" dirty="0" err="1">
                <a:solidFill>
                  <a:schemeClr val="bg1"/>
                </a:solidFill>
              </a:rPr>
              <a:t>değişimleri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yumuşatarak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davranışını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daha</a:t>
            </a:r>
            <a:r>
              <a:rPr lang="en-US" dirty="0">
                <a:solidFill>
                  <a:schemeClr val="bg1"/>
                </a:solidFill>
              </a:rPr>
              <a:t> net </a:t>
            </a:r>
            <a:r>
              <a:rPr lang="en-US" dirty="0" err="1">
                <a:solidFill>
                  <a:schemeClr val="bg1"/>
                </a:solidFill>
              </a:rPr>
              <a:t>göstermektedir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Grafik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boyunca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düzenli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periyodik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kullanım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desenleri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gözlemlenmektedir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Bu </a:t>
            </a:r>
            <a:r>
              <a:rPr lang="en-US" dirty="0" err="1">
                <a:solidFill>
                  <a:schemeClr val="bg1"/>
                </a:solidFill>
              </a:rPr>
              <a:t>eğilimler</a:t>
            </a:r>
            <a:r>
              <a:rPr lang="en-US" dirty="0">
                <a:solidFill>
                  <a:schemeClr val="bg1"/>
                </a:solidFill>
              </a:rPr>
              <a:t>, zaman </a:t>
            </a:r>
            <a:r>
              <a:rPr lang="en-US" dirty="0" err="1">
                <a:solidFill>
                  <a:schemeClr val="bg1"/>
                </a:solidFill>
              </a:rPr>
              <a:t>serisi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tahmini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için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anlamlı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örüntüler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içerdiğini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göstermektedir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EFA0F4-A46A-44A7-0821-EC5D2689D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056" y="1245793"/>
            <a:ext cx="9654824" cy="30568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92E9EB-5A2E-DCED-0C5B-F5B992C1A67B}"/>
              </a:ext>
            </a:extLst>
          </p:cNvPr>
          <p:cNvSpPr txBox="1"/>
          <p:nvPr/>
        </p:nvSpPr>
        <p:spPr>
          <a:xfrm>
            <a:off x="2000250" y="272534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B0F0"/>
                </a:solidFill>
              </a:rPr>
              <a:t>LSTM </a:t>
            </a:r>
            <a:r>
              <a:rPr lang="en-US" sz="3200" b="1" dirty="0" err="1">
                <a:solidFill>
                  <a:srgbClr val="00B0F0"/>
                </a:solidFill>
              </a:rPr>
              <a:t>Tahmin</a:t>
            </a:r>
            <a:r>
              <a:rPr lang="en-US" sz="3200" b="1" dirty="0">
                <a:solidFill>
                  <a:srgbClr val="00B0F0"/>
                </a:solidFill>
              </a:rPr>
              <a:t> </a:t>
            </a:r>
            <a:r>
              <a:rPr lang="en-US" sz="3200" b="1" dirty="0" err="1">
                <a:solidFill>
                  <a:srgbClr val="00B0F0"/>
                </a:solidFill>
              </a:rPr>
              <a:t>Performansının</a:t>
            </a:r>
            <a:r>
              <a:rPr lang="en-US" sz="3200" b="1" dirty="0">
                <a:solidFill>
                  <a:srgbClr val="00B0F0"/>
                </a:solidFill>
              </a:rPr>
              <a:t> </a:t>
            </a:r>
            <a:r>
              <a:rPr lang="en-US" sz="3200" b="1" dirty="0" err="1">
                <a:solidFill>
                  <a:srgbClr val="00B0F0"/>
                </a:solidFill>
              </a:rPr>
              <a:t>Değerlendirilmesi</a:t>
            </a:r>
            <a:endParaRPr lang="en-US" sz="3200" b="1" dirty="0">
              <a:solidFill>
                <a:srgbClr val="00B0F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18CC41-EC15-5F01-8040-92ED0F9DE567}"/>
              </a:ext>
            </a:extLst>
          </p:cNvPr>
          <p:cNvSpPr txBox="1"/>
          <p:nvPr/>
        </p:nvSpPr>
        <p:spPr>
          <a:xfrm>
            <a:off x="492926" y="4458602"/>
            <a:ext cx="11206147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Sol </a:t>
            </a:r>
            <a:r>
              <a:rPr lang="en-US" dirty="0" err="1">
                <a:solidFill>
                  <a:schemeClr val="bg1"/>
                </a:solidFill>
              </a:rPr>
              <a:t>grafikte</a:t>
            </a:r>
            <a:r>
              <a:rPr lang="en-US" dirty="0">
                <a:solidFill>
                  <a:schemeClr val="bg1"/>
                </a:solidFill>
              </a:rPr>
              <a:t>, model </a:t>
            </a:r>
            <a:r>
              <a:rPr lang="en-US" dirty="0" err="1">
                <a:solidFill>
                  <a:schemeClr val="bg1"/>
                </a:solidFill>
              </a:rPr>
              <a:t>tahminleri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gerçek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değerleri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karşılaştırılmıştır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Noktaların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referans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çizgisine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yakın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olması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modelin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gerçek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eğilimleri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başarılı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şekilde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yakaladığını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göstermektedir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Sağ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grafikte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gerçek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tahmin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edilen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oranları</a:t>
            </a:r>
            <a:r>
              <a:rPr lang="en-US" dirty="0">
                <a:solidFill>
                  <a:schemeClr val="bg1"/>
                </a:solidFill>
              </a:rPr>
              <a:t> zaman </a:t>
            </a:r>
            <a:r>
              <a:rPr lang="en-US" dirty="0" err="1">
                <a:solidFill>
                  <a:schemeClr val="bg1"/>
                </a:solidFill>
              </a:rPr>
              <a:t>ekseninde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karşılaştırılmıştır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LSTM </a:t>
            </a:r>
            <a:r>
              <a:rPr lang="en-US" dirty="0" err="1">
                <a:solidFill>
                  <a:schemeClr val="bg1"/>
                </a:solidFill>
              </a:rPr>
              <a:t>modeli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verilerindeki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periyodik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değişimleri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genel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trendleri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büyük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ölçüde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takip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edebilmektedir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Sonuçlar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modelin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kısa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vadeli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otopark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tahmini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için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kullanılabilir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performans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sergilediğini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göstermektedir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9970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DB7631-3607-55F1-5AA8-72AF51994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324" y="1241000"/>
            <a:ext cx="8515351" cy="33135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FA2E39-A73B-2F1F-87BB-987F85E90529}"/>
              </a:ext>
            </a:extLst>
          </p:cNvPr>
          <p:cNvSpPr txBox="1"/>
          <p:nvPr/>
        </p:nvSpPr>
        <p:spPr>
          <a:xfrm>
            <a:off x="2162175" y="366118"/>
            <a:ext cx="85153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RL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Ajanlarının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Performans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Karşılaştırması</a:t>
            </a:r>
            <a:endParaRPr lang="en-US" sz="32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C590C4-3781-B918-72DF-1F855C2D630E}"/>
              </a:ext>
            </a:extLst>
          </p:cNvPr>
          <p:cNvSpPr txBox="1"/>
          <p:nvPr/>
        </p:nvSpPr>
        <p:spPr>
          <a:xfrm>
            <a:off x="666750" y="4554517"/>
            <a:ext cx="1175385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PPO, DQN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baseline </a:t>
            </a:r>
            <a:r>
              <a:rPr lang="en-US" dirty="0" err="1">
                <a:solidFill>
                  <a:schemeClr val="bg1"/>
                </a:solidFill>
              </a:rPr>
              <a:t>yöntemler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aynı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ortamda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karşılaştırılmıştır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PPO </a:t>
            </a:r>
            <a:r>
              <a:rPr lang="en-US" b="1" dirty="0" err="1">
                <a:solidFill>
                  <a:schemeClr val="bg1"/>
                </a:solidFill>
              </a:rPr>
              <a:t>ajanı</a:t>
            </a:r>
            <a:r>
              <a:rPr lang="en-US" b="1" dirty="0">
                <a:solidFill>
                  <a:schemeClr val="bg1"/>
                </a:solidFill>
              </a:rPr>
              <a:t> %92,5 </a:t>
            </a:r>
            <a:r>
              <a:rPr lang="en-US" b="1" dirty="0" err="1">
                <a:solidFill>
                  <a:schemeClr val="bg1"/>
                </a:solidFill>
              </a:rPr>
              <a:t>başarı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oranı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hedefe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ulaşmada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yüksek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performans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göstermiştir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PPO, </a:t>
            </a:r>
            <a:r>
              <a:rPr lang="en-US" dirty="0" err="1">
                <a:solidFill>
                  <a:schemeClr val="bg1"/>
                </a:solidFill>
              </a:rPr>
              <a:t>DQN'e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daha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az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adım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kullanmış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daha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düşük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çarpışma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etmiştir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DQN </a:t>
            </a:r>
            <a:r>
              <a:rPr lang="en-US" dirty="0" err="1">
                <a:solidFill>
                  <a:schemeClr val="bg1"/>
                </a:solidFill>
              </a:rPr>
              <a:t>ajanı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düşük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başarı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yüksek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çarpışma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sayısı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nedeniyle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kararsız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performans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sergilemiştir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PPO </a:t>
            </a:r>
            <a:r>
              <a:rPr lang="en-US" dirty="0" err="1">
                <a:solidFill>
                  <a:schemeClr val="bg1"/>
                </a:solidFill>
              </a:rPr>
              <a:t>sonuçları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hibrit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sistemde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tercih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edilen</a:t>
            </a:r>
            <a:r>
              <a:rPr lang="en-US" dirty="0">
                <a:solidFill>
                  <a:schemeClr val="bg1"/>
                </a:solidFill>
              </a:rPr>
              <a:t> RL </a:t>
            </a:r>
            <a:r>
              <a:rPr lang="en-US" dirty="0" err="1">
                <a:solidFill>
                  <a:schemeClr val="bg1"/>
                </a:solidFill>
              </a:rPr>
              <a:t>algoritmasının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neden</a:t>
            </a:r>
            <a:r>
              <a:rPr lang="en-US" dirty="0">
                <a:solidFill>
                  <a:schemeClr val="bg1"/>
                </a:solidFill>
              </a:rPr>
              <a:t> PPO </a:t>
            </a:r>
            <a:r>
              <a:rPr lang="en-US" dirty="0" err="1">
                <a:solidFill>
                  <a:schemeClr val="bg1"/>
                </a:solidFill>
              </a:rPr>
              <a:t>olduğunu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doğrulamaktadır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9541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3F42095-659D-0C97-FA3F-D34702B8E74D}"/>
              </a:ext>
            </a:extLst>
          </p:cNvPr>
          <p:cNvSpPr txBox="1"/>
          <p:nvPr/>
        </p:nvSpPr>
        <p:spPr>
          <a:xfrm>
            <a:off x="1409700" y="164008"/>
            <a:ext cx="9372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PPO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ve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DQN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Eğitim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Performanslarının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Karşılaştırılması</a:t>
            </a:r>
            <a:endParaRPr lang="en-US" sz="32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B53C33-7B68-5359-3221-353D64943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334" y="820385"/>
            <a:ext cx="7089331" cy="33093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E2F571-1F54-4A3F-2595-C807687A67D8}"/>
              </a:ext>
            </a:extLst>
          </p:cNvPr>
          <p:cNvSpPr txBox="1"/>
          <p:nvPr/>
        </p:nvSpPr>
        <p:spPr>
          <a:xfrm>
            <a:off x="704850" y="4201337"/>
            <a:ext cx="1133475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PPO </a:t>
            </a:r>
            <a:r>
              <a:rPr lang="en-US" dirty="0" err="1">
                <a:solidFill>
                  <a:schemeClr val="bg1"/>
                </a:solidFill>
              </a:rPr>
              <a:t>algoritmasının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bölüm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ödülleri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eğitim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süreci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boyunca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düzenli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olarak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artmış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kararlı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bir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seviyeye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ulaşmıştır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PPO'nun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hareketli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ortalama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ödülü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zamanla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yükselerek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öğrenmenin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başarılı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şekilde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gerçekleştiğini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göstermektedir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DQN </a:t>
            </a:r>
            <a:r>
              <a:rPr lang="en-US" dirty="0" err="1">
                <a:solidFill>
                  <a:schemeClr val="bg1"/>
                </a:solidFill>
              </a:rPr>
              <a:t>algoritması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başlangıçta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öğrenme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gösterse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ilerleyen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bölümlerde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performans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kaybı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yaşamıştır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PPO'nun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başarı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eğitim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sonunda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yaklaşık</a:t>
            </a:r>
            <a:r>
              <a:rPr lang="en-US" dirty="0">
                <a:solidFill>
                  <a:schemeClr val="bg1"/>
                </a:solidFill>
              </a:rPr>
              <a:t> %95–100 </a:t>
            </a:r>
            <a:r>
              <a:rPr lang="en-US" dirty="0" err="1">
                <a:solidFill>
                  <a:schemeClr val="bg1"/>
                </a:solidFill>
              </a:rPr>
              <a:t>seviyelerine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ulaşmıştır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DQN'in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başarı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zamanla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düşmüş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kararsız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öğrenme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davranışı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sergilemiştir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PPO, </a:t>
            </a:r>
            <a:r>
              <a:rPr lang="en-US" dirty="0" err="1">
                <a:solidFill>
                  <a:schemeClr val="bg1"/>
                </a:solidFill>
              </a:rPr>
              <a:t>ödül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değeri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başarı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öğrenme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kararlılığı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açısından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DQN'den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daha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başarılı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sonuçlar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etmiştir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7873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D32F5683-F319-278B-7045-DF0C8D424498}"/>
              </a:ext>
            </a:extLst>
          </p:cNvPr>
          <p:cNvSpPr txBox="1"/>
          <p:nvPr/>
        </p:nvSpPr>
        <p:spPr>
          <a:xfrm>
            <a:off x="1733550" y="215384"/>
            <a:ext cx="94869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Algoritmaların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Ortalama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Yol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Uzunluğu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Karşılaştırması</a:t>
            </a:r>
            <a:endParaRPr lang="en-US" sz="32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1312971-4397-E9CC-F56A-B33ECDF0D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417" y="993630"/>
            <a:ext cx="6279593" cy="30867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EB9BCCD-DB8F-0E27-C7C8-2F54018AC0A4}"/>
              </a:ext>
            </a:extLst>
          </p:cNvPr>
          <p:cNvSpPr txBox="1"/>
          <p:nvPr/>
        </p:nvSpPr>
        <p:spPr>
          <a:xfrm>
            <a:off x="576496" y="4100253"/>
            <a:ext cx="1339215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Algoritmaların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hedefe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ulaşmak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için</a:t>
            </a:r>
            <a:r>
              <a:rPr lang="en-US" dirty="0">
                <a:solidFill>
                  <a:schemeClr val="bg1"/>
                </a:solidFill>
              </a:rPr>
              <a:t> kat </a:t>
            </a:r>
            <a:r>
              <a:rPr lang="en-US" dirty="0" err="1">
                <a:solidFill>
                  <a:schemeClr val="bg1"/>
                </a:solidFill>
              </a:rPr>
              <a:t>ettiği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ortalama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yol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uzunlukları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karşılaştırılmıştır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Greedy Shortest Path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BFS Oracle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kısa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yolları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üreterek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düşük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yol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uzunluğuna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ulaşmıştır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PPO </a:t>
            </a:r>
            <a:r>
              <a:rPr lang="en-US" dirty="0" err="1">
                <a:solidFill>
                  <a:schemeClr val="bg1"/>
                </a:solidFill>
              </a:rPr>
              <a:t>algoritması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hedefe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başarılı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şekilde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ulaşırken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makul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seviyede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yol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uzunluğu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üretmiştir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Random </a:t>
            </a:r>
            <a:r>
              <a:rPr lang="en-US" dirty="0" err="1">
                <a:solidFill>
                  <a:schemeClr val="bg1"/>
                </a:solidFill>
              </a:rPr>
              <a:t>ajanı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rastgele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hareket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ettiği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için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uzun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yolları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oluşturmuştur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DQN </a:t>
            </a:r>
            <a:r>
              <a:rPr lang="en-US" dirty="0" err="1">
                <a:solidFill>
                  <a:schemeClr val="bg1"/>
                </a:solidFill>
              </a:rPr>
              <a:t>algoritması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ise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kararsız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öğrenme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nedeniyle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PPO'ya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daha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uzun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rotalar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izlemiştir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Sonuçlar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PPO'nun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başarı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yol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verimliliği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arasında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dengeli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bir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performans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sunduğunu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göstermektedir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342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86921D-C554-3C7E-2C51-6D1091C7D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558" y="964928"/>
            <a:ext cx="5512590" cy="36293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8A6714-A797-C295-27A1-8D6991B6CAC5}"/>
              </a:ext>
            </a:extLst>
          </p:cNvPr>
          <p:cNvSpPr txBox="1"/>
          <p:nvPr/>
        </p:nvSpPr>
        <p:spPr>
          <a:xfrm>
            <a:off x="2362200" y="272534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Hafta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İçi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ve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Hafta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Sonu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Doluluk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Karşılaştırması</a:t>
            </a:r>
            <a:endParaRPr lang="en-US" sz="32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6F8BDF-5531-158F-EA6A-B42D92FC3CD8}"/>
              </a:ext>
            </a:extLst>
          </p:cNvPr>
          <p:cNvSpPr txBox="1"/>
          <p:nvPr/>
        </p:nvSpPr>
        <p:spPr>
          <a:xfrm>
            <a:off x="276069" y="4601528"/>
            <a:ext cx="1213485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Otoparkların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ortalama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oranları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hafta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içi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hafta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sonu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için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ayrı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ayrı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analiz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edilmiştir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Hafta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içi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günlerde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ortalama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hafta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sonuna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daha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yüksektir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Hafta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sonlarında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araç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yoğunluğu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otopark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kullanımı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belirgin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şekilde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azalmaktadır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Kullanım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alışkanlıklarının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iş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eğitim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günlük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şehir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içi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hareketlilikten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etkilendiği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görülmektedir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Sonuçlar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haftanın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günü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bilgisinin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tahmini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açısından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önemli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bir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değişken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olduğunu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göstermektedir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01308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3721D6-4D24-BFDA-F3D8-EA7D05B926A9}"/>
              </a:ext>
            </a:extLst>
          </p:cNvPr>
          <p:cNvSpPr txBox="1"/>
          <p:nvPr/>
        </p:nvSpPr>
        <p:spPr>
          <a:xfrm>
            <a:off x="1447800" y="196393"/>
            <a:ext cx="102298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chemeClr val="accent3">
                    <a:lumMod val="75000"/>
                  </a:schemeClr>
                </a:solidFill>
                <a:effectLst/>
              </a:rPr>
              <a:t>Lot </a:t>
            </a:r>
            <a:r>
              <a:rPr lang="en-US" sz="3200" b="1" i="0" dirty="0" err="1">
                <a:solidFill>
                  <a:schemeClr val="accent3">
                    <a:lumMod val="75000"/>
                  </a:schemeClr>
                </a:solidFill>
                <a:effectLst/>
              </a:rPr>
              <a:t>Analizi</a:t>
            </a:r>
            <a:r>
              <a:rPr lang="tr-TR" sz="3200" b="1" i="0" dirty="0">
                <a:solidFill>
                  <a:schemeClr val="accent3">
                    <a:lumMod val="75000"/>
                  </a:schemeClr>
                </a:solidFill>
                <a:effectLst/>
              </a:rPr>
              <a:t>: 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En Yüksek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Doluluk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Oranına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Sahip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Otoparklar</a:t>
            </a:r>
            <a:endParaRPr lang="en-US" sz="32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C0563D-D491-DF1E-6D96-C6613E042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21" y="847500"/>
            <a:ext cx="8058641" cy="31604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89C3DA-CCA5-CFCC-DA04-DD490DDB7AA9}"/>
              </a:ext>
            </a:extLst>
          </p:cNvPr>
          <p:cNvSpPr txBox="1"/>
          <p:nvPr/>
        </p:nvSpPr>
        <p:spPr>
          <a:xfrm>
            <a:off x="591175" y="4152545"/>
            <a:ext cx="1202055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Veri </a:t>
            </a:r>
            <a:r>
              <a:rPr lang="en-US" dirty="0" err="1">
                <a:solidFill>
                  <a:schemeClr val="bg1"/>
                </a:solidFill>
              </a:rPr>
              <a:t>setindeki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otoparklar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ortalama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oranlarına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sıralanmıştır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En </a:t>
            </a:r>
            <a:r>
              <a:rPr lang="en-US" dirty="0" err="1">
                <a:solidFill>
                  <a:schemeClr val="bg1"/>
                </a:solidFill>
              </a:rPr>
              <a:t>yoğun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kullanılan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otoparklarda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ortalama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%60–80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aralığında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değişmektedir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HMBRTARC01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yüksek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ortalama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oranına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sahip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otopark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olarak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öne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çıkmaktadır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İlk 10 </a:t>
            </a:r>
            <a:r>
              <a:rPr lang="en-US" dirty="0" err="1">
                <a:solidFill>
                  <a:schemeClr val="bg1"/>
                </a:solidFill>
              </a:rPr>
              <a:t>otoparkın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tamamında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oranlarının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oldukça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yüksek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seviyelerde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olduğu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görülmektedir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Sonuçlar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bazı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otoparkların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sürekli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yüksek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talep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altında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olduğunu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göstermektedir</a:t>
            </a:r>
            <a:r>
              <a:rPr lang="en-US" dirty="0">
                <a:solidFill>
                  <a:schemeClr val="bg1"/>
                </a:solidFill>
              </a:rPr>
              <a:t>. Bu </a:t>
            </a:r>
            <a:r>
              <a:rPr lang="en-US" dirty="0" err="1">
                <a:solidFill>
                  <a:schemeClr val="bg1"/>
                </a:solidFill>
              </a:rPr>
              <a:t>yoğun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bölgeler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yönlendirme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algoritmaları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için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kritik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karar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noktaları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oluşturmaktadır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8412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FEF053-4478-179D-CEEF-ACC6C3249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485" y="1162959"/>
            <a:ext cx="7443029" cy="29140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039758-8206-EAF1-1BAD-807EB6F6EC9E}"/>
              </a:ext>
            </a:extLst>
          </p:cNvPr>
          <p:cNvSpPr txBox="1"/>
          <p:nvPr/>
        </p:nvSpPr>
        <p:spPr>
          <a:xfrm>
            <a:off x="2374485" y="310634"/>
            <a:ext cx="8763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En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Düşük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Doluluk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Oranına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Sahip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Otoparklar</a:t>
            </a:r>
            <a:endParaRPr lang="en-US" sz="32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3F66FB-4E93-6AF2-29A3-3B8BC99C9543}"/>
              </a:ext>
            </a:extLst>
          </p:cNvPr>
          <p:cNvSpPr txBox="1"/>
          <p:nvPr/>
        </p:nvSpPr>
        <p:spPr>
          <a:xfrm>
            <a:off x="764760" y="4076975"/>
            <a:ext cx="1198245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Veri </a:t>
            </a:r>
            <a:r>
              <a:rPr lang="en-US" dirty="0" err="1">
                <a:solidFill>
                  <a:schemeClr val="bg1"/>
                </a:solidFill>
              </a:rPr>
              <a:t>setindeki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otoparklar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ortalama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oranlarına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sıralanmıştır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Bu </a:t>
            </a:r>
            <a:r>
              <a:rPr lang="en-US" dirty="0" err="1">
                <a:solidFill>
                  <a:schemeClr val="bg1"/>
                </a:solidFill>
              </a:rPr>
              <a:t>grafikte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düşük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ortalama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oranına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sahip</a:t>
            </a:r>
            <a:r>
              <a:rPr lang="en-US" dirty="0">
                <a:solidFill>
                  <a:schemeClr val="bg1"/>
                </a:solidFill>
              </a:rPr>
              <a:t> 10 </a:t>
            </a:r>
            <a:r>
              <a:rPr lang="en-US" dirty="0" err="1">
                <a:solidFill>
                  <a:schemeClr val="bg1"/>
                </a:solidFill>
              </a:rPr>
              <a:t>otopark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gösterilmektedir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NIA North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düşük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oranına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sahip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otopark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olarak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öne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çıkmaktadır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Bu </a:t>
            </a:r>
            <a:r>
              <a:rPr lang="en-US" dirty="0" err="1">
                <a:solidFill>
                  <a:schemeClr val="bg1"/>
                </a:solidFill>
              </a:rPr>
              <a:t>otoparkların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oranları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genel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olarak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%10–45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aralığında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kalmaktadır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Bazı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otoparkların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gün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boyunca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diğerlerine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daha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düşük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talep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aldığı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görülmektedir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Bu </a:t>
            </a:r>
            <a:r>
              <a:rPr lang="en-US" dirty="0" err="1">
                <a:solidFill>
                  <a:schemeClr val="bg1"/>
                </a:solidFill>
              </a:rPr>
              <a:t>bölgeler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yoğun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otoparklara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alternatif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yönlendirme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noktaları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olarak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değerlendirilebilir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68497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40E86F-92AB-EF79-0401-0C740F6BB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850" y="805921"/>
            <a:ext cx="4381500" cy="58176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E178D1-DE19-238F-4F31-E4C2A0B26FC1}"/>
              </a:ext>
            </a:extLst>
          </p:cNvPr>
          <p:cNvSpPr txBox="1"/>
          <p:nvPr/>
        </p:nvSpPr>
        <p:spPr>
          <a:xfrm>
            <a:off x="1752600" y="87277"/>
            <a:ext cx="8305800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100" b="1" dirty="0">
                <a:solidFill>
                  <a:schemeClr val="accent3">
                    <a:lumMod val="75000"/>
                  </a:schemeClr>
                </a:solidFill>
              </a:rPr>
              <a:t>PPO </a:t>
            </a:r>
            <a:r>
              <a:rPr lang="en-US" sz="3100" b="1" dirty="0" err="1">
                <a:solidFill>
                  <a:schemeClr val="accent3">
                    <a:lumMod val="75000"/>
                  </a:schemeClr>
                </a:solidFill>
              </a:rPr>
              <a:t>Ajanının</a:t>
            </a:r>
            <a:r>
              <a:rPr lang="en-US" sz="31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100" b="1" dirty="0" err="1">
                <a:solidFill>
                  <a:schemeClr val="accent3">
                    <a:lumMod val="75000"/>
                  </a:schemeClr>
                </a:solidFill>
              </a:rPr>
              <a:t>Otopark</a:t>
            </a:r>
            <a:r>
              <a:rPr lang="en-US" sz="31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100" b="1" dirty="0" err="1">
                <a:solidFill>
                  <a:schemeClr val="accent3">
                    <a:lumMod val="75000"/>
                  </a:schemeClr>
                </a:solidFill>
              </a:rPr>
              <a:t>Yönlendirme</a:t>
            </a:r>
            <a:r>
              <a:rPr lang="en-US" sz="31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100" b="1" dirty="0" err="1">
                <a:solidFill>
                  <a:schemeClr val="accent3">
                    <a:lumMod val="75000"/>
                  </a:schemeClr>
                </a:solidFill>
              </a:rPr>
              <a:t>Simülasyonu</a:t>
            </a:r>
            <a:endParaRPr lang="en-US" sz="31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EDA699-94BA-43F8-FB26-D67073ED6CF9}"/>
              </a:ext>
            </a:extLst>
          </p:cNvPr>
          <p:cNvSpPr txBox="1"/>
          <p:nvPr/>
        </p:nvSpPr>
        <p:spPr>
          <a:xfrm>
            <a:off x="476250" y="822560"/>
            <a:ext cx="6553200" cy="545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PPO </a:t>
            </a:r>
            <a:r>
              <a:rPr lang="en-US" dirty="0" err="1">
                <a:solidFill>
                  <a:schemeClr val="bg1"/>
                </a:solidFill>
              </a:rPr>
              <a:t>ajanının</a:t>
            </a:r>
            <a:r>
              <a:rPr lang="en-US" dirty="0">
                <a:solidFill>
                  <a:schemeClr val="bg1"/>
                </a:solidFill>
              </a:rPr>
              <a:t> 15×15 grid </a:t>
            </a:r>
            <a:r>
              <a:rPr lang="en-US" dirty="0" err="1">
                <a:solidFill>
                  <a:schemeClr val="bg1"/>
                </a:solidFill>
              </a:rPr>
              <a:t>ortamındaki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hareketleri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animasyonlu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olarak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gösterilmektedir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Ajan, </a:t>
            </a:r>
            <a:r>
              <a:rPr lang="en-US" dirty="0" err="1">
                <a:solidFill>
                  <a:schemeClr val="bg1"/>
                </a:solidFill>
              </a:rPr>
              <a:t>bulunduğu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konumdan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başlayarak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uygun</a:t>
            </a:r>
            <a:r>
              <a:rPr lang="en-US" dirty="0">
                <a:solidFill>
                  <a:schemeClr val="bg1"/>
                </a:solidFill>
              </a:rPr>
              <a:t> park </a:t>
            </a:r>
            <a:r>
              <a:rPr lang="en-US" dirty="0" err="1">
                <a:solidFill>
                  <a:schemeClr val="bg1"/>
                </a:solidFill>
              </a:rPr>
              <a:t>alanına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ulaşmaya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çalışmaktadır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Karar </a:t>
            </a:r>
            <a:r>
              <a:rPr lang="en-US" dirty="0" err="1">
                <a:solidFill>
                  <a:schemeClr val="bg1"/>
                </a:solidFill>
              </a:rPr>
              <a:t>verme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sürecinde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çevresel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durumlar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ödül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fonksiyonu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dikkate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alınmaktadır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Kırmızı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hücreler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yoğun</a:t>
            </a:r>
            <a:r>
              <a:rPr lang="en-US" dirty="0">
                <a:solidFill>
                  <a:schemeClr val="bg1"/>
                </a:solidFill>
              </a:rPr>
              <a:t> park </a:t>
            </a:r>
            <a:r>
              <a:rPr lang="en-US" dirty="0" err="1">
                <a:solidFill>
                  <a:schemeClr val="bg1"/>
                </a:solidFill>
              </a:rPr>
              <a:t>alanlarını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sarı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hücreler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hedef</a:t>
            </a:r>
            <a:r>
              <a:rPr lang="en-US" dirty="0">
                <a:solidFill>
                  <a:schemeClr val="bg1"/>
                </a:solidFill>
              </a:rPr>
              <a:t> park </a:t>
            </a:r>
            <a:r>
              <a:rPr lang="en-US" dirty="0" err="1">
                <a:solidFill>
                  <a:schemeClr val="bg1"/>
                </a:solidFill>
              </a:rPr>
              <a:t>noktalarını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temsil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etmektedir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Simülasyon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boyunca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ajanın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hareketleri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aldığı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ödüller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performans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metrikleri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izlenebilmektedir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Bu </a:t>
            </a:r>
            <a:r>
              <a:rPr lang="en-US" dirty="0" err="1">
                <a:solidFill>
                  <a:schemeClr val="bg1"/>
                </a:solidFill>
              </a:rPr>
              <a:t>animasyon</a:t>
            </a:r>
            <a:r>
              <a:rPr lang="en-US" dirty="0">
                <a:solidFill>
                  <a:schemeClr val="bg1"/>
                </a:solidFill>
              </a:rPr>
              <a:t>, PPO </a:t>
            </a:r>
            <a:r>
              <a:rPr lang="en-US" dirty="0" err="1">
                <a:solidFill>
                  <a:schemeClr val="bg1"/>
                </a:solidFill>
              </a:rPr>
              <a:t>algoritmasının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öğrenilen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politika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doğrultusunda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nasıl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yönlendirme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yaptığını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görsel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olarak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göstermektedir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7396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5FA4459-2AC7-86C3-9ECE-ED253646B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950" y="874289"/>
            <a:ext cx="4362450" cy="57923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E665E3-26C0-F873-EE13-311CFC6A6195}"/>
              </a:ext>
            </a:extLst>
          </p:cNvPr>
          <p:cNvSpPr txBox="1"/>
          <p:nvPr/>
        </p:nvSpPr>
        <p:spPr>
          <a:xfrm>
            <a:off x="2095500" y="191347"/>
            <a:ext cx="9505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100" b="1" dirty="0">
                <a:solidFill>
                  <a:schemeClr val="accent3">
                    <a:lumMod val="75000"/>
                  </a:schemeClr>
                </a:solidFill>
              </a:rPr>
              <a:t>DQN </a:t>
            </a:r>
            <a:r>
              <a:rPr lang="en-US" sz="3100" b="1" dirty="0" err="1">
                <a:solidFill>
                  <a:schemeClr val="accent3">
                    <a:lumMod val="75000"/>
                  </a:schemeClr>
                </a:solidFill>
              </a:rPr>
              <a:t>Ajanının</a:t>
            </a:r>
            <a:r>
              <a:rPr lang="en-US" sz="31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100" b="1" dirty="0" err="1">
                <a:solidFill>
                  <a:schemeClr val="accent3">
                    <a:lumMod val="75000"/>
                  </a:schemeClr>
                </a:solidFill>
              </a:rPr>
              <a:t>Otopark</a:t>
            </a:r>
            <a:r>
              <a:rPr lang="en-US" sz="31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100" b="1" dirty="0" err="1">
                <a:solidFill>
                  <a:schemeClr val="accent3">
                    <a:lumMod val="75000"/>
                  </a:schemeClr>
                </a:solidFill>
              </a:rPr>
              <a:t>Yönlendirme</a:t>
            </a:r>
            <a:r>
              <a:rPr lang="en-US" sz="31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100" b="1" dirty="0" err="1">
                <a:solidFill>
                  <a:schemeClr val="accent3">
                    <a:lumMod val="75000"/>
                  </a:schemeClr>
                </a:solidFill>
              </a:rPr>
              <a:t>Simülasyonu</a:t>
            </a:r>
            <a:endParaRPr lang="en-US" sz="31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744DC4-025B-62D3-50DA-FF060B500A89}"/>
              </a:ext>
            </a:extLst>
          </p:cNvPr>
          <p:cNvSpPr txBox="1"/>
          <p:nvPr/>
        </p:nvSpPr>
        <p:spPr>
          <a:xfrm>
            <a:off x="400050" y="1159639"/>
            <a:ext cx="6705600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DQN </a:t>
            </a:r>
            <a:r>
              <a:rPr lang="en-US" dirty="0" err="1">
                <a:solidFill>
                  <a:schemeClr val="bg1"/>
                </a:solidFill>
              </a:rPr>
              <a:t>ajanının</a:t>
            </a:r>
            <a:r>
              <a:rPr lang="en-US" dirty="0">
                <a:solidFill>
                  <a:schemeClr val="bg1"/>
                </a:solidFill>
              </a:rPr>
              <a:t> 15×15 grid </a:t>
            </a:r>
            <a:r>
              <a:rPr lang="en-US" dirty="0" err="1">
                <a:solidFill>
                  <a:schemeClr val="bg1"/>
                </a:solidFill>
              </a:rPr>
              <a:t>ortamındaki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hareketleri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animasyonlu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olarak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gösterilmektedir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Ajan, </a:t>
            </a:r>
            <a:r>
              <a:rPr lang="en-US" dirty="0" err="1">
                <a:solidFill>
                  <a:schemeClr val="bg1"/>
                </a:solidFill>
              </a:rPr>
              <a:t>başlangıç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noktasından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uygun</a:t>
            </a:r>
            <a:r>
              <a:rPr lang="en-US" dirty="0">
                <a:solidFill>
                  <a:schemeClr val="bg1"/>
                </a:solidFill>
              </a:rPr>
              <a:t> park </a:t>
            </a:r>
            <a:r>
              <a:rPr lang="en-US" dirty="0" err="1">
                <a:solidFill>
                  <a:schemeClr val="bg1"/>
                </a:solidFill>
              </a:rPr>
              <a:t>alanına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ulaşmak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için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kararlar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almaktadır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Kararlar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öğrenilen</a:t>
            </a:r>
            <a:r>
              <a:rPr lang="en-US" dirty="0">
                <a:solidFill>
                  <a:schemeClr val="bg1"/>
                </a:solidFill>
              </a:rPr>
              <a:t> Q-</a:t>
            </a:r>
            <a:r>
              <a:rPr lang="en-US" dirty="0" err="1">
                <a:solidFill>
                  <a:schemeClr val="bg1"/>
                </a:solidFill>
              </a:rPr>
              <a:t>değerleri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kullanılarak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üretilmektedir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Simülasyon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boyunca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ajanın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çevre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etkileşimi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izlediği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rota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gözlemlenebilmektedir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PPO </a:t>
            </a:r>
            <a:r>
              <a:rPr lang="en-US" dirty="0" err="1">
                <a:solidFill>
                  <a:schemeClr val="bg1"/>
                </a:solidFill>
              </a:rPr>
              <a:t>ile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karşılaştırıldığında</a:t>
            </a:r>
            <a:r>
              <a:rPr lang="en-US" dirty="0">
                <a:solidFill>
                  <a:schemeClr val="bg1"/>
                </a:solidFill>
              </a:rPr>
              <a:t> DQN </a:t>
            </a:r>
            <a:r>
              <a:rPr lang="en-US" dirty="0" err="1">
                <a:solidFill>
                  <a:schemeClr val="bg1"/>
                </a:solidFill>
              </a:rPr>
              <a:t>daha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kararsız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hareketler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sergileyebilmekte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daha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uzun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rotalar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oluşturabilmektedir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Bu </a:t>
            </a:r>
            <a:r>
              <a:rPr lang="en-US" dirty="0" err="1">
                <a:solidFill>
                  <a:schemeClr val="bg1"/>
                </a:solidFill>
              </a:rPr>
              <a:t>animasyon</a:t>
            </a:r>
            <a:r>
              <a:rPr lang="en-US" dirty="0">
                <a:solidFill>
                  <a:schemeClr val="bg1"/>
                </a:solidFill>
              </a:rPr>
              <a:t>, DQN </a:t>
            </a:r>
            <a:r>
              <a:rPr lang="en-US" dirty="0" err="1">
                <a:solidFill>
                  <a:schemeClr val="bg1"/>
                </a:solidFill>
              </a:rPr>
              <a:t>algoritmasının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yönlendirme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performansını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görsel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olarak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değerlendirmeyi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sağlamaktadır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065662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B9D8E6-4812-AC6A-A91A-26ECFCA6562E}"/>
              </a:ext>
            </a:extLst>
          </p:cNvPr>
          <p:cNvSpPr txBox="1"/>
          <p:nvPr/>
        </p:nvSpPr>
        <p:spPr>
          <a:xfrm>
            <a:off x="1257300" y="196334"/>
            <a:ext cx="102489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chemeClr val="accent3">
                    <a:lumMod val="75000"/>
                  </a:schemeClr>
                </a:solidFill>
                <a:effectLst/>
              </a:rPr>
              <a:t>B</a:t>
            </a:r>
            <a:r>
              <a:rPr lang="tr-TR" sz="3200" b="1" i="0" dirty="0">
                <a:solidFill>
                  <a:schemeClr val="accent3">
                    <a:lumMod val="75000"/>
                  </a:schemeClr>
                </a:solidFill>
                <a:effectLst/>
              </a:rPr>
              <a:t>ASELINE :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Greedy Shortest Path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Algoritması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Simülasyonu</a:t>
            </a:r>
            <a:r>
              <a:rPr lang="tr-TR" sz="3200" b="1" i="0" dirty="0">
                <a:solidFill>
                  <a:schemeClr val="accent3">
                    <a:lumMod val="75000"/>
                  </a:schemeClr>
                </a:solidFill>
                <a:effectLst/>
              </a:rPr>
              <a:t> </a:t>
            </a:r>
            <a:endParaRPr lang="en-US" sz="32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CB5E74-70C6-3EA1-1397-0180B8CF8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0" y="934297"/>
            <a:ext cx="4313500" cy="57273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04EE93-62D6-75C8-AEC2-38E28D888EA2}"/>
              </a:ext>
            </a:extLst>
          </p:cNvPr>
          <p:cNvSpPr txBox="1"/>
          <p:nvPr/>
        </p:nvSpPr>
        <p:spPr>
          <a:xfrm>
            <a:off x="495300" y="1298139"/>
            <a:ext cx="7219950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Greedy Shortest Path </a:t>
            </a:r>
            <a:r>
              <a:rPr lang="en-US" dirty="0" err="1">
                <a:solidFill>
                  <a:schemeClr val="bg1"/>
                </a:solidFill>
              </a:rPr>
              <a:t>algoritması</a:t>
            </a:r>
            <a:r>
              <a:rPr lang="en-US" dirty="0">
                <a:solidFill>
                  <a:schemeClr val="bg1"/>
                </a:solidFill>
              </a:rPr>
              <a:t>, her </a:t>
            </a:r>
            <a:r>
              <a:rPr lang="en-US" dirty="0" err="1">
                <a:solidFill>
                  <a:schemeClr val="bg1"/>
                </a:solidFill>
              </a:rPr>
              <a:t>adımda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hedefe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yakın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hücreyi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seçerek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ilerlemektedir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Karar </a:t>
            </a:r>
            <a:r>
              <a:rPr lang="en-US" dirty="0" err="1">
                <a:solidFill>
                  <a:schemeClr val="bg1"/>
                </a:solidFill>
              </a:rPr>
              <a:t>verme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sürecinde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öğrenme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mekanizması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bulunmamaktadır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Algoritma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yalnızca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mevcut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konuma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kısa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yönü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tercih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etmektedir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Bu </a:t>
            </a:r>
            <a:r>
              <a:rPr lang="en-US" dirty="0" err="1">
                <a:solidFill>
                  <a:schemeClr val="bg1"/>
                </a:solidFill>
              </a:rPr>
              <a:t>yaklaşım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sayesinde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hedefe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çok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kısa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sürede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ulaşabilmektedir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Performansı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referans</a:t>
            </a:r>
            <a:r>
              <a:rPr lang="en-US" dirty="0">
                <a:solidFill>
                  <a:schemeClr val="bg1"/>
                </a:solidFill>
              </a:rPr>
              <a:t> (baseline) </a:t>
            </a:r>
            <a:r>
              <a:rPr lang="en-US" dirty="0" err="1">
                <a:solidFill>
                  <a:schemeClr val="bg1"/>
                </a:solidFill>
              </a:rPr>
              <a:t>olarak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kullanılarak</a:t>
            </a:r>
            <a:r>
              <a:rPr lang="en-US" dirty="0">
                <a:solidFill>
                  <a:schemeClr val="bg1"/>
                </a:solidFill>
              </a:rPr>
              <a:t> PPO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DQN </a:t>
            </a:r>
            <a:r>
              <a:rPr lang="en-US" dirty="0" err="1">
                <a:solidFill>
                  <a:schemeClr val="bg1"/>
                </a:solidFill>
              </a:rPr>
              <a:t>algoritmaları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karşılaştırılmıştır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Sonuçlar</a:t>
            </a:r>
            <a:r>
              <a:rPr lang="en-US" dirty="0">
                <a:solidFill>
                  <a:schemeClr val="bg1"/>
                </a:solidFill>
              </a:rPr>
              <a:t>, Greedy </a:t>
            </a:r>
            <a:r>
              <a:rPr lang="en-US" dirty="0" err="1">
                <a:solidFill>
                  <a:schemeClr val="bg1"/>
                </a:solidFill>
              </a:rPr>
              <a:t>yaklaşımının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basit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hızlı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olmasına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rağmen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çevresel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değişimlere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uyum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sağlayamadığını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göstermektedir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1287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249FB7-3A16-00F0-DFD3-92E90ADA3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964" y="1057300"/>
            <a:ext cx="4307486" cy="56133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732336-B651-9063-972F-D3CB8E91F90F}"/>
              </a:ext>
            </a:extLst>
          </p:cNvPr>
          <p:cNvSpPr txBox="1"/>
          <p:nvPr/>
        </p:nvSpPr>
        <p:spPr>
          <a:xfrm>
            <a:off x="3733800" y="32015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Random Ajan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Simülasyonu</a:t>
            </a:r>
            <a:endParaRPr lang="en-US" sz="32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0C9357-D3AE-1ADD-A199-08BDD8923F26}"/>
              </a:ext>
            </a:extLst>
          </p:cNvPr>
          <p:cNvSpPr txBox="1"/>
          <p:nvPr/>
        </p:nvSpPr>
        <p:spPr>
          <a:xfrm>
            <a:off x="628650" y="1384300"/>
            <a:ext cx="6896100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Random </a:t>
            </a:r>
            <a:r>
              <a:rPr lang="en-US" dirty="0" err="1">
                <a:solidFill>
                  <a:schemeClr val="bg1"/>
                </a:solidFill>
              </a:rPr>
              <a:t>ajan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hareketlerini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tamamen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rastgele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seçmektedir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Karar </a:t>
            </a:r>
            <a:r>
              <a:rPr lang="en-US" dirty="0" err="1">
                <a:solidFill>
                  <a:schemeClr val="bg1"/>
                </a:solidFill>
              </a:rPr>
              <a:t>verme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sürecinde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herhangi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bir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öğrenme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veya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planlama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mekanizması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bulunmamaktadır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Hedefe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ulaşma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başarısı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büyük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ölçüde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şansa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bağlıdır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Rastgele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hareketler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nedeniyle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daha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uzun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yollar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izleyebilmekte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gereksiz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dolaşmalar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yapabilmektedir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Bu </a:t>
            </a:r>
            <a:r>
              <a:rPr lang="en-US" dirty="0" err="1">
                <a:solidFill>
                  <a:schemeClr val="bg1"/>
                </a:solidFill>
              </a:rPr>
              <a:t>yöntem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sistemdeki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temel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referans</a:t>
            </a:r>
            <a:r>
              <a:rPr lang="en-US" dirty="0">
                <a:solidFill>
                  <a:schemeClr val="bg1"/>
                </a:solidFill>
              </a:rPr>
              <a:t> (baseline) </a:t>
            </a:r>
            <a:r>
              <a:rPr lang="en-US" dirty="0" err="1">
                <a:solidFill>
                  <a:schemeClr val="bg1"/>
                </a:solidFill>
              </a:rPr>
              <a:t>yaklaşım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olarak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kullanılmıştır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PPO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DQN </a:t>
            </a:r>
            <a:r>
              <a:rPr lang="en-US" dirty="0" err="1">
                <a:solidFill>
                  <a:schemeClr val="bg1"/>
                </a:solidFill>
              </a:rPr>
              <a:t>algoritmalarının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performansları</a:t>
            </a:r>
            <a:r>
              <a:rPr lang="en-US" dirty="0">
                <a:solidFill>
                  <a:schemeClr val="bg1"/>
                </a:solidFill>
              </a:rPr>
              <a:t> Random </a:t>
            </a:r>
            <a:r>
              <a:rPr lang="en-US" dirty="0" err="1">
                <a:solidFill>
                  <a:schemeClr val="bg1"/>
                </a:solidFill>
              </a:rPr>
              <a:t>ajan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karşılaştırılarak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öğrenmenin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katkısı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değerlendirilmiştir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72603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D82717B-899F-3093-8B13-65ED86B7E8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609" b="8567"/>
          <a:stretch>
            <a:fillRect/>
          </a:stretch>
        </p:blipFill>
        <p:spPr>
          <a:xfrm>
            <a:off x="1556831" y="1466850"/>
            <a:ext cx="9132704" cy="22669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598DBB-B936-831F-AB81-F28A72048AC4}"/>
              </a:ext>
            </a:extLst>
          </p:cNvPr>
          <p:cNvSpPr txBox="1"/>
          <p:nvPr/>
        </p:nvSpPr>
        <p:spPr>
          <a:xfrm>
            <a:off x="3714750" y="488721"/>
            <a:ext cx="102489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200" b="1" dirty="0">
                <a:solidFill>
                  <a:schemeClr val="accent3">
                    <a:lumMod val="75000"/>
                  </a:schemeClr>
                </a:solidFill>
              </a:rPr>
              <a:t>LSTM HİPERPARAMETRELERİ</a:t>
            </a:r>
            <a:endParaRPr lang="en-US" sz="32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0B3D61-1922-455D-45A2-608F9761344E}"/>
              </a:ext>
            </a:extLst>
          </p:cNvPr>
          <p:cNvSpPr txBox="1"/>
          <p:nvPr/>
        </p:nvSpPr>
        <p:spPr>
          <a:xfrm>
            <a:off x="1172082" y="3727788"/>
            <a:ext cx="9463087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LSTM </a:t>
            </a:r>
            <a:r>
              <a:rPr lang="en-US" dirty="0" err="1">
                <a:solidFill>
                  <a:schemeClr val="bg1"/>
                </a:solidFill>
              </a:rPr>
              <a:t>modeli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geçmiş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12 zaman </a:t>
            </a:r>
            <a:r>
              <a:rPr lang="en-US" b="1" dirty="0" err="1">
                <a:solidFill>
                  <a:schemeClr val="bg1"/>
                </a:solidFill>
              </a:rPr>
              <a:t>adımını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kullanarak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gelecekteki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oranını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tahmin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edecek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şekilde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yapılandırılmıştır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Model, </a:t>
            </a:r>
            <a:r>
              <a:rPr lang="en-US" dirty="0" err="1">
                <a:solidFill>
                  <a:schemeClr val="bg1"/>
                </a:solidFill>
              </a:rPr>
              <a:t>zamansal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örüntüleri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öğrenebilmek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için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2 </a:t>
            </a:r>
            <a:r>
              <a:rPr lang="en-US" b="1" dirty="0" err="1">
                <a:solidFill>
                  <a:schemeClr val="bg1"/>
                </a:solidFill>
              </a:rPr>
              <a:t>katman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ve</a:t>
            </a:r>
            <a:r>
              <a:rPr lang="en-US" b="1" dirty="0">
                <a:solidFill>
                  <a:schemeClr val="bg1"/>
                </a:solidFill>
              </a:rPr>
              <a:t> 64 </a:t>
            </a:r>
            <a:r>
              <a:rPr lang="en-US" b="1" dirty="0" err="1">
                <a:solidFill>
                  <a:schemeClr val="bg1"/>
                </a:solidFill>
              </a:rPr>
              <a:t>gizli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birim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tasarlanmıştır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Eğitim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sürecinde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32 batch </a:t>
            </a:r>
            <a:r>
              <a:rPr lang="en-US" b="1" dirty="0" err="1">
                <a:solidFill>
                  <a:schemeClr val="bg1"/>
                </a:solidFill>
              </a:rPr>
              <a:t>boyutu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80 epoch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kullanılmıştır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Aşırı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öğrenmeyi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azaltmak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amacıyla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0.2 Dropout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uygulanmıştır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Parametre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güncellemeleri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için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Adam </a:t>
            </a:r>
            <a:r>
              <a:rPr lang="en-US" b="1" dirty="0" err="1">
                <a:solidFill>
                  <a:schemeClr val="bg1"/>
                </a:solidFill>
              </a:rPr>
              <a:t>optimizasyon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algoritması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tercih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edilmiştir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Kayıp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fonksiyonu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olarak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L1 Loss (MAE)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kullanılmıştır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02695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5C7BB0-1007-115E-AC1C-A56D3F6740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520"/>
          <a:stretch>
            <a:fillRect/>
          </a:stretch>
        </p:blipFill>
        <p:spPr>
          <a:xfrm>
            <a:off x="2710183" y="1028817"/>
            <a:ext cx="7393188" cy="25428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B62186-0AEA-2DF8-E3BC-3EEC9ACE2208}"/>
              </a:ext>
            </a:extLst>
          </p:cNvPr>
          <p:cNvSpPr txBox="1"/>
          <p:nvPr/>
        </p:nvSpPr>
        <p:spPr>
          <a:xfrm>
            <a:off x="3257550" y="444042"/>
            <a:ext cx="102489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PPO </a:t>
            </a:r>
            <a:r>
              <a:rPr lang="tr-TR" sz="3200" b="1" dirty="0">
                <a:solidFill>
                  <a:schemeClr val="accent3">
                    <a:lumMod val="75000"/>
                  </a:schemeClr>
                </a:solidFill>
              </a:rPr>
              <a:t>ÖDÜL FONKSİYONU BİLEŞENLERİ</a:t>
            </a:r>
            <a:endParaRPr lang="en-US" sz="32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8C939C-7425-2D5A-20BC-0B1DD0C4F64A}"/>
              </a:ext>
            </a:extLst>
          </p:cNvPr>
          <p:cNvSpPr txBox="1"/>
          <p:nvPr/>
        </p:nvSpPr>
        <p:spPr>
          <a:xfrm>
            <a:off x="1020892" y="3643208"/>
            <a:ext cx="12725400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PPO </a:t>
            </a:r>
            <a:r>
              <a:rPr lang="en-US" dirty="0" err="1">
                <a:solidFill>
                  <a:schemeClr val="bg1"/>
                </a:solidFill>
              </a:rPr>
              <a:t>ajanının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davranışları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özel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olarak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tasarlanan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ödül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fonksiyonu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yönlendirilmiştir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Hedefe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yaklaşan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hareketler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pozitif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ödüllendirilerek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ajanın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doğru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yönde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ilerlemesi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teşvik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edilmiştir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Hedef</a:t>
            </a:r>
            <a:r>
              <a:rPr lang="en-US" dirty="0">
                <a:solidFill>
                  <a:schemeClr val="bg1"/>
                </a:solidFill>
              </a:rPr>
              <a:t> park </a:t>
            </a:r>
            <a:r>
              <a:rPr lang="en-US" dirty="0" err="1">
                <a:solidFill>
                  <a:schemeClr val="bg1"/>
                </a:solidFill>
              </a:rPr>
              <a:t>alanına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ulaşılması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durumunda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yüksek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ödül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verilmiştir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Gereksiz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hareketler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uzun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rotalar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adım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maliyeti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cezalandırılmıştır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Döngüsel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hareketler</a:t>
            </a:r>
            <a:r>
              <a:rPr lang="en-US" dirty="0">
                <a:solidFill>
                  <a:schemeClr val="bg1"/>
                </a:solidFill>
              </a:rPr>
              <a:t> (loop)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zaman </a:t>
            </a:r>
            <a:r>
              <a:rPr lang="en-US" dirty="0" err="1">
                <a:solidFill>
                  <a:schemeClr val="bg1"/>
                </a:solidFill>
              </a:rPr>
              <a:t>aşımı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durumları</a:t>
            </a:r>
            <a:r>
              <a:rPr lang="en-US" dirty="0">
                <a:solidFill>
                  <a:schemeClr val="bg1"/>
                </a:solidFill>
              </a:rPr>
              <a:t> ek </a:t>
            </a:r>
            <a:r>
              <a:rPr lang="en-US" dirty="0" err="1">
                <a:solidFill>
                  <a:schemeClr val="bg1"/>
                </a:solidFill>
              </a:rPr>
              <a:t>cezalar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engellenmiştir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Yoğun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otoparklara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yönelme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cezalandırılarak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daha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verimli</a:t>
            </a:r>
            <a:r>
              <a:rPr lang="en-US" dirty="0">
                <a:solidFill>
                  <a:schemeClr val="bg1"/>
                </a:solidFill>
              </a:rPr>
              <a:t> park </a:t>
            </a:r>
            <a:r>
              <a:rPr lang="en-US" dirty="0" err="1">
                <a:solidFill>
                  <a:schemeClr val="bg1"/>
                </a:solidFill>
              </a:rPr>
              <a:t>alanlarının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seçilmesi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sağlanmıştır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BFS </a:t>
            </a:r>
            <a:r>
              <a:rPr lang="en-US" dirty="0" err="1">
                <a:solidFill>
                  <a:schemeClr val="bg1"/>
                </a:solidFill>
              </a:rPr>
              <a:t>tabanlı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verimlilik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ödülü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kısa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etkili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rotalar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desteklenmiştir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6442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88DEEE-1D13-B658-6EF4-26F84B2996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564"/>
          <a:stretch>
            <a:fillRect/>
          </a:stretch>
        </p:blipFill>
        <p:spPr>
          <a:xfrm>
            <a:off x="2587248" y="1028328"/>
            <a:ext cx="7126378" cy="28051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C76A5A-4470-00BD-0864-53E5CE708153}"/>
              </a:ext>
            </a:extLst>
          </p:cNvPr>
          <p:cNvSpPr txBox="1"/>
          <p:nvPr/>
        </p:nvSpPr>
        <p:spPr>
          <a:xfrm>
            <a:off x="2587248" y="282072"/>
            <a:ext cx="102489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RL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Ajanlarının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Performans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Karşılaştırması</a:t>
            </a:r>
            <a:endParaRPr lang="en-US" sz="32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F9175-A382-719F-DEBF-ED34583AFA66}"/>
              </a:ext>
            </a:extLst>
          </p:cNvPr>
          <p:cNvSpPr txBox="1"/>
          <p:nvPr/>
        </p:nvSpPr>
        <p:spPr>
          <a:xfrm>
            <a:off x="831318" y="3966160"/>
            <a:ext cx="11856204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PPO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DQN </a:t>
            </a:r>
            <a:r>
              <a:rPr lang="en-US" dirty="0" err="1">
                <a:solidFill>
                  <a:schemeClr val="bg1"/>
                </a:solidFill>
              </a:rPr>
              <a:t>algoritmaları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aynı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ortamda</a:t>
            </a:r>
            <a:r>
              <a:rPr lang="en-US" dirty="0">
                <a:solidFill>
                  <a:schemeClr val="bg1"/>
                </a:solidFill>
              </a:rPr>
              <a:t> test </a:t>
            </a:r>
            <a:r>
              <a:rPr lang="en-US" dirty="0" err="1">
                <a:solidFill>
                  <a:schemeClr val="bg1"/>
                </a:solidFill>
              </a:rPr>
              <a:t>edilmiştir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PPO </a:t>
            </a:r>
            <a:r>
              <a:rPr lang="en-US" dirty="0" err="1">
                <a:solidFill>
                  <a:schemeClr val="bg1"/>
                </a:solidFill>
              </a:rPr>
              <a:t>algoritması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%92.5 </a:t>
            </a:r>
            <a:r>
              <a:rPr lang="en-US" b="1" dirty="0" err="1">
                <a:solidFill>
                  <a:schemeClr val="bg1"/>
                </a:solidFill>
              </a:rPr>
              <a:t>başarı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oranı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hedefe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ulaşmada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yüksek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performans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göstermiştir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PPO, </a:t>
            </a:r>
            <a:r>
              <a:rPr lang="en-US" dirty="0" err="1">
                <a:solidFill>
                  <a:schemeClr val="bg1"/>
                </a:solidFill>
              </a:rPr>
              <a:t>DQN'e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daha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az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adım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kullanmış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çarpışma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oluşturmamıştır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DQN </a:t>
            </a:r>
            <a:r>
              <a:rPr lang="en-US" dirty="0" err="1">
                <a:solidFill>
                  <a:schemeClr val="bg1"/>
                </a:solidFill>
              </a:rPr>
              <a:t>algoritması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%27.5 </a:t>
            </a:r>
            <a:r>
              <a:rPr lang="en-US" b="1" dirty="0" err="1">
                <a:solidFill>
                  <a:schemeClr val="bg1"/>
                </a:solidFill>
              </a:rPr>
              <a:t>başarı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oranı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kararsız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performans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sergilemiştir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Greedy/BFS </a:t>
            </a:r>
            <a:r>
              <a:rPr lang="en-US" dirty="0" err="1">
                <a:solidFill>
                  <a:schemeClr val="bg1"/>
                </a:solidFill>
              </a:rPr>
              <a:t>yöntemleri</a:t>
            </a:r>
            <a:r>
              <a:rPr lang="en-US" dirty="0">
                <a:solidFill>
                  <a:schemeClr val="bg1"/>
                </a:solidFill>
              </a:rPr>
              <a:t> %100 </a:t>
            </a:r>
            <a:r>
              <a:rPr lang="en-US" dirty="0" err="1">
                <a:solidFill>
                  <a:schemeClr val="bg1"/>
                </a:solidFill>
              </a:rPr>
              <a:t>başarı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sağlamasına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rağmen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öğrenme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yapmayan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referans</a:t>
            </a:r>
            <a:r>
              <a:rPr lang="en-US" dirty="0">
                <a:solidFill>
                  <a:schemeClr val="bg1"/>
                </a:solidFill>
              </a:rPr>
              <a:t> (baseline) </a:t>
            </a:r>
            <a:r>
              <a:rPr lang="en-US" dirty="0" err="1">
                <a:solidFill>
                  <a:schemeClr val="bg1"/>
                </a:solidFill>
              </a:rPr>
              <a:t>yöntemlerdir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Öğrenen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ajanlar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arasında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başarılı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yöntem</a:t>
            </a:r>
            <a:r>
              <a:rPr lang="en-US" dirty="0">
                <a:solidFill>
                  <a:schemeClr val="bg1"/>
                </a:solidFill>
              </a:rPr>
              <a:t> PPO </a:t>
            </a:r>
            <a:r>
              <a:rPr lang="en-US" dirty="0" err="1">
                <a:solidFill>
                  <a:schemeClr val="bg1"/>
                </a:solidFill>
              </a:rPr>
              <a:t>olmuştur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38020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90D07E-5A17-536F-9B0D-9850ABB3FC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244" b="12908"/>
          <a:stretch>
            <a:fillRect/>
          </a:stretch>
        </p:blipFill>
        <p:spPr>
          <a:xfrm>
            <a:off x="1849372" y="1333686"/>
            <a:ext cx="8493251" cy="17180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9921E4-7F6B-B3BA-3D63-3258ADA09FF9}"/>
              </a:ext>
            </a:extLst>
          </p:cNvPr>
          <p:cNvSpPr txBox="1"/>
          <p:nvPr/>
        </p:nvSpPr>
        <p:spPr>
          <a:xfrm>
            <a:off x="3046708" y="458514"/>
            <a:ext cx="60985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LSTM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Tahmin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Modeli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Performansı</a:t>
            </a:r>
            <a:endParaRPr lang="en-US" sz="32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BD0362-7E84-EAFA-4118-D9402375F29B}"/>
              </a:ext>
            </a:extLst>
          </p:cNvPr>
          <p:cNvSpPr txBox="1"/>
          <p:nvPr/>
        </p:nvSpPr>
        <p:spPr>
          <a:xfrm>
            <a:off x="729052" y="3342143"/>
            <a:ext cx="11153614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LSTM </a:t>
            </a:r>
            <a:r>
              <a:rPr lang="en-US" dirty="0" err="1">
                <a:solidFill>
                  <a:schemeClr val="bg1"/>
                </a:solidFill>
              </a:rPr>
              <a:t>modeli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otopark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oranlarını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tahmin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etmek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amacıyla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eğitilmiştir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Model </a:t>
            </a:r>
            <a:r>
              <a:rPr lang="en-US" b="1" dirty="0">
                <a:solidFill>
                  <a:schemeClr val="bg1"/>
                </a:solidFill>
              </a:rPr>
              <a:t>0.1047 MAE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0.1319 RMSE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değerleri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etmiştir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Sonuçlar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modelin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gerçek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değerlerini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makul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hata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seviyesinde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tahmin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edebildiğini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göstermektedir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Random Forest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XGBoost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modelleri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daha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düşük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hata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değerleri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üretmiş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olsa</a:t>
            </a:r>
            <a:r>
              <a:rPr lang="en-US" dirty="0">
                <a:solidFill>
                  <a:schemeClr val="bg1"/>
                </a:solidFill>
              </a:rPr>
              <a:t> da LSTM zaman </a:t>
            </a:r>
            <a:r>
              <a:rPr lang="en-US" dirty="0" err="1">
                <a:solidFill>
                  <a:schemeClr val="bg1"/>
                </a:solidFill>
              </a:rPr>
              <a:t>serilerindeki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zamansal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bağımlılıkları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modelleyebilme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avantajına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sahiptir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LSTM </a:t>
            </a:r>
            <a:r>
              <a:rPr lang="en-US" dirty="0" err="1">
                <a:solidFill>
                  <a:schemeClr val="bg1"/>
                </a:solidFill>
              </a:rPr>
              <a:t>modeli</a:t>
            </a:r>
            <a:r>
              <a:rPr lang="en-US" dirty="0">
                <a:solidFill>
                  <a:schemeClr val="bg1"/>
                </a:solidFill>
              </a:rPr>
              <a:t>, PPO </a:t>
            </a:r>
            <a:r>
              <a:rPr lang="en-US" dirty="0" err="1">
                <a:solidFill>
                  <a:schemeClr val="bg1"/>
                </a:solidFill>
              </a:rPr>
              <a:t>ajanına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geleceğe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yönelik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doluluk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bilgisi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sağlamak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amacıyla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hibrit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sistemde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kullanılmıştır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7626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CCCACC-3FE4-A083-C0EC-36E7D9417854}"/>
              </a:ext>
            </a:extLst>
          </p:cNvPr>
          <p:cNvSpPr txBox="1"/>
          <p:nvPr/>
        </p:nvSpPr>
        <p:spPr>
          <a:xfrm>
            <a:off x="2061275" y="286660"/>
            <a:ext cx="120576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sz="3200" b="1" dirty="0">
                <a:solidFill>
                  <a:schemeClr val="accent3">
                    <a:lumMod val="75000"/>
                  </a:schemeClr>
                </a:solidFill>
              </a:rPr>
              <a:t>         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SWOT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Analizi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ve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Gelecek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75000"/>
                  </a:schemeClr>
                </a:solidFill>
              </a:rPr>
              <a:t>Çalışmalar</a:t>
            </a:r>
            <a:endParaRPr lang="en-US" sz="32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3A2586-8A45-6C75-48D6-CEDF9C780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807" y="1068966"/>
            <a:ext cx="6226075" cy="27538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EA53FA-6302-E1D0-F14C-BDA6E234EB05}"/>
              </a:ext>
            </a:extLst>
          </p:cNvPr>
          <p:cNvSpPr txBox="1"/>
          <p:nvPr/>
        </p:nvSpPr>
        <p:spPr>
          <a:xfrm>
            <a:off x="781271" y="4020338"/>
            <a:ext cx="10859146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Sistem</a:t>
            </a:r>
            <a:r>
              <a:rPr lang="en-US" dirty="0">
                <a:solidFill>
                  <a:schemeClr val="bg1"/>
                </a:solidFill>
              </a:rPr>
              <a:t>; AVM, </a:t>
            </a:r>
            <a:r>
              <a:rPr lang="en-US" dirty="0" err="1">
                <a:solidFill>
                  <a:schemeClr val="bg1"/>
                </a:solidFill>
              </a:rPr>
              <a:t>hastane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kampüs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akıllı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şehir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uygulamalarında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kullanılabilir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FastAPI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mobil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navigasyon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sistemlerine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entegre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edilebilir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Gelecekte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gerçek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zamanlı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veri</a:t>
            </a:r>
            <a:r>
              <a:rPr lang="en-US" dirty="0">
                <a:solidFill>
                  <a:schemeClr val="bg1"/>
                </a:solidFill>
              </a:rPr>
              <a:t>, Transformer </a:t>
            </a:r>
            <a:r>
              <a:rPr lang="en-US" dirty="0" err="1">
                <a:solidFill>
                  <a:schemeClr val="bg1"/>
                </a:solidFill>
              </a:rPr>
              <a:t>modelleri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Multi-Agent RL </a:t>
            </a:r>
            <a:r>
              <a:rPr lang="en-US" dirty="0" err="1">
                <a:solidFill>
                  <a:schemeClr val="bg1"/>
                </a:solidFill>
              </a:rPr>
              <a:t>ile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geliştirilebilir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IoT, Federated Learning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SUMO/CARLA </a:t>
            </a:r>
            <a:r>
              <a:rPr lang="en-US" dirty="0" err="1">
                <a:solidFill>
                  <a:schemeClr val="bg1"/>
                </a:solidFill>
              </a:rPr>
              <a:t>entegrasyonları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planlanmaktadır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tr-TR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tr-TR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b="1" dirty="0" err="1">
                <a:solidFill>
                  <a:schemeClr val="accent1"/>
                </a:solidFill>
              </a:rPr>
              <a:t>Sistem</a:t>
            </a:r>
            <a:r>
              <a:rPr lang="en-US" b="1" dirty="0">
                <a:solidFill>
                  <a:schemeClr val="accent1"/>
                </a:solidFill>
              </a:rPr>
              <a:t>, </a:t>
            </a:r>
            <a:r>
              <a:rPr lang="en-US" b="1" dirty="0" err="1">
                <a:solidFill>
                  <a:schemeClr val="accent1"/>
                </a:solidFill>
              </a:rPr>
              <a:t>gerçek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şehir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ortamlarında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uygulanabilecek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ölçeklenebilir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bir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akıllı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otopark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çözümü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sunmaktadır</a:t>
            </a:r>
            <a:r>
              <a:rPr lang="en-US" b="1" dirty="0">
                <a:solidFill>
                  <a:schemeClr val="accent1"/>
                </a:solidFill>
              </a:rPr>
              <a:t>.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0810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D404B8-DCD7-B847-5DAC-71D30974D8FF}"/>
              </a:ext>
            </a:extLst>
          </p:cNvPr>
          <p:cNvSpPr txBox="1"/>
          <p:nvPr/>
        </p:nvSpPr>
        <p:spPr>
          <a:xfrm>
            <a:off x="1518403" y="2373824"/>
            <a:ext cx="11019726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tr-TR" sz="4000" b="1" dirty="0">
                <a:solidFill>
                  <a:srgbClr val="FFFFFF"/>
                </a:solidFill>
                <a:latin typeface="Segoe UI"/>
              </a:rPr>
              <a:t>DİNLEDİĞİNİZ İÇİN TEŞEKKÜR EDERİZ </a:t>
            </a:r>
            <a:r>
              <a:rPr lang="tr-TR" sz="4000" b="1" dirty="0">
                <a:solidFill>
                  <a:srgbClr val="FFFFFF"/>
                </a:solidFill>
                <a:latin typeface="Segoe UI"/>
                <a:sym typeface="Wingdings" panose="05000000000000000000" pitchFamily="2" charset="2"/>
              </a:rPr>
              <a:t></a:t>
            </a:r>
            <a:endParaRPr sz="40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040EA4-AD05-9DF7-0A3C-D491CE315F7C}"/>
              </a:ext>
            </a:extLst>
          </p:cNvPr>
          <p:cNvSpPr txBox="1"/>
          <p:nvPr/>
        </p:nvSpPr>
        <p:spPr>
          <a:xfrm>
            <a:off x="0" y="3754490"/>
            <a:ext cx="125381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FFFF00"/>
                </a:solidFill>
              </a:rPr>
              <a:t>GİTHUB REPO: </a:t>
            </a:r>
            <a:r>
              <a:rPr lang="en-US" sz="2800" b="1" dirty="0">
                <a:solidFill>
                  <a:schemeClr val="bg1"/>
                </a:solidFill>
                <a:hlinkClick r:id="rId2"/>
              </a:rPr>
              <a:t>https://github.com/Yapay-Sinir-Aglari-Proje/Akilli_Park 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288465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154</TotalTime>
  <Words>2036</Words>
  <Application>Microsoft Office PowerPoint</Application>
  <PresentationFormat>Widescreen</PresentationFormat>
  <Paragraphs>223</Paragraphs>
  <Slides>30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Arial Nova</vt:lpstr>
      <vt:lpstr>Calibri</vt:lpstr>
      <vt:lpstr>Segoe UI</vt:lpstr>
      <vt:lpstr>Custom</vt:lpstr>
      <vt:lpstr>Akıllı Park Projesi  </vt:lpstr>
      <vt:lpstr>PROBLEM TANIMI </vt:lpstr>
      <vt:lpstr>               Parking Birmingham Veri Seti  Kronolojik Doluluk Zaman Serisi Analizi</vt:lpstr>
      <vt:lpstr>Hibrit Yapay Zekâ Mimarisi</vt:lpstr>
      <vt:lpstr>EDA: Saatlik Ortalama Otopark Doluluk Oranı </vt:lpstr>
      <vt:lpstr>PowerPoint Presentation</vt:lpstr>
      <vt:lpstr>PowerPoint Presentation</vt:lpstr>
      <vt:lpstr>Train / Validation / Test Veri Bölme Stratejisi</vt:lpstr>
      <vt:lpstr>ÖN İŞLEME:Otopark Lotları ve Saatlere Göre Doluluk Isı Haritası</vt:lpstr>
      <vt:lpstr>PowerPoint Presentation</vt:lpstr>
      <vt:lpstr>Korelasyon Analizi</vt:lpstr>
      <vt:lpstr>Doluluk Oranı Dağılımı ve Aykırı Değer Analizi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irem su Erdemir</dc:creator>
  <cp:lastModifiedBy>irem su Erdemir</cp:lastModifiedBy>
  <cp:revision>31</cp:revision>
  <dcterms:created xsi:type="dcterms:W3CDTF">2026-06-01T12:09:49Z</dcterms:created>
  <dcterms:modified xsi:type="dcterms:W3CDTF">2026-06-01T14:49:21Z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